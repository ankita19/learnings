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391" r:id="rId12"/>
    <p:sldId id="392" r:id="rId13"/>
    <p:sldId id="393"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D9BB3A-029C-4F49-A10A-857644026404}">
          <p14:sldIdLst>
            <p14:sldId id="256"/>
            <p14:sldId id="257"/>
            <p14:sldId id="258"/>
            <p14:sldId id="259"/>
            <p14:sldId id="260"/>
            <p14:sldId id="261"/>
            <p14:sldId id="262"/>
            <p14:sldId id="263"/>
            <p14:sldId id="264"/>
            <p14:sldId id="265"/>
            <p14:sldId id="391"/>
            <p14:sldId id="392"/>
            <p14:sldId id="393"/>
            <p14:sldId id="266"/>
            <p14:sldId id="267"/>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D000D2-F80E-F5F8-E86F-5531CC853883}" v="12" dt="2026-07-20T05:21:57.689"/>
    <p1510:client id="{78048D8A-0548-3EAB-EADD-895ADA44B89B}" v="19" dt="2026-07-20T04:14:20.589"/>
    <p1510:client id="{CD5EBF95-93C3-5525-1787-BE14B0A369E0}" v="20" dt="2026-07-20T05:02:31.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8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zhi Hong" userId="S::dezhihong@microsoft.com::fff97b6a-d252-436f-9d01-db8d69260ac2" providerId="AD" clId="Web-{CD5EBF95-93C3-5525-1787-BE14B0A369E0}"/>
    <pc:docChg chg="modSld">
      <pc:chgData name="Dezhi Hong" userId="S::dezhihong@microsoft.com::fff97b6a-d252-436f-9d01-db8d69260ac2" providerId="AD" clId="Web-{CD5EBF95-93C3-5525-1787-BE14B0A369E0}" dt="2026-07-20T05:02:31.205" v="11" actId="20577"/>
      <pc:docMkLst>
        <pc:docMk/>
      </pc:docMkLst>
      <pc:sldChg chg="modSp">
        <pc:chgData name="Dezhi Hong" userId="S::dezhihong@microsoft.com::fff97b6a-d252-436f-9d01-db8d69260ac2" providerId="AD" clId="Web-{CD5EBF95-93C3-5525-1787-BE14B0A369E0}" dt="2026-07-20T05:02:31.205" v="11" actId="20577"/>
        <pc:sldMkLst>
          <pc:docMk/>
          <pc:sldMk cId="0" sldId="256"/>
        </pc:sldMkLst>
        <pc:spChg chg="mod">
          <ac:chgData name="Dezhi Hong" userId="S::dezhihong@microsoft.com::fff97b6a-d252-436f-9d01-db8d69260ac2" providerId="AD" clId="Web-{CD5EBF95-93C3-5525-1787-BE14B0A369E0}" dt="2026-07-20T05:02:31.205" v="11" actId="20577"/>
          <ac:spMkLst>
            <pc:docMk/>
            <pc:sldMk cId="0" sldId="256"/>
            <ac:spMk id="6" creationId="{00000000-0000-0000-0000-000000000000}"/>
          </ac:spMkLst>
        </pc:spChg>
      </pc:sldChg>
      <pc:sldChg chg="modSp">
        <pc:chgData name="Dezhi Hong" userId="S::dezhihong@microsoft.com::fff97b6a-d252-436f-9d01-db8d69260ac2" providerId="AD" clId="Web-{CD5EBF95-93C3-5525-1787-BE14B0A369E0}" dt="2026-07-20T05:00:33.110" v="2" actId="1076"/>
        <pc:sldMkLst>
          <pc:docMk/>
          <pc:sldMk cId="0" sldId="257"/>
        </pc:sldMkLst>
        <pc:spChg chg="mod">
          <ac:chgData name="Dezhi Hong" userId="S::dezhihong@microsoft.com::fff97b6a-d252-436f-9d01-db8d69260ac2" providerId="AD" clId="Web-{CD5EBF95-93C3-5525-1787-BE14B0A369E0}" dt="2026-07-20T05:00:33.110" v="2" actId="1076"/>
          <ac:spMkLst>
            <pc:docMk/>
            <pc:sldMk cId="0" sldId="257"/>
            <ac:spMk id="11" creationId="{00000000-0000-0000-0000-000000000000}"/>
          </ac:spMkLst>
        </pc:spChg>
      </pc:sldChg>
    </pc:docChg>
  </pc:docChgLst>
  <pc:docChgLst>
    <pc:chgData name="Dezhi Hong" userId="S::dezhihong@microsoft.com::fff97b6a-d252-436f-9d01-db8d69260ac2" providerId="AD" clId="Web-{47D000D2-F80E-F5F8-E86F-5531CC853883}"/>
    <pc:docChg chg="addSld delSld modSld modSection">
      <pc:chgData name="Dezhi Hong" userId="S::dezhihong@microsoft.com::fff97b6a-d252-436f-9d01-db8d69260ac2" providerId="AD" clId="Web-{47D000D2-F80E-F5F8-E86F-5531CC853883}" dt="2026-07-20T05:21:57.689" v="7"/>
      <pc:docMkLst>
        <pc:docMk/>
      </pc:docMkLst>
      <pc:sldChg chg="del">
        <pc:chgData name="Dezhi Hong" userId="S::dezhihong@microsoft.com::fff97b6a-d252-436f-9d01-db8d69260ac2" providerId="AD" clId="Web-{47D000D2-F80E-F5F8-E86F-5531CC853883}" dt="2026-07-20T05:21:55.595" v="6"/>
        <pc:sldMkLst>
          <pc:docMk/>
          <pc:sldMk cId="0" sldId="385"/>
        </pc:sldMkLst>
      </pc:sldChg>
      <pc:sldChg chg="del">
        <pc:chgData name="Dezhi Hong" userId="S::dezhihong@microsoft.com::fff97b6a-d252-436f-9d01-db8d69260ac2" providerId="AD" clId="Web-{47D000D2-F80E-F5F8-E86F-5531CC853883}" dt="2026-07-20T05:21:57.689" v="7"/>
        <pc:sldMkLst>
          <pc:docMk/>
          <pc:sldMk cId="0" sldId="387"/>
        </pc:sldMkLst>
      </pc:sldChg>
      <pc:sldChg chg="delSp modSp">
        <pc:chgData name="Dezhi Hong" userId="S::dezhihong@microsoft.com::fff97b6a-d252-436f-9d01-db8d69260ac2" providerId="AD" clId="Web-{47D000D2-F80E-F5F8-E86F-5531CC853883}" dt="2026-07-20T05:17:33.213" v="1"/>
        <pc:sldMkLst>
          <pc:docMk/>
          <pc:sldMk cId="0" sldId="391"/>
        </pc:sldMkLst>
        <pc:spChg chg="del mod">
          <ac:chgData name="Dezhi Hong" userId="S::dezhihong@microsoft.com::fff97b6a-d252-436f-9d01-db8d69260ac2" providerId="AD" clId="Web-{47D000D2-F80E-F5F8-E86F-5531CC853883}" dt="2026-07-20T05:17:33.213" v="1"/>
          <ac:spMkLst>
            <pc:docMk/>
            <pc:sldMk cId="0" sldId="391"/>
            <ac:spMk id="3" creationId="{00000000-0000-0000-0000-000000000000}"/>
          </ac:spMkLst>
        </pc:spChg>
      </pc:sldChg>
      <pc:sldChg chg="delSp modSp">
        <pc:chgData name="Dezhi Hong" userId="S::dezhihong@microsoft.com::fff97b6a-d252-436f-9d01-db8d69260ac2" providerId="AD" clId="Web-{47D000D2-F80E-F5F8-E86F-5531CC853883}" dt="2026-07-20T05:17:37.901" v="3"/>
        <pc:sldMkLst>
          <pc:docMk/>
          <pc:sldMk cId="0" sldId="392"/>
        </pc:sldMkLst>
        <pc:spChg chg="del mod">
          <ac:chgData name="Dezhi Hong" userId="S::dezhihong@microsoft.com::fff97b6a-d252-436f-9d01-db8d69260ac2" providerId="AD" clId="Web-{47D000D2-F80E-F5F8-E86F-5531CC853883}" dt="2026-07-20T05:17:37.901" v="3"/>
          <ac:spMkLst>
            <pc:docMk/>
            <pc:sldMk cId="0" sldId="392"/>
            <ac:spMk id="3" creationId="{00000000-0000-0000-0000-000000000000}"/>
          </ac:spMkLst>
        </pc:spChg>
      </pc:sldChg>
      <pc:sldChg chg="delSp">
        <pc:chgData name="Dezhi Hong" userId="S::dezhihong@microsoft.com::fff97b6a-d252-436f-9d01-db8d69260ac2" providerId="AD" clId="Web-{47D000D2-F80E-F5F8-E86F-5531CC853883}" dt="2026-07-20T05:17:41.307" v="4"/>
        <pc:sldMkLst>
          <pc:docMk/>
          <pc:sldMk cId="0" sldId="393"/>
        </pc:sldMkLst>
        <pc:spChg chg="del">
          <ac:chgData name="Dezhi Hong" userId="S::dezhihong@microsoft.com::fff97b6a-d252-436f-9d01-db8d69260ac2" providerId="AD" clId="Web-{47D000D2-F80E-F5F8-E86F-5531CC853883}" dt="2026-07-20T05:17:41.307" v="4"/>
          <ac:spMkLst>
            <pc:docMk/>
            <pc:sldMk cId="0" sldId="393"/>
            <ac:spMk id="3" creationId="{00000000-0000-0000-0000-000000000000}"/>
          </ac:spMkLst>
        </pc:spChg>
      </pc:sldChg>
      <pc:sldChg chg="new">
        <pc:chgData name="Dezhi Hong" userId="S::dezhihong@microsoft.com::fff97b6a-d252-436f-9d01-db8d69260ac2" providerId="AD" clId="Web-{47D000D2-F80E-F5F8-E86F-5531CC853883}" dt="2026-07-20T05:21:20.110" v="5"/>
        <pc:sldMkLst>
          <pc:docMk/>
          <pc:sldMk cId="3658974516" sldId="394"/>
        </pc:sldMkLst>
      </pc:sldChg>
    </pc:docChg>
  </pc:docChgLst>
  <pc:docChgLst>
    <pc:chgData name="Dezhi Hong" userId="S::dezhihong@microsoft.com::fff97b6a-d252-436f-9d01-db8d69260ac2" providerId="AD" clId="Web-{788419A4-B8D4-A4B1-2099-7DDABADD9D72}"/>
    <pc:docChg chg="modSld addSection modSection">
      <pc:chgData name="Dezhi Hong" userId="S::dezhihong@microsoft.com::fff97b6a-d252-436f-9d01-db8d69260ac2" providerId="AD" clId="Web-{788419A4-B8D4-A4B1-2099-7DDABADD9D72}" dt="2026-07-14T03:51:13.790" v="29" actId="20577"/>
      <pc:docMkLst>
        <pc:docMk/>
      </pc:docMkLst>
      <pc:sldChg chg="modSp">
        <pc:chgData name="Dezhi Hong" userId="S::dezhihong@microsoft.com::fff97b6a-d252-436f-9d01-db8d69260ac2" providerId="AD" clId="Web-{788419A4-B8D4-A4B1-2099-7DDABADD9D72}" dt="2026-07-14T03:51:13.790" v="29" actId="20577"/>
        <pc:sldMkLst>
          <pc:docMk/>
          <pc:sldMk cId="0" sldId="256"/>
        </pc:sldMkLst>
        <pc:spChg chg="mod">
          <ac:chgData name="Dezhi Hong" userId="S::dezhihong@microsoft.com::fff97b6a-d252-436f-9d01-db8d69260ac2" providerId="AD" clId="Web-{788419A4-B8D4-A4B1-2099-7DDABADD9D72}" dt="2026-07-14T03:50:56.837" v="18" actId="20577"/>
          <ac:spMkLst>
            <pc:docMk/>
            <pc:sldMk cId="0" sldId="256"/>
            <ac:spMk id="3" creationId="{00000000-0000-0000-0000-000000000000}"/>
          </ac:spMkLst>
        </pc:spChg>
        <pc:spChg chg="mod">
          <ac:chgData name="Dezhi Hong" userId="S::dezhihong@microsoft.com::fff97b6a-d252-436f-9d01-db8d69260ac2" providerId="AD" clId="Web-{788419A4-B8D4-A4B1-2099-7DDABADD9D72}" dt="2026-07-14T03:51:02.274" v="25" actId="20577"/>
          <ac:spMkLst>
            <pc:docMk/>
            <pc:sldMk cId="0" sldId="256"/>
            <ac:spMk id="4" creationId="{00000000-0000-0000-0000-000000000000}"/>
          </ac:spMkLst>
        </pc:spChg>
        <pc:spChg chg="mod">
          <ac:chgData name="Dezhi Hong" userId="S::dezhihong@microsoft.com::fff97b6a-d252-436f-9d01-db8d69260ac2" providerId="AD" clId="Web-{788419A4-B8D4-A4B1-2099-7DDABADD9D72}" dt="2026-07-14T03:51:13.790" v="29" actId="20577"/>
          <ac:spMkLst>
            <pc:docMk/>
            <pc:sldMk cId="0" sldId="256"/>
            <ac:spMk id="5" creationId="{00000000-0000-0000-0000-000000000000}"/>
          </ac:spMkLst>
        </pc:spChg>
      </pc:sldChg>
      <pc:sldChg chg="modSp">
        <pc:chgData name="Dezhi Hong" userId="S::dezhihong@microsoft.com::fff97b6a-d252-436f-9d01-db8d69260ac2" providerId="AD" clId="Web-{788419A4-B8D4-A4B1-2099-7DDABADD9D72}" dt="2026-07-14T03:46:24.687" v="2" actId="20577"/>
        <pc:sldMkLst>
          <pc:docMk/>
          <pc:sldMk cId="0" sldId="257"/>
        </pc:sldMkLst>
        <pc:spChg chg="mod">
          <ac:chgData name="Dezhi Hong" userId="S::dezhihong@microsoft.com::fff97b6a-d252-436f-9d01-db8d69260ac2" providerId="AD" clId="Web-{788419A4-B8D4-A4B1-2099-7DDABADD9D72}" dt="2026-07-14T03:46:24.687" v="2" actId="20577"/>
          <ac:spMkLst>
            <pc:docMk/>
            <pc:sldMk cId="0" sldId="257"/>
            <ac:spMk id="3" creationId="{00000000-0000-0000-0000-000000000000}"/>
          </ac:spMkLst>
        </pc:spChg>
      </pc:sldChg>
      <pc:sldChg chg="mod modShow">
        <pc:chgData name="Dezhi Hong" userId="S::dezhihong@microsoft.com::fff97b6a-d252-436f-9d01-db8d69260ac2" providerId="AD" clId="Web-{788419A4-B8D4-A4B1-2099-7DDABADD9D72}" dt="2026-07-14T03:47:32.799" v="3"/>
        <pc:sldMkLst>
          <pc:docMk/>
          <pc:sldMk cId="0" sldId="309"/>
        </pc:sldMkLst>
      </pc:sldChg>
      <pc:sldChg chg="modSp">
        <pc:chgData name="Dezhi Hong" userId="S::dezhihong@microsoft.com::fff97b6a-d252-436f-9d01-db8d69260ac2" providerId="AD" clId="Web-{788419A4-B8D4-A4B1-2099-7DDABADD9D72}" dt="2026-07-14T03:47:52.675" v="11" actId="20577"/>
        <pc:sldMkLst>
          <pc:docMk/>
          <pc:sldMk cId="0" sldId="311"/>
        </pc:sldMkLst>
        <pc:spChg chg="mod">
          <ac:chgData name="Dezhi Hong" userId="S::dezhihong@microsoft.com::fff97b6a-d252-436f-9d01-db8d69260ac2" providerId="AD" clId="Web-{788419A4-B8D4-A4B1-2099-7DDABADD9D72}" dt="2026-07-14T03:47:52.675" v="11" actId="20577"/>
          <ac:spMkLst>
            <pc:docMk/>
            <pc:sldMk cId="0" sldId="311"/>
            <ac:spMk id="4" creationId="{00000000-0000-0000-0000-000000000000}"/>
          </ac:spMkLst>
        </pc:spChg>
      </pc:sldChg>
    </pc:docChg>
  </pc:docChgLst>
  <pc:docChgLst>
    <pc:chgData name="Dezhi Hong" userId="S::dezhihong@microsoft.com::fff97b6a-d252-436f-9d01-db8d69260ac2" providerId="AD" clId="Web-{78048D8A-0548-3EAB-EADD-895ADA44B89B}"/>
    <pc:docChg chg="modSld">
      <pc:chgData name="Dezhi Hong" userId="S::dezhihong@microsoft.com::fff97b6a-d252-436f-9d01-db8d69260ac2" providerId="AD" clId="Web-{78048D8A-0548-3EAB-EADD-895ADA44B89B}" dt="2026-07-20T04:14:03.558" v="7" actId="20577"/>
      <pc:docMkLst>
        <pc:docMk/>
      </pc:docMkLst>
      <pc:sldChg chg="modSp">
        <pc:chgData name="Dezhi Hong" userId="S::dezhihong@microsoft.com::fff97b6a-d252-436f-9d01-db8d69260ac2" providerId="AD" clId="Web-{78048D8A-0548-3EAB-EADD-895ADA44B89B}" dt="2026-07-20T04:14:03.558" v="7" actId="20577"/>
        <pc:sldMkLst>
          <pc:docMk/>
          <pc:sldMk cId="0" sldId="256"/>
        </pc:sldMkLst>
        <pc:spChg chg="mod">
          <ac:chgData name="Dezhi Hong" userId="S::dezhihong@microsoft.com::fff97b6a-d252-436f-9d01-db8d69260ac2" providerId="AD" clId="Web-{78048D8A-0548-3EAB-EADD-895ADA44B89B}" dt="2026-07-20T04:14:03.558" v="7"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314258-5DE6-4F0F-9C0F-0DA3406D08C9}" type="datetimeFigureOut">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8F0F9-8017-4831-A564-C7141F4926AA}" type="slidenum">
              <a:t>‹#›</a:t>
            </a:fld>
            <a:endParaRPr lang="en-US"/>
          </a:p>
        </p:txBody>
      </p:sp>
    </p:spTree>
    <p:extLst>
      <p:ext uri="{BB962C8B-B14F-4D97-AF65-F5344CB8AC3E}">
        <p14:creationId xmlns:p14="http://schemas.microsoft.com/office/powerpoint/2010/main" val="2080431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“WEEK 2 · EVAL &amp; ALIGNMENT” affects the evaluation-driven alignment loop. Focus on the operational meaning of LLM Evaluation and Alignment Bootcamp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orient the full arc: start with evaluation and SFT, move to preference and RL methods, then calibrate graders and finish with production rollout. Emphasize that the days are sequential because weak evaluation makes every later training method fragile. The audience should understand that alignment is a lifecycle, not a single algorithm.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Day 1 as the foundation: why alignment matters, what automatic metrics can and cannot tell us, and how SFT converts examples into behavior. Emphasize that data quality and eval splits are just as important as the objective. This day should make the audience comfortable asking “what are we measuring before we train?”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contrast concrete: a model can sound fluent while missing evidence, owners, actions, or constraints. Tie this to enterprise assistants where correctness depends on grounding and workflow fit, not just language quality. The lesson is that capability needs alignment to become dependable product behavior.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alignment as behavior shaping across contexts: support answers become grounded, executive briefs become concise and action-oriented, and tool agents select valid tools and parameters. The model may already know language; alignment teaches the product-specific success criteria. Use this slide to establish why “better behavior” is broader than “more knowledge.”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slide simple: alignment selects which behavior appears for a given user intent and context. Stress that many behaviors may be possible, but only some are appropriate for the product, policy, and audience. This mental model will help connect SFT, DPO, RLHF, graders, and telemetry later.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pretraining with assistance: next-token prediction learns broad patterns, while assistant behavior needs intent understanding, grounding, constraints, and actionability. Alignment bridges that gap by turning generic capability into role-specific behavior. This is the first reason evaluation must be task-centered.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stack as a loop rather than a list: evaluate, tune with demonstrations, tune with preferences, optimize with reward, and evaluate again. Each stage uses a different signal and has different failure modes. Ask attendees to notice where their current workflows already have data and where they only have intuition.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training without evaluation is guesswork because you cannot tell which behavior improved or regressed. Baselines, slices, and gates define the target before parameters change. This slide sets up why classic metrics are useful but insufficient.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perplexity, BLEU, and ROUGE as narrow proxies, not final product metrics. Perplexity measures language-model fit, BLEU emphasizes precision overlap, and ROUGE emphasizes reference coverage. The takeaway is to combine these with task rubrics, grounding checks, slices, and human or judge review.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equation term by term: average token log probability is converted into an exponential “surprise” score. Lower perplexity means the model predicts held-out text more confidently under the same tokenization and dataset. Stress the limitation: low perplexity does not guarantee helpful, safe, or grounded answers.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BLEU as precision-oriented overlap against one or more references, with a brevity penalty to discourage very short candidates. Use the candidate example to show why exact wording can dominate the score. The practical warning is that a correct paraphrase can lose to a surface-level match.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ROUGE as recall-style coverage of reference wording, with ROUGE-L using longest shared sequence. Use the missing fact example to make coverage intuitive. Stress that coverage is not the same as factuality: an answer can overlap with the reference while still being poorly grounded or misleading.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summarize where each metric fits and where it fails. Perplexity is useful for LM fit, BLEU and ROUGE are useful for overlap, and product evaluation needs grounded task success. This is the bridge from automatic scores to instruction tuning and SFT.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instruction tuning as teaching the model the mapping from user request to useful output format. The examples must cover realistic tasks, audience expectations, and constraints. Warn that the model can learn artifacts from the data just as readily as it learns desired behavior.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support-manager prompt to show how instruction tuning teaches audience, format, and content selection. The desired output is not just “an answer,” but a response shaped for a specific user role. This makes the distinction between generic completion and assistant-style behavior concrete.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SFT as imitation learning from expert demonstrations. The model learns what a good response looks like token by token for prompts similar to the training data. Emphasize that SFT is a strong baseline but inherits the ceiling and biases of the examples.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input, context, and target response as one supervised training row. Point out that the target uses the provided facts and avoids unsupported claims. The main lesson is that SFT teaches prompt plus context to desired behavior, not just memorized replies.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each field as part of a usable training record: user request, context, target answer, and quality tag. The schema matters because clean structure enables filtering, slicing, and debugging. Connect this to later preference and judge data pipelines.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objective in plain language: increase the probability of the expert target tokens given the prompt and previous target tokens. Name the symbols before interpreting the loss. Stress that optimizing this loss rewards imitation, not necessarily preference trade-offs or exploration.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SFT is strongest at format, style, and repeatable workflow patterns. It can make outputs more consistent and product-shaped. Its limitation is subtle judgment: when two valid answers differ in quality, preference methods are often a better signal.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SFT as stable, simple, and a strong first improvement step. The imitation ceiling matters because the model cannot reliably exceed the quality and coverage of the demonstrations. This motivates preference data for choosing among multiple valid responses.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“SFT data selection” affects the evaluation-driven alignment loop. Focus on the operational meaning of High quality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“Data mixture design” affects the evaluation-driven alignment loop. Focus on the operational meaning of Task mix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“Contamination and leakage” affects the evaluation-driven alignment loop. Focus on the operational meaning of Train/test leakage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“Masking and loss hygiene” affects the evaluation-driven alignment loop. Focus on the operational meaning of Train only answer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“Quality gates before training” affects the evaluation-driven alignment loop. Focus on the operational meaning of Schema valid and how it changes what data, metric, or guardrail is needed. Connect the slide to a concrete assistant or agent workflow.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936"/>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1298915"/>
            <a:ext cx="4572000" cy="218521"/>
          </a:xfrm>
          <a:prstGeom prst="rect">
            <a:avLst/>
          </a:prstGeom>
          <a:noFill/>
        </p:spPr>
        <p:txBody>
          <a:bodyPr wrap="square" lIns="45720" tIns="9144" rIns="45720" bIns="9144" anchor="ctr">
            <a:spAutoFit/>
          </a:bodyPr>
          <a:lstStyle/>
          <a:p>
            <a:r>
              <a:rPr sz="1300" b="1" i="0" dirty="0">
                <a:solidFill>
                  <a:srgbClr val="0FB5A6"/>
                </a:solidFill>
                <a:latin typeface="Aptos"/>
              </a:rPr>
              <a:t>WEEK </a:t>
            </a:r>
            <a:r>
              <a:rPr lang="en-US" sz="1300" b="1" dirty="0">
                <a:solidFill>
                  <a:srgbClr val="0FB5A6"/>
                </a:solidFill>
                <a:latin typeface="Aptos"/>
              </a:rPr>
              <a:t>2</a:t>
            </a:r>
            <a:r>
              <a:rPr sz="1300" b="1" i="0">
                <a:solidFill>
                  <a:srgbClr val="0FB5A6"/>
                </a:solidFill>
                <a:latin typeface="Aptos"/>
              </a:rPr>
              <a:t> · </a:t>
            </a:r>
            <a:r>
              <a:rPr lang="en-US" sz="1300" b="1">
                <a:solidFill>
                  <a:srgbClr val="0FB5A6"/>
                </a:solidFill>
                <a:latin typeface="Aptos"/>
              </a:rPr>
              <a:t>EVAL &amp; ALIGNMENT</a:t>
            </a:r>
            <a:endParaRPr sz="1300" b="1" i="0">
              <a:solidFill>
                <a:srgbClr val="0FB5A6"/>
              </a:solidFill>
              <a:latin typeface="Aptos"/>
            </a:endParaRPr>
          </a:p>
        </p:txBody>
      </p:sp>
      <p:sp>
        <p:nvSpPr>
          <p:cNvPr id="4" name="TextBox 3"/>
          <p:cNvSpPr txBox="1"/>
          <p:nvPr/>
        </p:nvSpPr>
        <p:spPr>
          <a:xfrm>
            <a:off x="658368" y="1981033"/>
            <a:ext cx="10058400" cy="664797"/>
          </a:xfrm>
          <a:prstGeom prst="rect">
            <a:avLst/>
          </a:prstGeom>
          <a:noFill/>
        </p:spPr>
        <p:txBody>
          <a:bodyPr wrap="square" lIns="45720" tIns="9144" rIns="45720" bIns="9144" anchor="ctr">
            <a:spAutoFit/>
          </a:bodyPr>
          <a:lstStyle/>
          <a:p>
            <a:r>
              <a:rPr sz="4200" b="1" i="0">
                <a:solidFill>
                  <a:srgbClr val="FFFFFF"/>
                </a:solidFill>
                <a:latin typeface="Aptos"/>
              </a:rPr>
              <a:t>LLM </a:t>
            </a:r>
            <a:r>
              <a:rPr lang="en-US" sz="4200" b="1">
                <a:solidFill>
                  <a:srgbClr val="FFFFFF"/>
                </a:solidFill>
                <a:latin typeface="Aptos"/>
              </a:rPr>
              <a:t>Evaluation and Alignment</a:t>
            </a:r>
            <a:r>
              <a:rPr sz="4200" b="1" i="0">
                <a:solidFill>
                  <a:srgbClr val="FFFFFF"/>
                </a:solidFill>
                <a:latin typeface="Aptos"/>
              </a:rPr>
              <a:t> Bootcamp</a:t>
            </a:r>
          </a:p>
        </p:txBody>
      </p:sp>
      <p:sp>
        <p:nvSpPr>
          <p:cNvPr id="5" name="TextBox 4"/>
          <p:cNvSpPr txBox="1"/>
          <p:nvPr/>
        </p:nvSpPr>
        <p:spPr>
          <a:xfrm>
            <a:off x="685800" y="3052667"/>
            <a:ext cx="9875520" cy="295466"/>
          </a:xfrm>
          <a:prstGeom prst="rect">
            <a:avLst/>
          </a:prstGeom>
          <a:noFill/>
        </p:spPr>
        <p:txBody>
          <a:bodyPr wrap="square" lIns="45720" tIns="9144" rIns="45720" bIns="9144" anchor="ctr">
            <a:spAutoFit/>
          </a:bodyPr>
          <a:lstStyle/>
          <a:p>
            <a:r>
              <a:rPr lang="en-US" dirty="0">
                <a:solidFill>
                  <a:srgbClr val="DCE6F5"/>
                </a:solidFill>
                <a:latin typeface="Aptos"/>
              </a:rPr>
              <a:t>SFT</a:t>
            </a:r>
            <a:r>
              <a:rPr sz="1800" b="0" i="0" dirty="0">
                <a:solidFill>
                  <a:srgbClr val="DCE6F5"/>
                </a:solidFill>
                <a:latin typeface="Aptos"/>
              </a:rPr>
              <a:t>, DPO, RLHF/</a:t>
            </a:r>
            <a:r>
              <a:rPr sz="1800" b="0" i="0" dirty="0" err="1">
                <a:solidFill>
                  <a:srgbClr val="DCE6F5"/>
                </a:solidFill>
                <a:latin typeface="Aptos"/>
              </a:rPr>
              <a:t>RLxF</a:t>
            </a:r>
            <a:r>
              <a:rPr lang="en-US" dirty="0">
                <a:solidFill>
                  <a:srgbClr val="DCE6F5"/>
                </a:solidFill>
                <a:latin typeface="Aptos"/>
              </a:rPr>
              <a:t> (PPO, GRPO)</a:t>
            </a:r>
            <a:r>
              <a:rPr sz="1800" b="0" i="0" dirty="0">
                <a:solidFill>
                  <a:srgbClr val="DCE6F5"/>
                </a:solidFill>
                <a:latin typeface="Aptos"/>
              </a:rPr>
              <a:t>, </a:t>
            </a:r>
            <a:r>
              <a:rPr lang="en-US" dirty="0">
                <a:solidFill>
                  <a:srgbClr val="DCE6F5"/>
                </a:solidFill>
                <a:latin typeface="Aptos"/>
              </a:rPr>
              <a:t>LLM judge/graders</a:t>
            </a:r>
            <a:r>
              <a:rPr sz="1800" b="0" i="0" dirty="0">
                <a:solidFill>
                  <a:srgbClr val="DCE6F5"/>
                </a:solidFill>
                <a:latin typeface="Aptos"/>
              </a:rPr>
              <a:t>, telemetry loops</a:t>
            </a:r>
          </a:p>
        </p:txBody>
      </p:sp>
      <p:sp>
        <p:nvSpPr>
          <p:cNvPr id="6" name="TextBox 5"/>
          <p:cNvSpPr txBox="1"/>
          <p:nvPr/>
        </p:nvSpPr>
        <p:spPr>
          <a:xfrm>
            <a:off x="685800" y="4378993"/>
            <a:ext cx="8961120" cy="203133"/>
          </a:xfrm>
          <a:prstGeom prst="rect">
            <a:avLst/>
          </a:prstGeom>
          <a:noFill/>
        </p:spPr>
        <p:txBody>
          <a:bodyPr wrap="square" lIns="45720" tIns="9144" rIns="45720" bIns="9144" anchor="ctr">
            <a:spAutoFit/>
          </a:bodyPr>
          <a:lstStyle/>
          <a:p>
            <a:r>
              <a:rPr sz="1200" b="0" i="0" dirty="0">
                <a:solidFill>
                  <a:srgbClr val="AAB6CC"/>
                </a:solidFill>
                <a:latin typeface="Aptos"/>
              </a:rPr>
              <a:t>4 days × </a:t>
            </a:r>
            <a:r>
              <a:rPr lang="en-US" sz="1200" dirty="0">
                <a:solidFill>
                  <a:srgbClr val="AAB6CC"/>
                </a:solidFill>
                <a:latin typeface="Aptos"/>
              </a:rPr>
              <a:t>2</a:t>
            </a:r>
            <a:r>
              <a:rPr sz="1200" b="0" i="0" dirty="0">
                <a:solidFill>
                  <a:srgbClr val="AAB6CC"/>
                </a:solidFill>
                <a:latin typeface="Aptos"/>
              </a:rPr>
              <a:t> hours · </a:t>
            </a:r>
            <a:r>
              <a:rPr sz="1200" b="0" i="0" dirty="0" err="1">
                <a:solidFill>
                  <a:srgbClr val="AAB6CC"/>
                </a:solidFill>
                <a:latin typeface="Aptos"/>
              </a:rPr>
              <a:t>CxAI</a:t>
            </a:r>
            <a:r>
              <a:rPr lang="en-US" sz="1200" dirty="0">
                <a:solidFill>
                  <a:srgbClr val="AAB6CC"/>
                </a:solidFill>
                <a:latin typeface="Aptos"/>
              </a:rPr>
              <a:t> RE</a:t>
            </a:r>
            <a:r>
              <a:rPr sz="1200" b="0" i="0" dirty="0">
                <a:solidFill>
                  <a:srgbClr val="AAB6CC"/>
                </a:solidFill>
                <a:latin typeface="Aptos"/>
              </a:rPr>
              <a:t> </a:t>
            </a:r>
            <a:r>
              <a:rPr lang="en-US" sz="1200" dirty="0">
                <a:solidFill>
                  <a:srgbClr val="AAB6CC"/>
                </a:solidFill>
                <a:latin typeface="Aptos"/>
              </a:rPr>
              <a:t>Bootcamp</a:t>
            </a:r>
            <a:endParaRPr sz="1200" b="0" i="0" dirty="0">
              <a:solidFill>
                <a:srgbClr val="AAB6CC"/>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Roadmap · Days 1–4</a:t>
            </a:r>
          </a:p>
        </p:txBody>
      </p:sp>
      <p:sp>
        <p:nvSpPr>
          <p:cNvPr id="3" name="TextBox 2"/>
          <p:cNvSpPr txBox="1"/>
          <p:nvPr/>
        </p:nvSpPr>
        <p:spPr>
          <a:xfrm>
            <a:off x="612648" y="879741"/>
            <a:ext cx="10424160" cy="233910"/>
          </a:xfrm>
          <a:prstGeom prst="rect">
            <a:avLst/>
          </a:prstGeom>
          <a:noFill/>
        </p:spPr>
        <p:txBody>
          <a:bodyPr wrap="square" lIns="45720" tIns="9144" rIns="45720" bIns="9144" anchor="ctr">
            <a:spAutoFit/>
          </a:bodyPr>
          <a:lstStyle/>
          <a:p>
            <a:pPr algn="l"/>
            <a:r>
              <a:rPr lang="en-US" sz="1400" i="1">
                <a:solidFill>
                  <a:srgbClr val="5B6B82"/>
                </a:solidFill>
                <a:latin typeface="Aptos"/>
              </a:rPr>
              <a:t>Evaluation</a:t>
            </a:r>
            <a:r>
              <a:rPr sz="1400" b="0" i="1">
                <a:solidFill>
                  <a:srgbClr val="5B6B82"/>
                </a:solidFill>
                <a:latin typeface="Aptos"/>
              </a:rPr>
              <a:t> before training, then optimization and production rollout</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Week 4 · 2</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60007"/>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Week 4 | 2</a:t>
            </a:r>
          </a:p>
        </p:txBody>
      </p:sp>
      <p:sp>
        <p:nvSpPr>
          <p:cNvPr id="14" name="Rounded Rectangle 13"/>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DAY 1</a:t>
            </a:r>
          </a:p>
        </p:txBody>
      </p:sp>
      <p:sp>
        <p:nvSpPr>
          <p:cNvPr id="17" name="TextBox 16"/>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Eval-first foundations + SFT</a:t>
            </a:r>
          </a:p>
        </p:txBody>
      </p:sp>
      <p:sp>
        <p:nvSpPr>
          <p:cNvPr id="18" name="Rounded Rectangle 17"/>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DAY 2</a:t>
            </a:r>
          </a:p>
        </p:txBody>
      </p:sp>
      <p:sp>
        <p:nvSpPr>
          <p:cNvPr id="21" name="TextBox 20"/>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DPO, PPO, GRPO, RLHF</a:t>
            </a:r>
          </a:p>
        </p:txBody>
      </p:sp>
      <p:sp>
        <p:nvSpPr>
          <p:cNvPr id="22" name="Rounded Rectangle 21"/>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DAY 3</a:t>
            </a:r>
          </a:p>
        </p:txBody>
      </p:sp>
      <p:sp>
        <p:nvSpPr>
          <p:cNvPr id="25" name="TextBox 24"/>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Graders and calibration</a:t>
            </a:r>
          </a:p>
        </p:txBody>
      </p:sp>
      <p:sp>
        <p:nvSpPr>
          <p:cNvPr id="26" name="Rounded Rectangle 25"/>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DAY 4</a:t>
            </a:r>
          </a:p>
        </p:txBody>
      </p:sp>
      <p:sp>
        <p:nvSpPr>
          <p:cNvPr id="29" name="TextBox 28"/>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Production and experimentation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Day 1 roadmap</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3</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3</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Why alignment</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Capability is not enough</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Eval first</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BLEU, ROUGE, perplexity, limits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Instruction/SFT</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From LM to assistant</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Data quality</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Mixture, coverage, eval split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A capable model can still fail</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4</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4</a:t>
            </a:r>
          </a:p>
        </p:txBody>
      </p:sp>
      <p:sp>
        <p:nvSpPr>
          <p:cNvPr id="15" name="Rounded Rectangle 14"/>
          <p:cNvSpPr/>
          <p:nvPr/>
        </p:nvSpPr>
        <p:spPr>
          <a:xfrm>
            <a:off x="594360" y="1691640"/>
            <a:ext cx="5340096"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4956048" cy="438912"/>
          </a:xfrm>
          <a:prstGeom prst="rect">
            <a:avLst/>
          </a:prstGeom>
          <a:noFill/>
        </p:spPr>
        <p:txBody>
          <a:bodyPr wrap="square" lIns="45720" tIns="9144" rIns="45720" bIns="9144" anchor="ctr">
            <a:spAutoFit/>
          </a:bodyPr>
          <a:lstStyle/>
          <a:p>
            <a:pPr algn="l"/>
            <a:r>
              <a:rPr sz="1800" b="1" i="0">
                <a:solidFill>
                  <a:srgbClr val="0FB5A6"/>
                </a:solidFill>
                <a:latin typeface="Aptos"/>
              </a:rPr>
              <a:t>Generic support</a:t>
            </a:r>
          </a:p>
        </p:txBody>
      </p:sp>
      <p:sp>
        <p:nvSpPr>
          <p:cNvPr id="18" name="TextBox 17"/>
          <p:cNvSpPr txBox="1"/>
          <p:nvPr/>
        </p:nvSpPr>
        <p:spPr>
          <a:xfrm>
            <a:off x="822960" y="2496312"/>
            <a:ext cx="4956048" cy="2313432"/>
          </a:xfrm>
          <a:prstGeom prst="rect">
            <a:avLst/>
          </a:prstGeom>
          <a:noFill/>
        </p:spPr>
        <p:txBody>
          <a:bodyPr wrap="square" lIns="45720" tIns="9144" rIns="45720" bIns="9144" anchor="ctr">
            <a:spAutoFit/>
          </a:bodyPr>
          <a:lstStyle/>
          <a:p>
            <a:pPr algn="l"/>
            <a:r>
              <a:rPr sz="1500" b="0" i="0">
                <a:solidFill>
                  <a:srgbClr val="5B6B82"/>
                </a:solidFill>
                <a:latin typeface="Aptos"/>
              </a:rPr>
              <a:t>Fluent answer but misses tenant evidence</a:t>
            </a:r>
          </a:p>
        </p:txBody>
      </p:sp>
      <p:sp>
        <p:nvSpPr>
          <p:cNvPr id="19" name="Rounded Rectangle 18"/>
          <p:cNvSpPr/>
          <p:nvPr/>
        </p:nvSpPr>
        <p:spPr>
          <a:xfrm>
            <a:off x="6227064" y="1691640"/>
            <a:ext cx="5340096"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55664" y="1892808"/>
            <a:ext cx="4956048" cy="438912"/>
          </a:xfrm>
          <a:prstGeom prst="rect">
            <a:avLst/>
          </a:prstGeom>
          <a:noFill/>
        </p:spPr>
        <p:txBody>
          <a:bodyPr wrap="square" lIns="45720" tIns="9144" rIns="45720" bIns="9144" anchor="ctr">
            <a:spAutoFit/>
          </a:bodyPr>
          <a:lstStyle/>
          <a:p>
            <a:pPr algn="l"/>
            <a:r>
              <a:rPr sz="1800" b="1" i="0">
                <a:solidFill>
                  <a:srgbClr val="F6A609"/>
                </a:solidFill>
                <a:latin typeface="Aptos"/>
              </a:rPr>
              <a:t>Incident summary</a:t>
            </a:r>
          </a:p>
        </p:txBody>
      </p:sp>
      <p:sp>
        <p:nvSpPr>
          <p:cNvPr id="22" name="TextBox 21"/>
          <p:cNvSpPr txBox="1"/>
          <p:nvPr/>
        </p:nvSpPr>
        <p:spPr>
          <a:xfrm>
            <a:off x="6455664" y="2496312"/>
            <a:ext cx="4956048" cy="2313432"/>
          </a:xfrm>
          <a:prstGeom prst="rect">
            <a:avLst/>
          </a:prstGeom>
          <a:noFill/>
        </p:spPr>
        <p:txBody>
          <a:bodyPr wrap="square" lIns="45720" tIns="9144" rIns="45720" bIns="9144" anchor="ctr">
            <a:spAutoFit/>
          </a:bodyPr>
          <a:lstStyle/>
          <a:p>
            <a:pPr algn="l"/>
            <a:r>
              <a:rPr sz="1500" b="0" i="0">
                <a:solidFill>
                  <a:srgbClr val="5B6B82"/>
                </a:solidFill>
                <a:latin typeface="Aptos"/>
              </a:rPr>
              <a:t>Readable summary but misses owners and actions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What alignment changes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5</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5</a:t>
            </a:r>
          </a:p>
        </p:txBody>
      </p:sp>
      <p:sp>
        <p:nvSpPr>
          <p:cNvPr id="15" name="Rounded Rectangle 14"/>
          <p:cNvSpPr/>
          <p:nvPr/>
        </p:nvSpPr>
        <p:spPr>
          <a:xfrm>
            <a:off x="594360" y="2788920"/>
            <a:ext cx="350520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3377184" cy="905256"/>
          </a:xfrm>
          <a:prstGeom prst="rect">
            <a:avLst/>
          </a:prstGeom>
          <a:noFill/>
        </p:spPr>
        <p:txBody>
          <a:bodyPr wrap="square" lIns="45720" tIns="9144" rIns="45720" bIns="9144" anchor="ctr">
            <a:spAutoFit/>
          </a:bodyPr>
          <a:lstStyle/>
          <a:p>
            <a:pPr algn="ctr"/>
            <a:r>
              <a:rPr sz="1700" b="1" i="0">
                <a:solidFill>
                  <a:srgbClr val="0FB5A6"/>
                </a:solidFill>
                <a:latin typeface="Aptos"/>
              </a:rPr>
              <a:t>Customer support
Grounded + helpful</a:t>
            </a:r>
          </a:p>
        </p:txBody>
      </p:sp>
      <p:cxnSp>
        <p:nvCxnSpPr>
          <p:cNvPr id="17" name="Connector 16"/>
          <p:cNvCxnSpPr/>
          <p:nvPr/>
        </p:nvCxnSpPr>
        <p:spPr>
          <a:xfrm>
            <a:off x="41269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28160" y="2788920"/>
            <a:ext cx="350520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92168" y="2807208"/>
            <a:ext cx="3377184" cy="905256"/>
          </a:xfrm>
          <a:prstGeom prst="rect">
            <a:avLst/>
          </a:prstGeom>
          <a:noFill/>
        </p:spPr>
        <p:txBody>
          <a:bodyPr wrap="square" lIns="45720" tIns="9144" rIns="45720" bIns="9144" anchor="ctr">
            <a:spAutoFit/>
          </a:bodyPr>
          <a:lstStyle/>
          <a:p>
            <a:pPr algn="ctr"/>
            <a:r>
              <a:rPr sz="1700" b="1" i="0">
                <a:solidFill>
                  <a:srgbClr val="3B6EF5"/>
                </a:solidFill>
                <a:latin typeface="Aptos"/>
              </a:rPr>
              <a:t>Executive brief
Concise + action-oriented</a:t>
            </a:r>
          </a:p>
        </p:txBody>
      </p:sp>
      <p:cxnSp>
        <p:nvCxnSpPr>
          <p:cNvPr id="20" name="Connector 19"/>
          <p:cNvCxnSpPr/>
          <p:nvPr/>
        </p:nvCxnSpPr>
        <p:spPr>
          <a:xfrm>
            <a:off x="78607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61960" y="2788920"/>
            <a:ext cx="350520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25968" y="2807208"/>
            <a:ext cx="3377184" cy="905256"/>
          </a:xfrm>
          <a:prstGeom prst="rect">
            <a:avLst/>
          </a:prstGeom>
          <a:noFill/>
        </p:spPr>
        <p:txBody>
          <a:bodyPr wrap="square" lIns="45720" tIns="9144" rIns="45720" bIns="9144" anchor="ctr">
            <a:spAutoFit/>
          </a:bodyPr>
          <a:lstStyle/>
          <a:p>
            <a:pPr algn="ctr"/>
            <a:r>
              <a:rPr sz="1700" b="1" i="0">
                <a:solidFill>
                  <a:srgbClr val="F6A609"/>
                </a:solidFill>
                <a:latin typeface="Aptos"/>
              </a:rPr>
              <a:t>Tool agent
Correct tool + params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Mental model</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6</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6</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Alignment = behavior selection</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The model may have capability; alignment shapes when and how it appears.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Language modeling ≠ assisting users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7</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7</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Pretraining</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Predicts text continuation</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Assistance</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Requires intent, grounding, constraints</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Alignment</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Turns generic capability into role-specific behavior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1</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Post-training stack</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8</a:t>
            </a:r>
          </a:p>
        </p:txBody>
      </p:sp>
      <p:sp>
        <p:nvSpPr>
          <p:cNvPr id="6" name="Oval 5"/>
          <p:cNvSpPr/>
          <p:nvPr/>
        </p:nvSpPr>
        <p:spPr>
          <a:xfrm>
            <a:off x="10561320"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8</a:t>
            </a:r>
          </a:p>
        </p:txBody>
      </p:sp>
      <p:sp>
        <p:nvSpPr>
          <p:cNvPr id="15" name="Rounded Rectangle 14"/>
          <p:cNvSpPr/>
          <p:nvPr/>
        </p:nvSpPr>
        <p:spPr>
          <a:xfrm>
            <a:off x="59436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Evaluate</a:t>
            </a:r>
          </a:p>
        </p:txBody>
      </p:sp>
      <p:cxnSp>
        <p:nvCxnSpPr>
          <p:cNvPr id="17" name="Connector 16"/>
          <p:cNvCxnSpPr/>
          <p:nvPr/>
        </p:nvCxnSpPr>
        <p:spPr>
          <a:xfrm>
            <a:off x="263347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3464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9864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Instruction tuning</a:t>
            </a:r>
          </a:p>
        </p:txBody>
      </p:sp>
      <p:cxnSp>
        <p:nvCxnSpPr>
          <p:cNvPr id="20" name="Connector 19"/>
          <p:cNvCxnSpPr/>
          <p:nvPr/>
        </p:nvCxnSpPr>
        <p:spPr>
          <a:xfrm>
            <a:off x="487375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4920" y="2788920"/>
            <a:ext cx="201168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38928" y="2807208"/>
            <a:ext cx="1883664" cy="905256"/>
          </a:xfrm>
          <a:prstGeom prst="rect">
            <a:avLst/>
          </a:prstGeom>
          <a:noFill/>
        </p:spPr>
        <p:txBody>
          <a:bodyPr wrap="square" lIns="45720" tIns="9144" rIns="45720" bIns="9144" anchor="ctr">
            <a:spAutoFit/>
          </a:bodyPr>
          <a:lstStyle/>
          <a:p>
            <a:pPr algn="ctr"/>
            <a:r>
              <a:rPr sz="1500" b="1" i="0">
                <a:solidFill>
                  <a:srgbClr val="0FB5A6"/>
                </a:solidFill>
                <a:latin typeface="Aptos"/>
              </a:rPr>
              <a:t>SFT</a:t>
            </a:r>
          </a:p>
        </p:txBody>
      </p:sp>
      <p:cxnSp>
        <p:nvCxnSpPr>
          <p:cNvPr id="23" name="Connector 22"/>
          <p:cNvCxnSpPr/>
          <p:nvPr/>
        </p:nvCxnSpPr>
        <p:spPr>
          <a:xfrm>
            <a:off x="711403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0" y="2788920"/>
            <a:ext cx="201168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8" y="2807208"/>
            <a:ext cx="1883664" cy="905256"/>
          </a:xfrm>
          <a:prstGeom prst="rect">
            <a:avLst/>
          </a:prstGeom>
          <a:noFill/>
        </p:spPr>
        <p:txBody>
          <a:bodyPr wrap="square" lIns="45720" tIns="9144" rIns="45720" bIns="9144" anchor="ctr">
            <a:spAutoFit/>
          </a:bodyPr>
          <a:lstStyle/>
          <a:p>
            <a:pPr algn="ctr"/>
            <a:r>
              <a:rPr sz="1500" b="1" i="0">
                <a:solidFill>
                  <a:srgbClr val="3B6EF5"/>
                </a:solidFill>
                <a:latin typeface="Aptos"/>
              </a:rPr>
              <a:t>Preference tuning</a:t>
            </a:r>
          </a:p>
        </p:txBody>
      </p:sp>
      <p:cxnSp>
        <p:nvCxnSpPr>
          <p:cNvPr id="26" name="Connector 25"/>
          <p:cNvCxnSpPr/>
          <p:nvPr/>
        </p:nvCxnSpPr>
        <p:spPr>
          <a:xfrm>
            <a:off x="935431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2788920"/>
            <a:ext cx="201168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2807208"/>
            <a:ext cx="1883664" cy="905256"/>
          </a:xfrm>
          <a:prstGeom prst="rect">
            <a:avLst/>
          </a:prstGeom>
          <a:noFill/>
        </p:spPr>
        <p:txBody>
          <a:bodyPr wrap="square" lIns="45720" tIns="9144" rIns="45720" bIns="9144" anchor="ctr">
            <a:spAutoFit/>
          </a:bodyPr>
          <a:lstStyle/>
          <a:p>
            <a:pPr algn="ctr"/>
            <a:r>
              <a:rPr sz="1500" b="1" i="0">
                <a:solidFill>
                  <a:srgbClr val="F6A609"/>
                </a:solidFill>
                <a:latin typeface="Aptos"/>
              </a:rPr>
              <a:t>RLHF/RLxF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Eval before training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9</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9</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Why first</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training without eval is guesswork</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Baseline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measure current model behavior</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Slices</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task, language, tool path, safety</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Gate</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decide what must not regress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Common LLM metrics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10</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Perplexity</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how well the LM predicts held-out text; lower is better</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BLEU</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n-gram precision against references; used heavily in translation</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ROUGE</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overlap/recall against references; common in summarization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46888"/>
            <a:ext cx="9144000" cy="347472"/>
          </a:xfrm>
          <a:prstGeom prst="rect">
            <a:avLst/>
          </a:prstGeom>
          <a:noFill/>
        </p:spPr>
        <p:txBody>
          <a:bodyPr wrap="square">
            <a:spAutoFit/>
          </a:bodyPr>
          <a:lstStyle/>
          <a:p>
            <a:r>
              <a:rPr sz="2200" b="1">
                <a:solidFill>
                  <a:srgbClr val="0F1E3D"/>
                </a:solidFill>
                <a:latin typeface="Aptos"/>
              </a:rPr>
              <a:t>Perplexity: next-token prediction fit</a:t>
            </a:r>
          </a:p>
        </p:txBody>
      </p:sp>
      <p:sp>
        <p:nvSpPr>
          <p:cNvPr id="4" name="TextBox 3"/>
          <p:cNvSpPr txBox="1"/>
          <p:nvPr/>
        </p:nvSpPr>
        <p:spPr>
          <a:xfrm>
            <a:off x="10149840" y="438912"/>
            <a:ext cx="1280160" cy="164592"/>
          </a:xfrm>
          <a:prstGeom prst="rect">
            <a:avLst/>
          </a:prstGeom>
          <a:noFill/>
        </p:spPr>
        <p:txBody>
          <a:bodyPr wrap="square">
            <a:spAutoFit/>
          </a:bodyPr>
          <a:lstStyle/>
          <a:p>
            <a:pPr algn="r"/>
            <a:r>
              <a:rPr sz="680" b="0">
                <a:solidFill>
                  <a:srgbClr val="AAB6CC"/>
                </a:solidFill>
                <a:latin typeface="Aptos"/>
              </a:rPr>
              <a:t>Day 1 · 10a</a:t>
            </a:r>
          </a:p>
        </p:txBody>
      </p:sp>
      <p:sp>
        <p:nvSpPr>
          <p:cNvPr id="5" name="Oval 4"/>
          <p:cNvSpPr/>
          <p:nvPr/>
        </p:nvSpPr>
        <p:spPr>
          <a:xfrm>
            <a:off x="11475720" y="329184"/>
            <a:ext cx="50292" cy="50292"/>
          </a:xfrm>
          <a:prstGeom prst="ellipse">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585448" y="329184"/>
            <a:ext cx="50292" cy="50292"/>
          </a:xfrm>
          <a:prstGeom prst="ellipse">
            <a:avLst/>
          </a:prstGeom>
          <a:solidFill>
            <a:srgbClr val="3B6EF5"/>
          </a:solidFill>
          <a:ln>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95176" y="329184"/>
            <a:ext cx="50292" cy="50292"/>
          </a:xfrm>
          <a:prstGeom prst="ellipse">
            <a:avLst/>
          </a:prstGeom>
          <a:solidFill>
            <a:srgbClr val="F6A609"/>
          </a:solidFill>
          <a:ln>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804904" y="329184"/>
            <a:ext cx="50292" cy="50292"/>
          </a:xfrm>
          <a:prstGeom prst="ellipse">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914632" y="329184"/>
            <a:ext cx="50292" cy="50292"/>
          </a:xfrm>
          <a:prstGeom prst="ellipse">
            <a:avLst/>
          </a:prstGeom>
          <a:solidFill>
            <a:srgbClr val="AAB6CC"/>
          </a:solidFill>
          <a:ln>
            <a:solidFill>
              <a:srgbClr val="AAB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024128"/>
            <a:ext cx="11201400" cy="9144"/>
          </a:xfrm>
          <a:prstGeom prst="rect">
            <a:avLst/>
          </a:prstGeom>
          <a:solidFill>
            <a:srgbClr val="DAE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1243584"/>
            <a:ext cx="10881360" cy="713232"/>
          </a:xfrm>
          <a:prstGeom prst="roundRect">
            <a:avLst/>
          </a:prstGeom>
          <a:solidFill>
            <a:srgbClr val="FFFFFF"/>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1380744"/>
            <a:ext cx="10588752" cy="512064"/>
          </a:xfrm>
          <a:prstGeom prst="rect">
            <a:avLst/>
          </a:prstGeom>
          <a:noFill/>
        </p:spPr>
        <p:txBody>
          <a:bodyPr wrap="square">
            <a:spAutoFit/>
          </a:bodyPr>
          <a:lstStyle/>
          <a:p>
            <a:pPr algn="ctr"/>
            <a:r>
              <a:rPr sz="1700" b="1">
                <a:solidFill>
                  <a:srgbClr val="0F1E3D"/>
                </a:solidFill>
                <a:latin typeface="Cambria Math"/>
              </a:rPr>
              <a:t>PPL(x) = exp( − (1/N) Σ_t log p(x_t | x_&lt;t) )</a:t>
            </a:r>
          </a:p>
        </p:txBody>
      </p:sp>
      <p:sp>
        <p:nvSpPr>
          <p:cNvPr id="13" name="Rounded Rectangle 12"/>
          <p:cNvSpPr/>
          <p:nvPr/>
        </p:nvSpPr>
        <p:spPr>
          <a:xfrm>
            <a:off x="685800" y="2304288"/>
            <a:ext cx="3246120" cy="306324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2304288"/>
            <a:ext cx="54864" cy="306324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2450592"/>
            <a:ext cx="2926079" cy="228600"/>
          </a:xfrm>
          <a:prstGeom prst="rect">
            <a:avLst/>
          </a:prstGeom>
          <a:noFill/>
        </p:spPr>
        <p:txBody>
          <a:bodyPr wrap="square">
            <a:spAutoFit/>
          </a:bodyPr>
          <a:lstStyle/>
          <a:p>
            <a:r>
              <a:rPr sz="1200" b="1">
                <a:solidFill>
                  <a:srgbClr val="0FB5A6"/>
                </a:solidFill>
                <a:latin typeface="Aptos"/>
              </a:rPr>
              <a:t>Notation</a:t>
            </a:r>
          </a:p>
        </p:txBody>
      </p:sp>
      <p:sp>
        <p:nvSpPr>
          <p:cNvPr id="16" name="TextBox 15"/>
          <p:cNvSpPr txBox="1"/>
          <p:nvPr/>
        </p:nvSpPr>
        <p:spPr>
          <a:xfrm>
            <a:off x="850392" y="2779776"/>
            <a:ext cx="2926079" cy="2478024"/>
          </a:xfrm>
          <a:prstGeom prst="rect">
            <a:avLst/>
          </a:prstGeom>
          <a:noFill/>
        </p:spPr>
        <p:txBody>
          <a:bodyPr wrap="square">
            <a:spAutoFit/>
          </a:bodyPr>
          <a:lstStyle/>
          <a:p>
            <a:r>
              <a:rPr sz="900" b="0">
                <a:solidFill>
                  <a:srgbClr val="5B6B82"/>
                </a:solidFill>
                <a:latin typeface="Aptos"/>
              </a:rPr>
              <a:t>x = held-out token sequence
x_t = token at position t
x_&lt;t = all prior tokens
p(x_t | x_&lt;t) = model probability
N = number of evaluated tokens</a:t>
            </a:r>
          </a:p>
        </p:txBody>
      </p:sp>
      <p:sp>
        <p:nvSpPr>
          <p:cNvPr id="17" name="Rounded Rectangle 16"/>
          <p:cNvSpPr/>
          <p:nvPr/>
        </p:nvSpPr>
        <p:spPr>
          <a:xfrm>
            <a:off x="4343400" y="2304288"/>
            <a:ext cx="3383280" cy="306324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43400" y="2304288"/>
            <a:ext cx="54864" cy="306324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2450592"/>
            <a:ext cx="3063240" cy="228600"/>
          </a:xfrm>
          <a:prstGeom prst="rect">
            <a:avLst/>
          </a:prstGeom>
          <a:noFill/>
        </p:spPr>
        <p:txBody>
          <a:bodyPr wrap="square">
            <a:spAutoFit/>
          </a:bodyPr>
          <a:lstStyle/>
          <a:p>
            <a:r>
              <a:rPr sz="1200" b="1">
                <a:solidFill>
                  <a:srgbClr val="3B6EF5"/>
                </a:solidFill>
                <a:latin typeface="Aptos"/>
              </a:rPr>
              <a:t>Worked example</a:t>
            </a:r>
          </a:p>
        </p:txBody>
      </p:sp>
      <p:sp>
        <p:nvSpPr>
          <p:cNvPr id="20" name="TextBox 19"/>
          <p:cNvSpPr txBox="1"/>
          <p:nvPr/>
        </p:nvSpPr>
        <p:spPr>
          <a:xfrm>
            <a:off x="4507992" y="2779776"/>
            <a:ext cx="3063240" cy="2478024"/>
          </a:xfrm>
          <a:prstGeom prst="rect">
            <a:avLst/>
          </a:prstGeom>
          <a:noFill/>
        </p:spPr>
        <p:txBody>
          <a:bodyPr wrap="square">
            <a:spAutoFit/>
          </a:bodyPr>
          <a:lstStyle/>
          <a:p>
            <a:r>
              <a:rPr sz="850" b="0">
                <a:solidFill>
                  <a:srgbClr val="5B6B82"/>
                </a:solidFill>
                <a:latin typeface="Aptos"/>
              </a:rPr>
              <a:t>Model token probabilities:
0.50, 0.25, 0.125
Average NLL = −(ln .50 + ln .25 + ln .125)/3 = 1.386
PPL = e^1.386 ≈ 4.0</a:t>
            </a:r>
          </a:p>
        </p:txBody>
      </p:sp>
      <p:sp>
        <p:nvSpPr>
          <p:cNvPr id="21" name="Rounded Rectangle 20"/>
          <p:cNvSpPr/>
          <p:nvPr/>
        </p:nvSpPr>
        <p:spPr>
          <a:xfrm>
            <a:off x="8119872" y="2304288"/>
            <a:ext cx="3246120" cy="306324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2304288"/>
            <a:ext cx="54864" cy="306324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450592"/>
            <a:ext cx="2926079" cy="228600"/>
          </a:xfrm>
          <a:prstGeom prst="rect">
            <a:avLst/>
          </a:prstGeom>
          <a:noFill/>
        </p:spPr>
        <p:txBody>
          <a:bodyPr wrap="square">
            <a:spAutoFit/>
          </a:bodyPr>
          <a:lstStyle/>
          <a:p>
            <a:r>
              <a:rPr sz="1200" b="1">
                <a:solidFill>
                  <a:srgbClr val="F6A609"/>
                </a:solidFill>
                <a:latin typeface="Aptos"/>
              </a:rPr>
              <a:t>Interpretation</a:t>
            </a:r>
          </a:p>
        </p:txBody>
      </p:sp>
      <p:sp>
        <p:nvSpPr>
          <p:cNvPr id="24" name="TextBox 23"/>
          <p:cNvSpPr txBox="1"/>
          <p:nvPr/>
        </p:nvSpPr>
        <p:spPr>
          <a:xfrm>
            <a:off x="8284464" y="2779776"/>
            <a:ext cx="2926079" cy="2478024"/>
          </a:xfrm>
          <a:prstGeom prst="rect">
            <a:avLst/>
          </a:prstGeom>
          <a:noFill/>
        </p:spPr>
        <p:txBody>
          <a:bodyPr wrap="square">
            <a:spAutoFit/>
          </a:bodyPr>
          <a:lstStyle/>
          <a:p>
            <a:r>
              <a:rPr sz="880" b="0">
                <a:solidFill>
                  <a:srgbClr val="5B6B82"/>
                </a:solidFill>
                <a:latin typeface="Aptos"/>
              </a:rPr>
              <a:t>Reads roughly as “average branching factor.”
Lower PPL means the model is less surprised by held-out text.
Limitation: low PPL does not guarantee helpfulness, grounding, safety, or correct tool use.</a:t>
            </a:r>
          </a:p>
        </p:txBody>
      </p:sp>
      <p:sp>
        <p:nvSpPr>
          <p:cNvPr id="25" name="Rectangle 24"/>
          <p:cNvSpPr/>
          <p:nvPr/>
        </p:nvSpPr>
        <p:spPr>
          <a:xfrm>
            <a:off x="0" y="6510528"/>
            <a:ext cx="12191999" cy="347472"/>
          </a:xfrm>
          <a:prstGeom prst="rect">
            <a:avLst/>
          </a:prstGeom>
          <a:solidFill>
            <a:srgbClr val="09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6601968"/>
            <a:ext cx="5943600" cy="137160"/>
          </a:xfrm>
          <a:prstGeom prst="rect">
            <a:avLst/>
          </a:prstGeom>
          <a:noFill/>
        </p:spPr>
        <p:txBody>
          <a:bodyPr wrap="square">
            <a:spAutoFit/>
          </a:bodyPr>
          <a:lstStyle/>
          <a:p>
            <a:r>
              <a:rPr sz="560" b="0">
                <a:solidFill>
                  <a:srgbClr val="FFFFFF"/>
                </a:solidFill>
                <a:latin typeface="Aptos"/>
              </a:rPr>
              <a:t>CxAI AI Upskill Program · Week 4: Alignment &amp; Optimization</a:t>
            </a:r>
          </a:p>
        </p:txBody>
      </p:sp>
      <p:sp>
        <p:nvSpPr>
          <p:cNvPr id="27" name="TextBox 26"/>
          <p:cNvSpPr txBox="1"/>
          <p:nvPr/>
        </p:nvSpPr>
        <p:spPr>
          <a:xfrm>
            <a:off x="11137392" y="6601968"/>
            <a:ext cx="731520" cy="137160"/>
          </a:xfrm>
          <a:prstGeom prst="rect">
            <a:avLst/>
          </a:prstGeom>
          <a:noFill/>
        </p:spPr>
        <p:txBody>
          <a:bodyPr wrap="square">
            <a:spAutoFit/>
          </a:bodyPr>
          <a:lstStyle/>
          <a:p>
            <a:pPr algn="r"/>
            <a:r>
              <a:rPr sz="560" b="0">
                <a:solidFill>
                  <a:srgbClr val="FFFFFF"/>
                </a:solidFill>
                <a:latin typeface="Aptos"/>
              </a:rPr>
              <a:t>Day 1 | 10a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46888"/>
            <a:ext cx="9144000" cy="347472"/>
          </a:xfrm>
          <a:prstGeom prst="rect">
            <a:avLst/>
          </a:prstGeom>
          <a:noFill/>
        </p:spPr>
        <p:txBody>
          <a:bodyPr wrap="square">
            <a:spAutoFit/>
          </a:bodyPr>
          <a:lstStyle/>
          <a:p>
            <a:r>
              <a:rPr sz="2200" b="1">
                <a:solidFill>
                  <a:srgbClr val="0F1E3D"/>
                </a:solidFill>
                <a:latin typeface="Aptos"/>
              </a:rPr>
              <a:t>BLEU: n-gram precision against references</a:t>
            </a:r>
          </a:p>
        </p:txBody>
      </p:sp>
      <p:sp>
        <p:nvSpPr>
          <p:cNvPr id="4" name="TextBox 3"/>
          <p:cNvSpPr txBox="1"/>
          <p:nvPr/>
        </p:nvSpPr>
        <p:spPr>
          <a:xfrm>
            <a:off x="10149840" y="438912"/>
            <a:ext cx="1280160" cy="164592"/>
          </a:xfrm>
          <a:prstGeom prst="rect">
            <a:avLst/>
          </a:prstGeom>
          <a:noFill/>
        </p:spPr>
        <p:txBody>
          <a:bodyPr wrap="square">
            <a:spAutoFit/>
          </a:bodyPr>
          <a:lstStyle/>
          <a:p>
            <a:pPr algn="r"/>
            <a:r>
              <a:rPr sz="680" b="0">
                <a:solidFill>
                  <a:srgbClr val="AAB6CC"/>
                </a:solidFill>
                <a:latin typeface="Aptos"/>
              </a:rPr>
              <a:t>Day 1 · 10b</a:t>
            </a:r>
          </a:p>
        </p:txBody>
      </p:sp>
      <p:sp>
        <p:nvSpPr>
          <p:cNvPr id="5" name="Oval 4"/>
          <p:cNvSpPr/>
          <p:nvPr/>
        </p:nvSpPr>
        <p:spPr>
          <a:xfrm>
            <a:off x="11475720" y="329184"/>
            <a:ext cx="50292" cy="50292"/>
          </a:xfrm>
          <a:prstGeom prst="ellipse">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585448" y="329184"/>
            <a:ext cx="50292" cy="50292"/>
          </a:xfrm>
          <a:prstGeom prst="ellipse">
            <a:avLst/>
          </a:prstGeom>
          <a:solidFill>
            <a:srgbClr val="3B6EF5"/>
          </a:solidFill>
          <a:ln>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95176" y="329184"/>
            <a:ext cx="50292" cy="50292"/>
          </a:xfrm>
          <a:prstGeom prst="ellipse">
            <a:avLst/>
          </a:prstGeom>
          <a:solidFill>
            <a:srgbClr val="F6A609"/>
          </a:solidFill>
          <a:ln>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804904" y="329184"/>
            <a:ext cx="50292" cy="50292"/>
          </a:xfrm>
          <a:prstGeom prst="ellipse">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914632" y="329184"/>
            <a:ext cx="50292" cy="50292"/>
          </a:xfrm>
          <a:prstGeom prst="ellipse">
            <a:avLst/>
          </a:prstGeom>
          <a:solidFill>
            <a:srgbClr val="AAB6CC"/>
          </a:solidFill>
          <a:ln>
            <a:solidFill>
              <a:srgbClr val="AAB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024128"/>
            <a:ext cx="11201400" cy="9144"/>
          </a:xfrm>
          <a:prstGeom prst="rect">
            <a:avLst/>
          </a:prstGeom>
          <a:solidFill>
            <a:srgbClr val="DAE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1243584"/>
            <a:ext cx="10881360" cy="713232"/>
          </a:xfrm>
          <a:prstGeom prst="roundRect">
            <a:avLst/>
          </a:prstGeom>
          <a:solidFill>
            <a:srgbClr val="FFFFFF"/>
          </a:solidFill>
          <a:ln>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1380744"/>
            <a:ext cx="10588752" cy="512064"/>
          </a:xfrm>
          <a:prstGeom prst="rect">
            <a:avLst/>
          </a:prstGeom>
          <a:noFill/>
        </p:spPr>
        <p:txBody>
          <a:bodyPr wrap="square">
            <a:spAutoFit/>
          </a:bodyPr>
          <a:lstStyle/>
          <a:p>
            <a:pPr algn="ctr"/>
            <a:r>
              <a:rPr sz="1700" b="1">
                <a:solidFill>
                  <a:srgbClr val="0F1E3D"/>
                </a:solidFill>
                <a:latin typeface="Cambria Math"/>
              </a:rPr>
              <a:t>BLEU = BP · exp( Σ_{n=1..N} w_n log p_n )</a:t>
            </a:r>
          </a:p>
        </p:txBody>
      </p:sp>
      <p:sp>
        <p:nvSpPr>
          <p:cNvPr id="13" name="Rounded Rectangle 12"/>
          <p:cNvSpPr/>
          <p:nvPr/>
        </p:nvSpPr>
        <p:spPr>
          <a:xfrm>
            <a:off x="685800" y="2304288"/>
            <a:ext cx="3246120" cy="306324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2304288"/>
            <a:ext cx="54864" cy="306324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2450592"/>
            <a:ext cx="2926079" cy="228600"/>
          </a:xfrm>
          <a:prstGeom prst="rect">
            <a:avLst/>
          </a:prstGeom>
          <a:noFill/>
        </p:spPr>
        <p:txBody>
          <a:bodyPr wrap="square">
            <a:spAutoFit/>
          </a:bodyPr>
          <a:lstStyle/>
          <a:p>
            <a:r>
              <a:rPr sz="1200" b="1">
                <a:solidFill>
                  <a:srgbClr val="3B6EF5"/>
                </a:solidFill>
                <a:latin typeface="Aptos"/>
              </a:rPr>
              <a:t>Notation</a:t>
            </a:r>
          </a:p>
        </p:txBody>
      </p:sp>
      <p:sp>
        <p:nvSpPr>
          <p:cNvPr id="16" name="TextBox 15"/>
          <p:cNvSpPr txBox="1"/>
          <p:nvPr/>
        </p:nvSpPr>
        <p:spPr>
          <a:xfrm>
            <a:off x="850392" y="2779776"/>
            <a:ext cx="2926079" cy="2478024"/>
          </a:xfrm>
          <a:prstGeom prst="rect">
            <a:avLst/>
          </a:prstGeom>
          <a:noFill/>
        </p:spPr>
        <p:txBody>
          <a:bodyPr wrap="square">
            <a:spAutoFit/>
          </a:bodyPr>
          <a:lstStyle/>
          <a:p>
            <a:r>
              <a:rPr sz="900" b="0">
                <a:solidFill>
                  <a:srgbClr val="5B6B82"/>
                </a:solidFill>
                <a:latin typeface="Aptos"/>
              </a:rPr>
              <a:t>p_n = modified n-gram precision
w_n = weight for each n-gram order
BP = brevity penalty
N = max n-gram order, often 4</a:t>
            </a:r>
          </a:p>
        </p:txBody>
      </p:sp>
      <p:sp>
        <p:nvSpPr>
          <p:cNvPr id="17" name="Rounded Rectangle 16"/>
          <p:cNvSpPr/>
          <p:nvPr/>
        </p:nvSpPr>
        <p:spPr>
          <a:xfrm>
            <a:off x="4343400" y="2304288"/>
            <a:ext cx="3383280" cy="306324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43400" y="2304288"/>
            <a:ext cx="54864" cy="306324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2450592"/>
            <a:ext cx="3063240" cy="228600"/>
          </a:xfrm>
          <a:prstGeom prst="rect">
            <a:avLst/>
          </a:prstGeom>
          <a:noFill/>
        </p:spPr>
        <p:txBody>
          <a:bodyPr wrap="square">
            <a:spAutoFit/>
          </a:bodyPr>
          <a:lstStyle/>
          <a:p>
            <a:r>
              <a:rPr sz="1200" b="1">
                <a:solidFill>
                  <a:srgbClr val="0FB5A6"/>
                </a:solidFill>
                <a:latin typeface="Aptos"/>
              </a:rPr>
              <a:t>Simple example</a:t>
            </a:r>
          </a:p>
        </p:txBody>
      </p:sp>
      <p:sp>
        <p:nvSpPr>
          <p:cNvPr id="20" name="TextBox 19"/>
          <p:cNvSpPr txBox="1"/>
          <p:nvPr/>
        </p:nvSpPr>
        <p:spPr>
          <a:xfrm>
            <a:off x="4507992" y="2779776"/>
            <a:ext cx="3063240" cy="2478024"/>
          </a:xfrm>
          <a:prstGeom prst="rect">
            <a:avLst/>
          </a:prstGeom>
          <a:noFill/>
        </p:spPr>
        <p:txBody>
          <a:bodyPr wrap="square">
            <a:spAutoFit/>
          </a:bodyPr>
          <a:lstStyle/>
          <a:p>
            <a:r>
              <a:rPr sz="850" b="0">
                <a:solidFill>
                  <a:srgbClr val="5B6B82"/>
                </a:solidFill>
                <a:latin typeface="Aptos"/>
              </a:rPr>
              <a:t>Reference:
“refund approved June 5”
Candidate A:
“refund approved June 5” → high overlap
Candidate B:
“payment processed already” → low word overlap even if related</a:t>
            </a:r>
          </a:p>
        </p:txBody>
      </p:sp>
      <p:sp>
        <p:nvSpPr>
          <p:cNvPr id="21" name="Rounded Rectangle 20"/>
          <p:cNvSpPr/>
          <p:nvPr/>
        </p:nvSpPr>
        <p:spPr>
          <a:xfrm>
            <a:off x="8119872" y="2304288"/>
            <a:ext cx="3246120" cy="306324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2304288"/>
            <a:ext cx="54864" cy="306324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450592"/>
            <a:ext cx="2926079" cy="228600"/>
          </a:xfrm>
          <a:prstGeom prst="rect">
            <a:avLst/>
          </a:prstGeom>
          <a:noFill/>
        </p:spPr>
        <p:txBody>
          <a:bodyPr wrap="square">
            <a:spAutoFit/>
          </a:bodyPr>
          <a:lstStyle/>
          <a:p>
            <a:r>
              <a:rPr sz="1200" b="1">
                <a:solidFill>
                  <a:srgbClr val="F6A609"/>
                </a:solidFill>
                <a:latin typeface="Aptos"/>
              </a:rPr>
              <a:t>Interpretation</a:t>
            </a:r>
          </a:p>
        </p:txBody>
      </p:sp>
      <p:sp>
        <p:nvSpPr>
          <p:cNvPr id="24" name="TextBox 23"/>
          <p:cNvSpPr txBox="1"/>
          <p:nvPr/>
        </p:nvSpPr>
        <p:spPr>
          <a:xfrm>
            <a:off x="8284464" y="2779776"/>
            <a:ext cx="2926079" cy="2478024"/>
          </a:xfrm>
          <a:prstGeom prst="rect">
            <a:avLst/>
          </a:prstGeom>
          <a:noFill/>
        </p:spPr>
        <p:txBody>
          <a:bodyPr wrap="square">
            <a:spAutoFit/>
          </a:bodyPr>
          <a:lstStyle/>
          <a:p>
            <a:r>
              <a:rPr sz="880" b="0">
                <a:solidFill>
                  <a:srgbClr val="5B6B82"/>
                </a:solidFill>
                <a:latin typeface="Aptos"/>
              </a:rPr>
              <a:t>Rewards precision of generated n-grams against references.
Good for translation-style settings with stable references.
Limitation: accurate paraphrases can score poorly when wording differs.</a:t>
            </a:r>
          </a:p>
        </p:txBody>
      </p:sp>
      <p:sp>
        <p:nvSpPr>
          <p:cNvPr id="25" name="Rectangle 24"/>
          <p:cNvSpPr/>
          <p:nvPr/>
        </p:nvSpPr>
        <p:spPr>
          <a:xfrm>
            <a:off x="0" y="6510528"/>
            <a:ext cx="12191999" cy="347472"/>
          </a:xfrm>
          <a:prstGeom prst="rect">
            <a:avLst/>
          </a:prstGeom>
          <a:solidFill>
            <a:srgbClr val="09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6601968"/>
            <a:ext cx="5943600" cy="137160"/>
          </a:xfrm>
          <a:prstGeom prst="rect">
            <a:avLst/>
          </a:prstGeom>
          <a:noFill/>
        </p:spPr>
        <p:txBody>
          <a:bodyPr wrap="square">
            <a:spAutoFit/>
          </a:bodyPr>
          <a:lstStyle/>
          <a:p>
            <a:r>
              <a:rPr sz="560" b="0">
                <a:solidFill>
                  <a:srgbClr val="FFFFFF"/>
                </a:solidFill>
                <a:latin typeface="Aptos"/>
              </a:rPr>
              <a:t>CxAI AI Upskill Program · Week 4: Alignment &amp; Optimization</a:t>
            </a:r>
          </a:p>
        </p:txBody>
      </p:sp>
      <p:sp>
        <p:nvSpPr>
          <p:cNvPr id="27" name="TextBox 26"/>
          <p:cNvSpPr txBox="1"/>
          <p:nvPr/>
        </p:nvSpPr>
        <p:spPr>
          <a:xfrm>
            <a:off x="11137392" y="6601968"/>
            <a:ext cx="731520" cy="137160"/>
          </a:xfrm>
          <a:prstGeom prst="rect">
            <a:avLst/>
          </a:prstGeom>
          <a:noFill/>
        </p:spPr>
        <p:txBody>
          <a:bodyPr wrap="square">
            <a:spAutoFit/>
          </a:bodyPr>
          <a:lstStyle/>
          <a:p>
            <a:pPr algn="r"/>
            <a:r>
              <a:rPr sz="560" b="0">
                <a:solidFill>
                  <a:srgbClr val="FFFFFF"/>
                </a:solidFill>
                <a:latin typeface="Aptos"/>
              </a:rPr>
              <a:t>Day 1 | 10b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46888"/>
            <a:ext cx="9144000" cy="347472"/>
          </a:xfrm>
          <a:prstGeom prst="rect">
            <a:avLst/>
          </a:prstGeom>
          <a:noFill/>
        </p:spPr>
        <p:txBody>
          <a:bodyPr wrap="square">
            <a:spAutoFit/>
          </a:bodyPr>
          <a:lstStyle/>
          <a:p>
            <a:r>
              <a:rPr sz="2200" b="1">
                <a:solidFill>
                  <a:srgbClr val="0F1E3D"/>
                </a:solidFill>
                <a:latin typeface="Aptos"/>
              </a:rPr>
              <a:t>ROUGE: reference coverage for summaries</a:t>
            </a:r>
          </a:p>
        </p:txBody>
      </p:sp>
      <p:sp>
        <p:nvSpPr>
          <p:cNvPr id="4" name="TextBox 3"/>
          <p:cNvSpPr txBox="1"/>
          <p:nvPr/>
        </p:nvSpPr>
        <p:spPr>
          <a:xfrm>
            <a:off x="10149840" y="438912"/>
            <a:ext cx="1280160" cy="164592"/>
          </a:xfrm>
          <a:prstGeom prst="rect">
            <a:avLst/>
          </a:prstGeom>
          <a:noFill/>
        </p:spPr>
        <p:txBody>
          <a:bodyPr wrap="square">
            <a:spAutoFit/>
          </a:bodyPr>
          <a:lstStyle/>
          <a:p>
            <a:pPr algn="r"/>
            <a:r>
              <a:rPr sz="680" b="0">
                <a:solidFill>
                  <a:srgbClr val="AAB6CC"/>
                </a:solidFill>
                <a:latin typeface="Aptos"/>
              </a:rPr>
              <a:t>Day 1 · 10c</a:t>
            </a:r>
          </a:p>
        </p:txBody>
      </p:sp>
      <p:sp>
        <p:nvSpPr>
          <p:cNvPr id="5" name="Oval 4"/>
          <p:cNvSpPr/>
          <p:nvPr/>
        </p:nvSpPr>
        <p:spPr>
          <a:xfrm>
            <a:off x="11475720" y="329184"/>
            <a:ext cx="50292" cy="50292"/>
          </a:xfrm>
          <a:prstGeom prst="ellipse">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585448" y="329184"/>
            <a:ext cx="50292" cy="50292"/>
          </a:xfrm>
          <a:prstGeom prst="ellipse">
            <a:avLst/>
          </a:prstGeom>
          <a:solidFill>
            <a:srgbClr val="3B6EF5"/>
          </a:solidFill>
          <a:ln>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95176" y="329184"/>
            <a:ext cx="50292" cy="50292"/>
          </a:xfrm>
          <a:prstGeom prst="ellipse">
            <a:avLst/>
          </a:prstGeom>
          <a:solidFill>
            <a:srgbClr val="F6A609"/>
          </a:solidFill>
          <a:ln>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804904" y="329184"/>
            <a:ext cx="50292" cy="50292"/>
          </a:xfrm>
          <a:prstGeom prst="ellipse">
            <a:avLst/>
          </a:prstGeom>
          <a:solidFill>
            <a:srgbClr val="0FB5A6"/>
          </a:solidFill>
          <a:ln>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914632" y="329184"/>
            <a:ext cx="50292" cy="50292"/>
          </a:xfrm>
          <a:prstGeom prst="ellipse">
            <a:avLst/>
          </a:prstGeom>
          <a:solidFill>
            <a:srgbClr val="AAB6CC"/>
          </a:solidFill>
          <a:ln>
            <a:solidFill>
              <a:srgbClr val="AAB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024128"/>
            <a:ext cx="11201400" cy="9144"/>
          </a:xfrm>
          <a:prstGeom prst="rect">
            <a:avLst/>
          </a:prstGeom>
          <a:solidFill>
            <a:srgbClr val="DAE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1152144"/>
            <a:ext cx="10881360" cy="530352"/>
          </a:xfrm>
          <a:prstGeom prst="roundRect">
            <a:avLst/>
          </a:prstGeom>
          <a:solidFill>
            <a:srgbClr val="FFFFFF"/>
          </a:solidFill>
          <a:ln>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1289304"/>
            <a:ext cx="10588752" cy="329184"/>
          </a:xfrm>
          <a:prstGeom prst="rect">
            <a:avLst/>
          </a:prstGeom>
          <a:noFill/>
        </p:spPr>
        <p:txBody>
          <a:bodyPr wrap="square">
            <a:spAutoFit/>
          </a:bodyPr>
          <a:lstStyle/>
          <a:p>
            <a:pPr algn="ctr"/>
            <a:r>
              <a:rPr sz="1600" b="1">
                <a:solidFill>
                  <a:srgbClr val="0F1E3D"/>
                </a:solidFill>
                <a:latin typeface="Cambria Math"/>
              </a:rPr>
              <a:t>ROUGE-N recall = overlapping n-grams / reference n-grams</a:t>
            </a:r>
          </a:p>
        </p:txBody>
      </p:sp>
      <p:sp>
        <p:nvSpPr>
          <p:cNvPr id="13" name="Rounded Rectangle 12"/>
          <p:cNvSpPr/>
          <p:nvPr/>
        </p:nvSpPr>
        <p:spPr>
          <a:xfrm>
            <a:off x="640080" y="1737360"/>
            <a:ext cx="10881360" cy="530352"/>
          </a:xfrm>
          <a:prstGeom prst="roundRect">
            <a:avLst/>
          </a:prstGeom>
          <a:solidFill>
            <a:srgbClr val="FFFFFF"/>
          </a:solidFill>
          <a:ln>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 y="1874519"/>
            <a:ext cx="10588752" cy="329184"/>
          </a:xfrm>
          <a:prstGeom prst="rect">
            <a:avLst/>
          </a:prstGeom>
          <a:noFill/>
        </p:spPr>
        <p:txBody>
          <a:bodyPr wrap="square">
            <a:spAutoFit/>
          </a:bodyPr>
          <a:lstStyle/>
          <a:p>
            <a:pPr algn="ctr"/>
            <a:r>
              <a:rPr sz="1500" b="1">
                <a:solidFill>
                  <a:srgbClr val="0F1E3D"/>
                </a:solidFill>
                <a:latin typeface="Cambria Math"/>
              </a:rPr>
              <a:t>ROUGE-L uses LCS(candidate, reference): longest shared sequence</a:t>
            </a:r>
          </a:p>
        </p:txBody>
      </p:sp>
      <p:sp>
        <p:nvSpPr>
          <p:cNvPr id="15" name="Rounded Rectangle 14"/>
          <p:cNvSpPr/>
          <p:nvPr/>
        </p:nvSpPr>
        <p:spPr>
          <a:xfrm>
            <a:off x="685800" y="2578608"/>
            <a:ext cx="3246120" cy="278892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2578608"/>
            <a:ext cx="54864" cy="27889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2724912"/>
            <a:ext cx="2926079" cy="228600"/>
          </a:xfrm>
          <a:prstGeom prst="rect">
            <a:avLst/>
          </a:prstGeom>
          <a:noFill/>
        </p:spPr>
        <p:txBody>
          <a:bodyPr wrap="square">
            <a:spAutoFit/>
          </a:bodyPr>
          <a:lstStyle/>
          <a:p>
            <a:r>
              <a:rPr sz="1200" b="1">
                <a:solidFill>
                  <a:srgbClr val="F6A609"/>
                </a:solidFill>
                <a:latin typeface="Aptos"/>
              </a:rPr>
              <a:t>Notation</a:t>
            </a:r>
          </a:p>
        </p:txBody>
      </p:sp>
      <p:sp>
        <p:nvSpPr>
          <p:cNvPr id="18" name="TextBox 17"/>
          <p:cNvSpPr txBox="1"/>
          <p:nvPr/>
        </p:nvSpPr>
        <p:spPr>
          <a:xfrm>
            <a:off x="850392" y="3054096"/>
            <a:ext cx="2926079" cy="2203703"/>
          </a:xfrm>
          <a:prstGeom prst="rect">
            <a:avLst/>
          </a:prstGeom>
          <a:noFill/>
        </p:spPr>
        <p:txBody>
          <a:bodyPr wrap="square">
            <a:spAutoFit/>
          </a:bodyPr>
          <a:lstStyle/>
          <a:p>
            <a:r>
              <a:rPr sz="890" b="0">
                <a:solidFill>
                  <a:srgbClr val="5B6B82"/>
                </a:solidFill>
                <a:latin typeface="Aptos"/>
              </a:rPr>
              <a:t>n-gram = sequence of n tokens
Reference_N = n-grams in reference
Overlap_N = shared n-grams
LCS = longest common subsequence</a:t>
            </a:r>
          </a:p>
        </p:txBody>
      </p:sp>
      <p:sp>
        <p:nvSpPr>
          <p:cNvPr id="19" name="Rounded Rectangle 18"/>
          <p:cNvSpPr/>
          <p:nvPr/>
        </p:nvSpPr>
        <p:spPr>
          <a:xfrm>
            <a:off x="4343400" y="2578608"/>
            <a:ext cx="3383280" cy="278892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3400" y="2578608"/>
            <a:ext cx="54864" cy="27889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07992" y="2724912"/>
            <a:ext cx="3063240" cy="228600"/>
          </a:xfrm>
          <a:prstGeom prst="rect">
            <a:avLst/>
          </a:prstGeom>
          <a:noFill/>
        </p:spPr>
        <p:txBody>
          <a:bodyPr wrap="square">
            <a:spAutoFit/>
          </a:bodyPr>
          <a:lstStyle/>
          <a:p>
            <a:r>
              <a:rPr sz="1200" b="1">
                <a:solidFill>
                  <a:srgbClr val="0FB5A6"/>
                </a:solidFill>
                <a:latin typeface="Aptos"/>
              </a:rPr>
              <a:t>Simple example</a:t>
            </a:r>
          </a:p>
        </p:txBody>
      </p:sp>
      <p:sp>
        <p:nvSpPr>
          <p:cNvPr id="22" name="TextBox 21"/>
          <p:cNvSpPr txBox="1"/>
          <p:nvPr/>
        </p:nvSpPr>
        <p:spPr>
          <a:xfrm>
            <a:off x="4507992" y="3054096"/>
            <a:ext cx="3063240" cy="2203703"/>
          </a:xfrm>
          <a:prstGeom prst="rect">
            <a:avLst/>
          </a:prstGeom>
          <a:noFill/>
        </p:spPr>
        <p:txBody>
          <a:bodyPr wrap="square">
            <a:spAutoFit/>
          </a:bodyPr>
          <a:lstStyle/>
          <a:p>
            <a:r>
              <a:rPr sz="840" b="0">
                <a:solidFill>
                  <a:srgbClr val="5B6B82"/>
                </a:solidFill>
                <a:latin typeface="Aptos"/>
              </a:rPr>
              <a:t>Reference facts:
1) 21 tenants impacted
2) token refresh bug
3) Auth owns hotfix
Candidate mentions facts 1 and 2 but misses 3.
Coverage ≈ 2/3 = 0.67</a:t>
            </a:r>
          </a:p>
        </p:txBody>
      </p:sp>
      <p:sp>
        <p:nvSpPr>
          <p:cNvPr id="23" name="Rounded Rectangle 22"/>
          <p:cNvSpPr/>
          <p:nvPr/>
        </p:nvSpPr>
        <p:spPr>
          <a:xfrm>
            <a:off x="8119872" y="2578608"/>
            <a:ext cx="3246120" cy="2788920"/>
          </a:xfrm>
          <a:prstGeom prst="roundRect">
            <a:avLst/>
          </a:prstGeom>
          <a:solidFill>
            <a:srgbClr val="FFFFFF"/>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19872" y="2578608"/>
            <a:ext cx="54864" cy="27889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84464" y="2724912"/>
            <a:ext cx="2926079" cy="228600"/>
          </a:xfrm>
          <a:prstGeom prst="rect">
            <a:avLst/>
          </a:prstGeom>
          <a:noFill/>
        </p:spPr>
        <p:txBody>
          <a:bodyPr wrap="square">
            <a:spAutoFit/>
          </a:bodyPr>
          <a:lstStyle/>
          <a:p>
            <a:r>
              <a:rPr sz="1200" b="1">
                <a:solidFill>
                  <a:srgbClr val="3B6EF5"/>
                </a:solidFill>
                <a:latin typeface="Aptos"/>
              </a:rPr>
              <a:t>Interpretation</a:t>
            </a:r>
          </a:p>
        </p:txBody>
      </p:sp>
      <p:sp>
        <p:nvSpPr>
          <p:cNvPr id="26" name="TextBox 25"/>
          <p:cNvSpPr txBox="1"/>
          <p:nvPr/>
        </p:nvSpPr>
        <p:spPr>
          <a:xfrm>
            <a:off x="8284464" y="3054096"/>
            <a:ext cx="2926079" cy="2203703"/>
          </a:xfrm>
          <a:prstGeom prst="rect">
            <a:avLst/>
          </a:prstGeom>
          <a:noFill/>
        </p:spPr>
        <p:txBody>
          <a:bodyPr wrap="square">
            <a:spAutoFit/>
          </a:bodyPr>
          <a:lstStyle/>
          <a:p>
            <a:r>
              <a:rPr sz="880" b="0">
                <a:solidFill>
                  <a:srgbClr val="5B6B82"/>
                </a:solidFill>
                <a:latin typeface="Aptos"/>
              </a:rPr>
              <a:t>Rewards coverage of reference content, so it is common for summarization.
Limitation: overlap is not the same as factual grounding; copied wrong evidence can still look strong.</a:t>
            </a:r>
          </a:p>
        </p:txBody>
      </p:sp>
      <p:sp>
        <p:nvSpPr>
          <p:cNvPr id="27" name="Rectangle 26"/>
          <p:cNvSpPr/>
          <p:nvPr/>
        </p:nvSpPr>
        <p:spPr>
          <a:xfrm>
            <a:off x="0" y="6510528"/>
            <a:ext cx="12191999" cy="347472"/>
          </a:xfrm>
          <a:prstGeom prst="rect">
            <a:avLst/>
          </a:prstGeom>
          <a:solidFill>
            <a:srgbClr val="09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6601968"/>
            <a:ext cx="5943600" cy="137160"/>
          </a:xfrm>
          <a:prstGeom prst="rect">
            <a:avLst/>
          </a:prstGeom>
          <a:noFill/>
        </p:spPr>
        <p:txBody>
          <a:bodyPr wrap="square">
            <a:spAutoFit/>
          </a:bodyPr>
          <a:lstStyle/>
          <a:p>
            <a:r>
              <a:rPr sz="560" b="0">
                <a:solidFill>
                  <a:srgbClr val="FFFFFF"/>
                </a:solidFill>
                <a:latin typeface="Aptos"/>
              </a:rPr>
              <a:t>CxAI AI Upskill Program · Week 4: Alignment &amp; Optimization</a:t>
            </a:r>
          </a:p>
        </p:txBody>
      </p:sp>
      <p:sp>
        <p:nvSpPr>
          <p:cNvPr id="29" name="TextBox 28"/>
          <p:cNvSpPr txBox="1"/>
          <p:nvPr/>
        </p:nvSpPr>
        <p:spPr>
          <a:xfrm>
            <a:off x="11137392" y="6601968"/>
            <a:ext cx="731520" cy="137160"/>
          </a:xfrm>
          <a:prstGeom prst="rect">
            <a:avLst/>
          </a:prstGeom>
          <a:noFill/>
        </p:spPr>
        <p:txBody>
          <a:bodyPr wrap="square">
            <a:spAutoFit/>
          </a:bodyPr>
          <a:lstStyle/>
          <a:p>
            <a:pPr algn="r"/>
            <a:r>
              <a:rPr sz="560" b="0">
                <a:solidFill>
                  <a:srgbClr val="FFFFFF"/>
                </a:solidFill>
                <a:latin typeface="Aptos"/>
              </a:rPr>
              <a:t>Day 1 | 10c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Metric limits and fit</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11</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Perplexity</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good for LM fit, weak for helpfulness</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BLEU/ROUGE</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good for overlap, weak for semantic alternatives</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Product eval</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combine exact checks, judges, human review, telemetry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Instruction fine-tuning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12</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Data</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instruction → output pairs</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Scope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many tasks and formats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Outcome</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model follows instructions better</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Risk</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model learns artifacts too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Instruction tuning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13</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13</a:t>
            </a:r>
          </a:p>
        </p:txBody>
      </p:sp>
      <p:sp>
        <p:nvSpPr>
          <p:cNvPr id="14" name="Rounded Rectangle 13"/>
          <p:cNvSpPr/>
          <p:nvPr/>
        </p:nvSpPr>
        <p:spPr>
          <a:xfrm>
            <a:off x="594360"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3102864" cy="438912"/>
          </a:xfrm>
          <a:prstGeom prst="rect">
            <a:avLst/>
          </a:prstGeom>
          <a:noFill/>
        </p:spPr>
        <p:txBody>
          <a:bodyPr wrap="square" lIns="45720" tIns="9144" rIns="45720" bIns="9144" anchor="ctr">
            <a:spAutoFit/>
          </a:bodyPr>
          <a:lstStyle/>
          <a:p>
            <a:pPr algn="l"/>
            <a:r>
              <a:rPr sz="1700" b="1" i="0">
                <a:solidFill>
                  <a:srgbClr val="0FB5A6"/>
                </a:solidFill>
                <a:latin typeface="Aptos"/>
              </a:rPr>
              <a:t>Instruction</a:t>
            </a:r>
          </a:p>
        </p:txBody>
      </p:sp>
      <p:sp>
        <p:nvSpPr>
          <p:cNvPr id="17" name="TextBox 16"/>
          <p:cNvSpPr txBox="1"/>
          <p:nvPr/>
        </p:nvSpPr>
        <p:spPr>
          <a:xfrm>
            <a:off x="822960"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Summarize this issue for a support manager.</a:t>
            </a:r>
          </a:p>
        </p:txBody>
      </p:sp>
      <p:sp>
        <p:nvSpPr>
          <p:cNvPr id="18" name="Rounded Rectangle 17"/>
          <p:cNvSpPr/>
          <p:nvPr/>
        </p:nvSpPr>
        <p:spPr>
          <a:xfrm>
            <a:off x="4337304"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37304" y="1627632"/>
            <a:ext cx="73152" cy="3493008"/>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5904" y="1828800"/>
            <a:ext cx="3102864" cy="438912"/>
          </a:xfrm>
          <a:prstGeom prst="rect">
            <a:avLst/>
          </a:prstGeom>
          <a:noFill/>
        </p:spPr>
        <p:txBody>
          <a:bodyPr wrap="square" lIns="45720" tIns="9144" rIns="45720" bIns="9144" anchor="ctr">
            <a:spAutoFit/>
          </a:bodyPr>
          <a:lstStyle/>
          <a:p>
            <a:pPr algn="l"/>
            <a:r>
              <a:rPr sz="1700" b="1" i="0">
                <a:solidFill>
                  <a:srgbClr val="3B6EF5"/>
                </a:solidFill>
                <a:latin typeface="Aptos"/>
              </a:rPr>
              <a:t>Output</a:t>
            </a:r>
          </a:p>
        </p:txBody>
      </p:sp>
      <p:sp>
        <p:nvSpPr>
          <p:cNvPr id="21" name="TextBox 20"/>
          <p:cNvSpPr txBox="1"/>
          <p:nvPr/>
        </p:nvSpPr>
        <p:spPr>
          <a:xfrm>
            <a:off x="4565904"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One-sentence impact, likely cause, owner, next action.</a:t>
            </a:r>
          </a:p>
        </p:txBody>
      </p:sp>
      <p:sp>
        <p:nvSpPr>
          <p:cNvPr id="22" name="Rounded Rectangle 21"/>
          <p:cNvSpPr/>
          <p:nvPr/>
        </p:nvSpPr>
        <p:spPr>
          <a:xfrm>
            <a:off x="8080247" y="1627632"/>
            <a:ext cx="3486911"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0247"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8847" y="1828800"/>
            <a:ext cx="3102864" cy="438912"/>
          </a:xfrm>
          <a:prstGeom prst="rect">
            <a:avLst/>
          </a:prstGeom>
          <a:noFill/>
        </p:spPr>
        <p:txBody>
          <a:bodyPr wrap="square" lIns="45720" tIns="9144" rIns="45720" bIns="9144" anchor="ctr">
            <a:spAutoFit/>
          </a:bodyPr>
          <a:lstStyle/>
          <a:p>
            <a:pPr algn="l"/>
            <a:r>
              <a:rPr sz="1700" b="1" i="0">
                <a:solidFill>
                  <a:srgbClr val="F6A609"/>
                </a:solidFill>
                <a:latin typeface="Aptos"/>
              </a:rPr>
              <a:t>Behavior</a:t>
            </a:r>
          </a:p>
        </p:txBody>
      </p:sp>
      <p:sp>
        <p:nvSpPr>
          <p:cNvPr id="25" name="TextBox 24"/>
          <p:cNvSpPr txBox="1"/>
          <p:nvPr/>
        </p:nvSpPr>
        <p:spPr>
          <a:xfrm>
            <a:off x="8308847" y="2432304"/>
            <a:ext cx="3102864" cy="2560320"/>
          </a:xfrm>
          <a:prstGeom prst="rect">
            <a:avLst/>
          </a:prstGeom>
          <a:noFill/>
        </p:spPr>
        <p:txBody>
          <a:bodyPr wrap="square" lIns="45720" tIns="9144" rIns="45720" bIns="9144" anchor="ctr">
            <a:spAutoFit/>
          </a:bodyPr>
          <a:lstStyle/>
          <a:p>
            <a:pPr algn="l"/>
            <a:r>
              <a:rPr sz="1450" b="0" i="0">
                <a:solidFill>
                  <a:srgbClr val="5B6B82"/>
                </a:solidFill>
                <a:latin typeface="Aptos"/>
              </a:rPr>
              <a:t>Follows requested format and audience</a:t>
            </a:r>
          </a:p>
        </p:txBody>
      </p:sp>
      <p:sp>
        <p:nvSpPr>
          <p:cNvPr id="26" name="Rounded Rectangle 25"/>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Instruction tuning teaches task format and response style.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SFT intuition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14</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14</a:t>
            </a:r>
          </a:p>
        </p:txBody>
      </p:sp>
      <p:sp>
        <p:nvSpPr>
          <p:cNvPr id="15" name="TextBox 14"/>
          <p:cNvSpPr txBox="1"/>
          <p:nvPr/>
        </p:nvSpPr>
        <p:spPr>
          <a:xfrm>
            <a:off x="777240" y="2148840"/>
            <a:ext cx="10698480" cy="822960"/>
          </a:xfrm>
          <a:prstGeom prst="rect">
            <a:avLst/>
          </a:prstGeom>
          <a:noFill/>
        </p:spPr>
        <p:txBody>
          <a:bodyPr wrap="square" lIns="45720" tIns="9144" rIns="45720" bIns="9144" anchor="ctr">
            <a:spAutoFit/>
          </a:bodyPr>
          <a:lstStyle/>
          <a:p>
            <a:pPr algn="ctr"/>
            <a:r>
              <a:rPr sz="4400" b="1" i="0">
                <a:solidFill>
                  <a:srgbClr val="0F1E3D"/>
                </a:solidFill>
                <a:latin typeface="Aptos"/>
              </a:rPr>
              <a:t>Imitate experts</a:t>
            </a:r>
          </a:p>
        </p:txBody>
      </p:sp>
      <p:sp>
        <p:nvSpPr>
          <p:cNvPr id="16" name="TextBox 15"/>
          <p:cNvSpPr txBox="1"/>
          <p:nvPr/>
        </p:nvSpPr>
        <p:spPr>
          <a:xfrm>
            <a:off x="1371600" y="3410712"/>
            <a:ext cx="9418320" cy="640080"/>
          </a:xfrm>
          <a:prstGeom prst="rect">
            <a:avLst/>
          </a:prstGeom>
          <a:noFill/>
        </p:spPr>
        <p:txBody>
          <a:bodyPr wrap="square" lIns="45720" tIns="9144" rIns="45720" bIns="9144" anchor="ctr">
            <a:spAutoFit/>
          </a:bodyPr>
          <a:lstStyle/>
          <a:p>
            <a:pPr algn="ctr"/>
            <a:r>
              <a:rPr sz="2000" b="0" i="0">
                <a:solidFill>
                  <a:srgbClr val="5B6B82"/>
                </a:solidFill>
                <a:latin typeface="Aptos"/>
              </a:rPr>
              <a:t>Show the model what good behavior looks like.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594360"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SFT example</a:t>
            </a:r>
          </a:p>
        </p:txBody>
      </p:sp>
      <p:sp>
        <p:nvSpPr>
          <p:cNvPr id="3" name="TextBox 2"/>
          <p:cNvSpPr txBox="1"/>
          <p:nvPr/>
        </p:nvSpPr>
        <p:spPr>
          <a:xfrm>
            <a:off x="612648" y="841248"/>
            <a:ext cx="10424160" cy="310896"/>
          </a:xfrm>
          <a:prstGeom prst="rect">
            <a:avLst/>
          </a:prstGeom>
          <a:noFill/>
        </p:spPr>
        <p:txBody>
          <a:bodyPr wrap="square" lIns="45720" tIns="9144" rIns="45720" bIns="9144" anchor="ctr">
            <a:spAutoFit/>
          </a:bodyPr>
          <a:lstStyle/>
          <a:p>
            <a:pPr algn="l"/>
            <a:r>
              <a:rPr sz="1400" b="0" i="1">
                <a:solidFill>
                  <a:srgbClr val="5B6B82"/>
                </a:solidFill>
                <a:latin typeface="Aptos"/>
              </a:rPr>
              <a:t>Concrete example</a:t>
            </a:r>
          </a:p>
        </p:txBody>
      </p:sp>
      <p:sp>
        <p:nvSpPr>
          <p:cNvPr id="4" name="TextBox 3"/>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15</a:t>
            </a:r>
          </a:p>
        </p:txBody>
      </p:sp>
      <p:sp>
        <p:nvSpPr>
          <p:cNvPr id="5" name="Oval 4"/>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3" name="TextBox 12"/>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15</a:t>
            </a:r>
          </a:p>
        </p:txBody>
      </p:sp>
      <p:sp>
        <p:nvSpPr>
          <p:cNvPr id="14" name="Rounded Rectangle 13"/>
          <p:cNvSpPr/>
          <p:nvPr/>
        </p:nvSpPr>
        <p:spPr>
          <a:xfrm>
            <a:off x="594360" y="1627632"/>
            <a:ext cx="5358384"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1627632"/>
            <a:ext cx="73152" cy="3493008"/>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1828800"/>
            <a:ext cx="4974336" cy="438912"/>
          </a:xfrm>
          <a:prstGeom prst="rect">
            <a:avLst/>
          </a:prstGeom>
          <a:noFill/>
        </p:spPr>
        <p:txBody>
          <a:bodyPr wrap="square" lIns="45720" tIns="9144" rIns="45720" bIns="9144" anchor="ctr">
            <a:spAutoFit/>
          </a:bodyPr>
          <a:lstStyle/>
          <a:p>
            <a:pPr algn="l"/>
            <a:r>
              <a:rPr sz="1700" b="1" i="0">
                <a:solidFill>
                  <a:srgbClr val="0FB5A6"/>
                </a:solidFill>
                <a:latin typeface="Aptos"/>
              </a:rPr>
              <a:t>Input</a:t>
            </a:r>
          </a:p>
        </p:txBody>
      </p:sp>
      <p:sp>
        <p:nvSpPr>
          <p:cNvPr id="17" name="TextBox 16"/>
          <p:cNvSpPr txBox="1"/>
          <p:nvPr/>
        </p:nvSpPr>
        <p:spPr>
          <a:xfrm>
            <a:off x="822960" y="2432304"/>
            <a:ext cx="4974336" cy="2560320"/>
          </a:xfrm>
          <a:prstGeom prst="rect">
            <a:avLst/>
          </a:prstGeom>
          <a:noFill/>
        </p:spPr>
        <p:txBody>
          <a:bodyPr wrap="square" lIns="45720" tIns="9144" rIns="45720" bIns="9144" anchor="ctr">
            <a:spAutoFit/>
          </a:bodyPr>
          <a:lstStyle/>
          <a:p>
            <a:pPr algn="l"/>
            <a:r>
              <a:rPr sz="1450" b="0" i="0">
                <a:solidFill>
                  <a:srgbClr val="5B6B82"/>
                </a:solidFill>
                <a:latin typeface="Aptos"/>
              </a:rPr>
              <a:t>Customer: “My refund still has not arrived.”
Context:
Approved June 5
Expected arrival June 10</a:t>
            </a:r>
          </a:p>
        </p:txBody>
      </p:sp>
      <p:sp>
        <p:nvSpPr>
          <p:cNvPr id="18" name="Rounded Rectangle 17"/>
          <p:cNvSpPr/>
          <p:nvPr/>
        </p:nvSpPr>
        <p:spPr>
          <a:xfrm>
            <a:off x="6208776" y="1627632"/>
            <a:ext cx="5358384" cy="3493008"/>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1627632"/>
            <a:ext cx="73152" cy="3493008"/>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1828800"/>
            <a:ext cx="4974336" cy="438912"/>
          </a:xfrm>
          <a:prstGeom prst="rect">
            <a:avLst/>
          </a:prstGeom>
          <a:noFill/>
        </p:spPr>
        <p:txBody>
          <a:bodyPr wrap="square" lIns="45720" tIns="9144" rIns="45720" bIns="9144" anchor="ctr">
            <a:spAutoFit/>
          </a:bodyPr>
          <a:lstStyle/>
          <a:p>
            <a:pPr algn="l"/>
            <a:r>
              <a:rPr sz="1700" b="1" i="0">
                <a:solidFill>
                  <a:srgbClr val="F6A609"/>
                </a:solidFill>
                <a:latin typeface="Aptos"/>
              </a:rPr>
              <a:t>Target response</a:t>
            </a:r>
          </a:p>
        </p:txBody>
      </p:sp>
      <p:sp>
        <p:nvSpPr>
          <p:cNvPr id="21" name="TextBox 20"/>
          <p:cNvSpPr txBox="1"/>
          <p:nvPr/>
        </p:nvSpPr>
        <p:spPr>
          <a:xfrm>
            <a:off x="6437376" y="2432304"/>
            <a:ext cx="4974336" cy="2560320"/>
          </a:xfrm>
          <a:prstGeom prst="rect">
            <a:avLst/>
          </a:prstGeom>
          <a:noFill/>
        </p:spPr>
        <p:txBody>
          <a:bodyPr wrap="square" lIns="45720" tIns="9144" rIns="45720" bIns="9144" anchor="ctr">
            <a:spAutoFit/>
          </a:bodyPr>
          <a:lstStyle/>
          <a:p>
            <a:pPr algn="l"/>
            <a:r>
              <a:rPr sz="1450" b="0" i="0">
                <a:solidFill>
                  <a:srgbClr val="5B6B82"/>
                </a:solidFill>
                <a:latin typeface="Aptos"/>
              </a:rPr>
              <a:t>Your refund was approved on June 5 and should arrive by June 10. If it does not arrive by then, contact support again.</a:t>
            </a:r>
          </a:p>
        </p:txBody>
      </p:sp>
      <p:sp>
        <p:nvSpPr>
          <p:cNvPr id="22" name="Rounded Rectangle 21"/>
          <p:cNvSpPr/>
          <p:nvPr/>
        </p:nvSpPr>
        <p:spPr>
          <a:xfrm>
            <a:off x="777240" y="5596128"/>
            <a:ext cx="10652760" cy="54864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632704"/>
            <a:ext cx="10378440" cy="438912"/>
          </a:xfrm>
          <a:prstGeom prst="rect">
            <a:avLst/>
          </a:prstGeom>
          <a:noFill/>
        </p:spPr>
        <p:txBody>
          <a:bodyPr wrap="square" lIns="45720" tIns="9144" rIns="45720" bIns="9144" anchor="ctr">
            <a:spAutoFit/>
          </a:bodyPr>
          <a:lstStyle/>
          <a:p>
            <a:pPr algn="ctr"/>
            <a:r>
              <a:rPr sz="1400" b="1" i="0">
                <a:solidFill>
                  <a:srgbClr val="0F1E3D"/>
                </a:solidFill>
                <a:latin typeface="Aptos"/>
              </a:rPr>
              <a:t>Key idea: SFT learns prompt + context → desired behavior.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SFT data shape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16</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16</a:t>
            </a:r>
          </a:p>
        </p:txBody>
      </p:sp>
      <p:sp>
        <p:nvSpPr>
          <p:cNvPr id="15" name="Rounded Rectangle 14"/>
          <p:cNvSpPr/>
          <p:nvPr/>
        </p:nvSpPr>
        <p:spPr>
          <a:xfrm>
            <a:off x="59436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User</a:t>
            </a:r>
          </a:p>
        </p:txBody>
      </p:sp>
      <p:cxnSp>
        <p:nvCxnSpPr>
          <p:cNvPr id="17" name="Connector 16"/>
          <p:cNvCxnSpPr/>
          <p:nvPr/>
        </p:nvCxnSpPr>
        <p:spPr>
          <a:xfrm>
            <a:off x="3193541" y="3264408"/>
            <a:ext cx="128017"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94710" y="2788920"/>
            <a:ext cx="2571750" cy="941832"/>
          </a:xfrm>
          <a:prstGeom prst="roundRect">
            <a:avLst/>
          </a:prstGeom>
          <a:solidFill>
            <a:srgbClr val="FFFFFF"/>
          </a:solidFill>
          <a:ln w="1778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58718" y="2807208"/>
            <a:ext cx="2443734" cy="905256"/>
          </a:xfrm>
          <a:prstGeom prst="rect">
            <a:avLst/>
          </a:prstGeom>
          <a:noFill/>
        </p:spPr>
        <p:txBody>
          <a:bodyPr wrap="square" lIns="45720" tIns="9144" rIns="45720" bIns="9144" anchor="ctr">
            <a:spAutoFit/>
          </a:bodyPr>
          <a:lstStyle/>
          <a:p>
            <a:pPr algn="ctr"/>
            <a:r>
              <a:rPr sz="1700" b="1" i="0">
                <a:solidFill>
                  <a:srgbClr val="0FB5A6"/>
                </a:solidFill>
                <a:latin typeface="Aptos"/>
              </a:rPr>
              <a:t>Context</a:t>
            </a:r>
          </a:p>
        </p:txBody>
      </p:sp>
      <p:cxnSp>
        <p:nvCxnSpPr>
          <p:cNvPr id="20" name="Connector 19"/>
          <p:cNvCxnSpPr/>
          <p:nvPr/>
        </p:nvCxnSpPr>
        <p:spPr>
          <a:xfrm>
            <a:off x="599389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5060" y="2788920"/>
            <a:ext cx="2571750" cy="941832"/>
          </a:xfrm>
          <a:prstGeom prst="roundRect">
            <a:avLst/>
          </a:prstGeom>
          <a:solidFill>
            <a:srgbClr val="FFFFFF"/>
          </a:solidFill>
          <a:ln w="17780">
            <a:solidFill>
              <a:srgbClr val="3B6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9068" y="2807208"/>
            <a:ext cx="2443734" cy="905256"/>
          </a:xfrm>
          <a:prstGeom prst="rect">
            <a:avLst/>
          </a:prstGeom>
          <a:noFill/>
        </p:spPr>
        <p:txBody>
          <a:bodyPr wrap="square" lIns="45720" tIns="9144" rIns="45720" bIns="9144" anchor="ctr">
            <a:spAutoFit/>
          </a:bodyPr>
          <a:lstStyle/>
          <a:p>
            <a:pPr algn="ctr"/>
            <a:r>
              <a:rPr sz="1700" b="1" i="0">
                <a:solidFill>
                  <a:srgbClr val="3B6EF5"/>
                </a:solidFill>
                <a:latin typeface="Aptos"/>
              </a:rPr>
              <a:t>Target answer</a:t>
            </a:r>
          </a:p>
        </p:txBody>
      </p:sp>
      <p:cxnSp>
        <p:nvCxnSpPr>
          <p:cNvPr id="23" name="Connector 22"/>
          <p:cNvCxnSpPr/>
          <p:nvPr/>
        </p:nvCxnSpPr>
        <p:spPr>
          <a:xfrm>
            <a:off x="8794242" y="3264408"/>
            <a:ext cx="128016" cy="0"/>
          </a:xfrm>
          <a:prstGeom prst="line">
            <a:avLst/>
          </a:prstGeom>
          <a:ln w="20320">
            <a:solidFill>
              <a:srgbClr val="5B6B8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95410" y="2788920"/>
            <a:ext cx="2571750" cy="941832"/>
          </a:xfrm>
          <a:prstGeom prst="roundRect">
            <a:avLst/>
          </a:prstGeom>
          <a:solidFill>
            <a:srgbClr val="FFFFFF"/>
          </a:solidFill>
          <a:ln w="17780">
            <a:solidFill>
              <a:srgbClr val="F6A6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9418" y="2807208"/>
            <a:ext cx="2443734" cy="905256"/>
          </a:xfrm>
          <a:prstGeom prst="rect">
            <a:avLst/>
          </a:prstGeom>
          <a:noFill/>
        </p:spPr>
        <p:txBody>
          <a:bodyPr wrap="square" lIns="45720" tIns="9144" rIns="45720" bIns="9144" anchor="ctr">
            <a:spAutoFit/>
          </a:bodyPr>
          <a:lstStyle/>
          <a:p>
            <a:pPr algn="ctr"/>
            <a:r>
              <a:rPr sz="1700" b="1" i="0">
                <a:solidFill>
                  <a:srgbClr val="F6A609"/>
                </a:solidFill>
                <a:latin typeface="Aptos"/>
              </a:rPr>
              <a:t>Quality tag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SFT objective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17</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17</a:t>
            </a:r>
          </a:p>
        </p:txBody>
      </p:sp>
      <p:sp>
        <p:nvSpPr>
          <p:cNvPr id="15" name="Rounded Rectangle 14"/>
          <p:cNvSpPr/>
          <p:nvPr/>
        </p:nvSpPr>
        <p:spPr>
          <a:xfrm>
            <a:off x="594360" y="1600200"/>
            <a:ext cx="10972800" cy="1042415"/>
          </a:xfrm>
          <a:prstGeom prst="roundRect">
            <a:avLst/>
          </a:prstGeom>
          <a:solidFill>
            <a:srgbClr val="FFFFFF"/>
          </a:solidFill>
          <a:ln w="19050">
            <a:solidFill>
              <a:srgbClr val="0FB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783080"/>
            <a:ext cx="10607040" cy="640080"/>
          </a:xfrm>
          <a:prstGeom prst="rect">
            <a:avLst/>
          </a:prstGeom>
          <a:noFill/>
        </p:spPr>
        <p:txBody>
          <a:bodyPr wrap="square" lIns="45720" tIns="9144" rIns="45720" bIns="9144" anchor="ctr">
            <a:spAutoFit/>
          </a:bodyPr>
          <a:lstStyle/>
          <a:p>
            <a:pPr algn="ctr"/>
            <a:r>
              <a:rPr sz="2800" b="1" i="0">
                <a:solidFill>
                  <a:srgbClr val="0F1E3D"/>
                </a:solidFill>
                <a:latin typeface="Aptos"/>
              </a:rPr>
              <a:t>min  −Σ log πθ(yₜ | x, y&lt;ₜ)</a:t>
            </a:r>
          </a:p>
        </p:txBody>
      </p:sp>
      <p:sp>
        <p:nvSpPr>
          <p:cNvPr id="17" name="Rounded Rectangle 16"/>
          <p:cNvSpPr/>
          <p:nvPr/>
        </p:nvSpPr>
        <p:spPr>
          <a:xfrm>
            <a:off x="594360" y="2971800"/>
            <a:ext cx="544068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2971800"/>
            <a:ext cx="73152" cy="2359152"/>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172968"/>
            <a:ext cx="5056632" cy="438912"/>
          </a:xfrm>
          <a:prstGeom prst="rect">
            <a:avLst/>
          </a:prstGeom>
          <a:noFill/>
        </p:spPr>
        <p:txBody>
          <a:bodyPr wrap="square" lIns="45720" tIns="9144" rIns="45720" bIns="9144" anchor="ctr">
            <a:spAutoFit/>
          </a:bodyPr>
          <a:lstStyle/>
          <a:p>
            <a:pPr algn="l"/>
            <a:r>
              <a:rPr sz="1700" b="1" i="0">
                <a:solidFill>
                  <a:srgbClr val="0FB5A6"/>
                </a:solidFill>
                <a:latin typeface="Aptos"/>
              </a:rPr>
              <a:t>Symbols</a:t>
            </a:r>
          </a:p>
        </p:txBody>
      </p:sp>
      <p:sp>
        <p:nvSpPr>
          <p:cNvPr id="20" name="TextBox 19"/>
          <p:cNvSpPr txBox="1"/>
          <p:nvPr/>
        </p:nvSpPr>
        <p:spPr>
          <a:xfrm>
            <a:off x="822960" y="3776472"/>
            <a:ext cx="5056632" cy="1426464"/>
          </a:xfrm>
          <a:prstGeom prst="rect">
            <a:avLst/>
          </a:prstGeom>
          <a:noFill/>
        </p:spPr>
        <p:txBody>
          <a:bodyPr wrap="square" lIns="45720" tIns="9144" rIns="45720" bIns="9144" anchor="ctr">
            <a:spAutoFit/>
          </a:bodyPr>
          <a:lstStyle/>
          <a:p>
            <a:pPr algn="l"/>
            <a:r>
              <a:rPr sz="1260" b="0" i="0">
                <a:solidFill>
                  <a:srgbClr val="5B6B82"/>
                </a:solidFill>
                <a:latin typeface="Aptos"/>
              </a:rPr>
              <a:t>x = prompt/context
yₜ = target token at step t
y&lt;ₜ = previous target tokens
πθ = model probability distribution
θ = model weights
Σ = sum over target tokens</a:t>
            </a:r>
          </a:p>
        </p:txBody>
      </p:sp>
      <p:sp>
        <p:nvSpPr>
          <p:cNvPr id="21" name="Rounded Rectangle 20"/>
          <p:cNvSpPr/>
          <p:nvPr/>
        </p:nvSpPr>
        <p:spPr>
          <a:xfrm>
            <a:off x="6309360" y="2971800"/>
            <a:ext cx="5257800" cy="2359152"/>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2971800"/>
            <a:ext cx="73152" cy="2359152"/>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73752" cy="438912"/>
          </a:xfrm>
          <a:prstGeom prst="rect">
            <a:avLst/>
          </a:prstGeom>
          <a:noFill/>
        </p:spPr>
        <p:txBody>
          <a:bodyPr wrap="square" lIns="45720" tIns="9144" rIns="45720" bIns="9144" anchor="ctr">
            <a:spAutoFit/>
          </a:bodyPr>
          <a:lstStyle/>
          <a:p>
            <a:pPr algn="l"/>
            <a:r>
              <a:rPr sz="1700" b="1" i="0">
                <a:solidFill>
                  <a:srgbClr val="F6A609"/>
                </a:solidFill>
                <a:latin typeface="Aptos"/>
              </a:rPr>
              <a:t>Interpretation</a:t>
            </a:r>
          </a:p>
        </p:txBody>
      </p:sp>
      <p:sp>
        <p:nvSpPr>
          <p:cNvPr id="24" name="TextBox 23"/>
          <p:cNvSpPr txBox="1"/>
          <p:nvPr/>
        </p:nvSpPr>
        <p:spPr>
          <a:xfrm>
            <a:off x="6537960" y="3776472"/>
            <a:ext cx="4873752" cy="1426464"/>
          </a:xfrm>
          <a:prstGeom prst="rect">
            <a:avLst/>
          </a:prstGeom>
          <a:noFill/>
        </p:spPr>
        <p:txBody>
          <a:bodyPr wrap="square" lIns="45720" tIns="9144" rIns="45720" bIns="9144" anchor="ctr">
            <a:spAutoFit/>
          </a:bodyPr>
          <a:lstStyle/>
          <a:p>
            <a:pPr algn="l"/>
            <a:r>
              <a:rPr sz="1400" b="0" i="0">
                <a:solidFill>
                  <a:srgbClr val="5B6B82"/>
                </a:solidFill>
                <a:latin typeface="Aptos"/>
              </a:rPr>
              <a:t>Increase the probability of the expert answer token by token.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What SFT teaches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18</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18</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Format</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answer shape and schema</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Style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tone, length, wording</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Workflow</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common tool/response patterns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Limit</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weak at subtle trade-offs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2</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SFT strengths and limits</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19</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19</a:t>
            </a:r>
          </a:p>
        </p:txBody>
      </p:sp>
      <p:sp>
        <p:nvSpPr>
          <p:cNvPr id="15" name="Rounded Rectangle 14"/>
          <p:cNvSpPr/>
          <p:nvPr/>
        </p:nvSpPr>
        <p:spPr>
          <a:xfrm>
            <a:off x="777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1783080"/>
            <a:ext cx="73152" cy="30175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1984248"/>
            <a:ext cx="4507992" cy="438912"/>
          </a:xfrm>
          <a:prstGeom prst="rect">
            <a:avLst/>
          </a:prstGeom>
          <a:noFill/>
        </p:spPr>
        <p:txBody>
          <a:bodyPr wrap="square" lIns="45720" tIns="9144" rIns="45720" bIns="9144" anchor="ctr">
            <a:spAutoFit/>
          </a:bodyPr>
          <a:lstStyle/>
          <a:p>
            <a:pPr algn="l"/>
            <a:r>
              <a:rPr sz="2200" b="1" i="0">
                <a:solidFill>
                  <a:srgbClr val="0FB5A6"/>
                </a:solidFill>
                <a:latin typeface="Aptos"/>
              </a:rPr>
              <a:t>Stable</a:t>
            </a:r>
          </a:p>
        </p:txBody>
      </p:sp>
      <p:sp>
        <p:nvSpPr>
          <p:cNvPr id="18" name="TextBox 17"/>
          <p:cNvSpPr txBox="1"/>
          <p:nvPr/>
        </p:nvSpPr>
        <p:spPr>
          <a:xfrm>
            <a:off x="1005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Simple objective; good baseline</a:t>
            </a:r>
          </a:p>
        </p:txBody>
      </p:sp>
      <p:sp>
        <p:nvSpPr>
          <p:cNvPr id="19" name="Rounded Rectangle 18"/>
          <p:cNvSpPr/>
          <p:nvPr/>
        </p:nvSpPr>
        <p:spPr>
          <a:xfrm>
            <a:off x="6492240" y="1783080"/>
            <a:ext cx="4892040" cy="30175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783080"/>
            <a:ext cx="73152" cy="30175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1984248"/>
            <a:ext cx="4507992" cy="438912"/>
          </a:xfrm>
          <a:prstGeom prst="rect">
            <a:avLst/>
          </a:prstGeom>
          <a:noFill/>
        </p:spPr>
        <p:txBody>
          <a:bodyPr wrap="square" lIns="45720" tIns="9144" rIns="45720" bIns="9144" anchor="ctr">
            <a:spAutoFit/>
          </a:bodyPr>
          <a:lstStyle/>
          <a:p>
            <a:pPr algn="l"/>
            <a:r>
              <a:rPr sz="2200" b="1" i="0">
                <a:solidFill>
                  <a:srgbClr val="F6A609"/>
                </a:solidFill>
                <a:latin typeface="Aptos"/>
              </a:rPr>
              <a:t>Imitation ceiling</a:t>
            </a:r>
          </a:p>
        </p:txBody>
      </p:sp>
      <p:sp>
        <p:nvSpPr>
          <p:cNvPr id="22" name="TextBox 21"/>
          <p:cNvSpPr txBox="1"/>
          <p:nvPr/>
        </p:nvSpPr>
        <p:spPr>
          <a:xfrm>
            <a:off x="6720840" y="2587752"/>
            <a:ext cx="4507992" cy="2084831"/>
          </a:xfrm>
          <a:prstGeom prst="rect">
            <a:avLst/>
          </a:prstGeom>
          <a:noFill/>
        </p:spPr>
        <p:txBody>
          <a:bodyPr wrap="square" lIns="45720" tIns="9144" rIns="45720" bIns="9144" anchor="ctr">
            <a:spAutoFit/>
          </a:bodyPr>
          <a:lstStyle/>
          <a:p>
            <a:pPr algn="l"/>
            <a:r>
              <a:rPr sz="1700" b="0" i="0">
                <a:solidFill>
                  <a:srgbClr val="5B6B82"/>
                </a:solidFill>
                <a:latin typeface="Aptos"/>
              </a:rPr>
              <a:t>Cannot explore beyond examples</a:t>
            </a:r>
          </a:p>
        </p:txBody>
      </p:sp>
      <p:sp>
        <p:nvSpPr>
          <p:cNvPr id="23" name="TextBox 22"/>
          <p:cNvSpPr txBox="1"/>
          <p:nvPr/>
        </p:nvSpPr>
        <p:spPr>
          <a:xfrm>
            <a:off x="5833872" y="2971800"/>
            <a:ext cx="502920" cy="365760"/>
          </a:xfrm>
          <a:prstGeom prst="rect">
            <a:avLst/>
          </a:prstGeom>
          <a:noFill/>
        </p:spPr>
        <p:txBody>
          <a:bodyPr wrap="square" lIns="45720" tIns="9144" rIns="45720" bIns="9144" anchor="ctr">
            <a:spAutoFit/>
          </a:bodyPr>
          <a:lstStyle/>
          <a:p>
            <a:pPr algn="ctr"/>
            <a:r>
              <a:rPr sz="2600" b="1" i="0">
                <a:solidFill>
                  <a:srgbClr val="5B6B82"/>
                </a:solidFill>
                <a:latin typeface="Aptos"/>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SFT data selection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20</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20</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High quality</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expert answers, clean context</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Diverse</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cover tasks, languages, users</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Hard cases</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failures and edge cases</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Holdout</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freeze eval split early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Data mixture design</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21</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21</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Task mix</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balance common and strategic tasks</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Style mix</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avoid overfitting one voice</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Difficulty mix</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include easy, medium, hard</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Safety mix</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include refusal and escalation cases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Contamination and leakage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22</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22</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Train/test leakage</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inflated offline scores</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User leakage</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memorization risk</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Policy leakage</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model learns evaluation rubric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Masking and loss hygiene</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23</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23</a:t>
            </a:r>
          </a:p>
        </p:txBody>
      </p:sp>
      <p:sp>
        <p:nvSpPr>
          <p:cNvPr id="15" name="Rounded Rectangle 14"/>
          <p:cNvSpPr/>
          <p:nvPr/>
        </p:nvSpPr>
        <p:spPr>
          <a:xfrm>
            <a:off x="594360"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3078480" cy="438912"/>
          </a:xfrm>
          <a:prstGeom prst="rect">
            <a:avLst/>
          </a:prstGeom>
          <a:noFill/>
        </p:spPr>
        <p:txBody>
          <a:bodyPr wrap="square" lIns="45720" tIns="9144" rIns="45720" bIns="9144" anchor="ctr">
            <a:spAutoFit/>
          </a:bodyPr>
          <a:lstStyle/>
          <a:p>
            <a:pPr algn="l"/>
            <a:r>
              <a:rPr sz="1800" b="1" i="0">
                <a:solidFill>
                  <a:srgbClr val="0FB5A6"/>
                </a:solidFill>
                <a:latin typeface="Aptos"/>
              </a:rPr>
              <a:t>Train only answer</a:t>
            </a:r>
          </a:p>
        </p:txBody>
      </p:sp>
      <p:sp>
        <p:nvSpPr>
          <p:cNvPr id="18" name="TextBox 17"/>
          <p:cNvSpPr txBox="1"/>
          <p:nvPr/>
        </p:nvSpPr>
        <p:spPr>
          <a:xfrm>
            <a:off x="822960"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avoid learning prompt boilerplate</a:t>
            </a:r>
          </a:p>
        </p:txBody>
      </p:sp>
      <p:sp>
        <p:nvSpPr>
          <p:cNvPr id="19" name="Rounded Rectangle 18"/>
          <p:cNvSpPr/>
          <p:nvPr/>
        </p:nvSpPr>
        <p:spPr>
          <a:xfrm>
            <a:off x="4349496"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49496"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8096" y="1892808"/>
            <a:ext cx="3078480" cy="438912"/>
          </a:xfrm>
          <a:prstGeom prst="rect">
            <a:avLst/>
          </a:prstGeom>
          <a:noFill/>
        </p:spPr>
        <p:txBody>
          <a:bodyPr wrap="square" lIns="45720" tIns="9144" rIns="45720" bIns="9144" anchor="ctr">
            <a:spAutoFit/>
          </a:bodyPr>
          <a:lstStyle/>
          <a:p>
            <a:pPr algn="l"/>
            <a:r>
              <a:rPr sz="1800" b="1" i="0">
                <a:solidFill>
                  <a:srgbClr val="3B6EF5"/>
                </a:solidFill>
                <a:latin typeface="Aptos"/>
              </a:rPr>
              <a:t>Preserve context</a:t>
            </a:r>
          </a:p>
        </p:txBody>
      </p:sp>
      <p:sp>
        <p:nvSpPr>
          <p:cNvPr id="22" name="TextBox 21"/>
          <p:cNvSpPr txBox="1"/>
          <p:nvPr/>
        </p:nvSpPr>
        <p:spPr>
          <a:xfrm>
            <a:off x="4578096"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keep evidence visible</a:t>
            </a:r>
          </a:p>
        </p:txBody>
      </p:sp>
      <p:sp>
        <p:nvSpPr>
          <p:cNvPr id="23" name="Rounded Rectangle 22"/>
          <p:cNvSpPr/>
          <p:nvPr/>
        </p:nvSpPr>
        <p:spPr>
          <a:xfrm>
            <a:off x="8104632" y="1691640"/>
            <a:ext cx="3462528"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04632"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3232" y="1892808"/>
            <a:ext cx="3078480" cy="438912"/>
          </a:xfrm>
          <a:prstGeom prst="rect">
            <a:avLst/>
          </a:prstGeom>
          <a:noFill/>
        </p:spPr>
        <p:txBody>
          <a:bodyPr wrap="square" lIns="45720" tIns="9144" rIns="45720" bIns="9144" anchor="ctr">
            <a:spAutoFit/>
          </a:bodyPr>
          <a:lstStyle/>
          <a:p>
            <a:pPr algn="l"/>
            <a:r>
              <a:rPr sz="1800" b="1" i="0">
                <a:solidFill>
                  <a:srgbClr val="F6A609"/>
                </a:solidFill>
                <a:latin typeface="Aptos"/>
              </a:rPr>
              <a:t>Check wrappers</a:t>
            </a:r>
          </a:p>
        </p:txBody>
      </p:sp>
      <p:sp>
        <p:nvSpPr>
          <p:cNvPr id="26" name="TextBox 25"/>
          <p:cNvSpPr txBox="1"/>
          <p:nvPr/>
        </p:nvSpPr>
        <p:spPr>
          <a:xfrm>
            <a:off x="8333232" y="2496312"/>
            <a:ext cx="3078480" cy="2313432"/>
          </a:xfrm>
          <a:prstGeom prst="rect">
            <a:avLst/>
          </a:prstGeom>
          <a:noFill/>
        </p:spPr>
        <p:txBody>
          <a:bodyPr wrap="square" lIns="45720" tIns="9144" rIns="45720" bIns="9144" anchor="ctr">
            <a:spAutoFit/>
          </a:bodyPr>
          <a:lstStyle/>
          <a:p>
            <a:pPr algn="l"/>
            <a:r>
              <a:rPr sz="1500" b="0" i="0">
                <a:solidFill>
                  <a:srgbClr val="5B6B82"/>
                </a:solidFill>
                <a:latin typeface="Aptos"/>
              </a:rPr>
              <a:t>avoid learning internal markers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Oval 1"/>
          <p:cNvSpPr/>
          <p:nvPr/>
        </p:nvSpPr>
        <p:spPr>
          <a:xfrm>
            <a:off x="502920" y="338328"/>
            <a:ext cx="402336" cy="402336"/>
          </a:xfrm>
          <a:prstGeom prst="ellipse">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38328"/>
            <a:ext cx="402336" cy="402336"/>
          </a:xfrm>
          <a:prstGeom prst="rect">
            <a:avLst/>
          </a:prstGeom>
          <a:noFill/>
        </p:spPr>
        <p:txBody>
          <a:bodyPr wrap="square" lIns="45720" tIns="9144" rIns="45720" bIns="9144" anchor="ctr">
            <a:spAutoFit/>
          </a:bodyPr>
          <a:lstStyle/>
          <a:p>
            <a:pPr algn="ctr"/>
            <a:r>
              <a:rPr sz="1400" b="1" i="0">
                <a:solidFill>
                  <a:srgbClr val="0FB5A6"/>
                </a:solidFill>
                <a:latin typeface="Aptos"/>
              </a:rPr>
              <a:t>3</a:t>
            </a:r>
          </a:p>
        </p:txBody>
      </p:sp>
      <p:sp>
        <p:nvSpPr>
          <p:cNvPr id="4" name="TextBox 3"/>
          <p:cNvSpPr txBox="1"/>
          <p:nvPr/>
        </p:nvSpPr>
        <p:spPr>
          <a:xfrm>
            <a:off x="1024128" y="237744"/>
            <a:ext cx="9784080" cy="530352"/>
          </a:xfrm>
          <a:prstGeom prst="rect">
            <a:avLst/>
          </a:prstGeom>
          <a:noFill/>
        </p:spPr>
        <p:txBody>
          <a:bodyPr wrap="square" lIns="45720" tIns="9144" rIns="45720" bIns="9144" anchor="ctr">
            <a:spAutoFit/>
          </a:bodyPr>
          <a:lstStyle/>
          <a:p>
            <a:pPr algn="l"/>
            <a:r>
              <a:rPr sz="3000" b="1" i="0">
                <a:solidFill>
                  <a:srgbClr val="0F1E3D"/>
                </a:solidFill>
                <a:latin typeface="Aptos"/>
              </a:rPr>
              <a:t>Quality gates before training</a:t>
            </a:r>
          </a:p>
        </p:txBody>
      </p:sp>
      <p:sp>
        <p:nvSpPr>
          <p:cNvPr id="5" name="TextBox 4"/>
          <p:cNvSpPr txBox="1"/>
          <p:nvPr/>
        </p:nvSpPr>
        <p:spPr>
          <a:xfrm>
            <a:off x="8503920" y="877824"/>
            <a:ext cx="2743200" cy="164592"/>
          </a:xfrm>
          <a:prstGeom prst="rect">
            <a:avLst/>
          </a:prstGeom>
          <a:noFill/>
        </p:spPr>
        <p:txBody>
          <a:bodyPr wrap="square" lIns="45720" tIns="9144" rIns="45720" bIns="9144" anchor="ctr">
            <a:spAutoFit/>
          </a:bodyPr>
          <a:lstStyle/>
          <a:p>
            <a:pPr algn="ctr"/>
            <a:r>
              <a:rPr sz="900" b="0" i="0">
                <a:solidFill>
                  <a:srgbClr val="AAB6CC"/>
                </a:solidFill>
                <a:latin typeface="Aptos"/>
              </a:rPr>
              <a:t>Day 1 · 24</a:t>
            </a:r>
          </a:p>
        </p:txBody>
      </p:sp>
      <p:sp>
        <p:nvSpPr>
          <p:cNvPr id="6" name="Oval 5"/>
          <p:cNvSpPr/>
          <p:nvPr/>
        </p:nvSpPr>
        <p:spPr>
          <a:xfrm>
            <a:off x="10561320"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25912"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90504" y="402336"/>
            <a:ext cx="73152" cy="73152"/>
          </a:xfrm>
          <a:prstGeom prst="ellipse">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55096"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19688" y="402336"/>
            <a:ext cx="73152" cy="73152"/>
          </a:xfrm>
          <a:prstGeom prst="ellipse">
            <a:avLst/>
          </a:prstGeom>
          <a:solidFill>
            <a:srgbClr val="AAB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243584"/>
            <a:ext cx="10972800" cy="22860"/>
          </a:xfrm>
          <a:prstGeom prst="rect">
            <a:avLst/>
          </a:prstGeom>
          <a:solidFill>
            <a:srgbClr val="E0E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446520"/>
            <a:ext cx="12191695" cy="411480"/>
          </a:xfrm>
          <a:prstGeom prst="rect">
            <a:avLst/>
          </a:prstGeom>
          <a:solidFill>
            <a:srgbClr val="0B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556248"/>
            <a:ext cx="6309360" cy="146304"/>
          </a:xfrm>
          <a:prstGeom prst="rect">
            <a:avLst/>
          </a:prstGeom>
          <a:noFill/>
        </p:spPr>
        <p:txBody>
          <a:bodyPr wrap="square" lIns="45720" tIns="9144" rIns="45720" bIns="9144" anchor="ctr">
            <a:spAutoFit/>
          </a:bodyPr>
          <a:lstStyle/>
          <a:p>
            <a:pPr algn="l"/>
            <a:r>
              <a:rPr sz="800" b="0" i="0">
                <a:solidFill>
                  <a:srgbClr val="AAB6CC"/>
                </a:solidFill>
                <a:latin typeface="Aptos"/>
              </a:rPr>
              <a:t>CxAI AI Upskill Program · Week 4: Alignment &amp; Optimization</a:t>
            </a:r>
          </a:p>
        </p:txBody>
      </p:sp>
      <p:sp>
        <p:nvSpPr>
          <p:cNvPr id="14" name="TextBox 13"/>
          <p:cNvSpPr txBox="1"/>
          <p:nvPr/>
        </p:nvSpPr>
        <p:spPr>
          <a:xfrm>
            <a:off x="10378440" y="6556248"/>
            <a:ext cx="1463040" cy="146304"/>
          </a:xfrm>
          <a:prstGeom prst="rect">
            <a:avLst/>
          </a:prstGeom>
          <a:noFill/>
        </p:spPr>
        <p:txBody>
          <a:bodyPr wrap="square" lIns="45720" tIns="9144" rIns="45720" bIns="9144" anchor="ctr">
            <a:spAutoFit/>
          </a:bodyPr>
          <a:lstStyle/>
          <a:p>
            <a:pPr algn="ctr"/>
            <a:r>
              <a:rPr sz="800" b="0" i="0">
                <a:solidFill>
                  <a:srgbClr val="AAB6CC"/>
                </a:solidFill>
                <a:latin typeface="Aptos"/>
              </a:rPr>
              <a:t>Day 1 | 24</a:t>
            </a:r>
          </a:p>
        </p:txBody>
      </p:sp>
      <p:sp>
        <p:nvSpPr>
          <p:cNvPr id="15" name="Rounded Rectangle 14"/>
          <p:cNvSpPr/>
          <p:nvPr/>
        </p:nvSpPr>
        <p:spPr>
          <a:xfrm>
            <a:off x="594360"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Schema valid</a:t>
            </a:r>
          </a:p>
        </p:txBody>
      </p:sp>
      <p:sp>
        <p:nvSpPr>
          <p:cNvPr id="18" name="TextBox 17"/>
          <p:cNvSpPr txBox="1"/>
          <p:nvPr/>
        </p:nvSpPr>
        <p:spPr>
          <a:xfrm>
            <a:off x="822960"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fields parse cleanly</a:t>
            </a:r>
          </a:p>
        </p:txBody>
      </p:sp>
      <p:sp>
        <p:nvSpPr>
          <p:cNvPr id="19" name="Rounded Rectangle 18"/>
          <p:cNvSpPr/>
          <p:nvPr/>
        </p:nvSpPr>
        <p:spPr>
          <a:xfrm>
            <a:off x="3410711"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10711" y="1691640"/>
            <a:ext cx="73152" cy="3246120"/>
          </a:xfrm>
          <a:prstGeom prst="rect">
            <a:avLst/>
          </a:prstGeom>
          <a:solidFill>
            <a:srgbClr val="3B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1" y="1892808"/>
            <a:ext cx="2139696" cy="438912"/>
          </a:xfrm>
          <a:prstGeom prst="rect">
            <a:avLst/>
          </a:prstGeom>
          <a:noFill/>
        </p:spPr>
        <p:txBody>
          <a:bodyPr wrap="square" lIns="45720" tIns="9144" rIns="45720" bIns="9144" anchor="ctr">
            <a:spAutoFit/>
          </a:bodyPr>
          <a:lstStyle/>
          <a:p>
            <a:pPr algn="l"/>
            <a:r>
              <a:rPr sz="1800" b="1" i="0">
                <a:solidFill>
                  <a:srgbClr val="3B6EF5"/>
                </a:solidFill>
                <a:latin typeface="Aptos"/>
              </a:rPr>
              <a:t>Evidence present</a:t>
            </a:r>
          </a:p>
        </p:txBody>
      </p:sp>
      <p:sp>
        <p:nvSpPr>
          <p:cNvPr id="22" name="TextBox 21"/>
          <p:cNvSpPr txBox="1"/>
          <p:nvPr/>
        </p:nvSpPr>
        <p:spPr>
          <a:xfrm>
            <a:off x="3639311"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answer grounded in context</a:t>
            </a:r>
          </a:p>
        </p:txBody>
      </p:sp>
      <p:sp>
        <p:nvSpPr>
          <p:cNvPr id="23" name="Rounded Rectangle 22"/>
          <p:cNvSpPr/>
          <p:nvPr/>
        </p:nvSpPr>
        <p:spPr>
          <a:xfrm>
            <a:off x="6227064"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27064" y="1691640"/>
            <a:ext cx="73152" cy="3246120"/>
          </a:xfrm>
          <a:prstGeom prst="rect">
            <a:avLst/>
          </a:prstGeom>
          <a:solidFill>
            <a:srgbClr val="F6A6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55664" y="1892808"/>
            <a:ext cx="2139696" cy="438912"/>
          </a:xfrm>
          <a:prstGeom prst="rect">
            <a:avLst/>
          </a:prstGeom>
          <a:noFill/>
        </p:spPr>
        <p:txBody>
          <a:bodyPr wrap="square" lIns="45720" tIns="9144" rIns="45720" bIns="9144" anchor="ctr">
            <a:spAutoFit/>
          </a:bodyPr>
          <a:lstStyle/>
          <a:p>
            <a:pPr algn="l"/>
            <a:r>
              <a:rPr sz="1800" b="1" i="0">
                <a:solidFill>
                  <a:srgbClr val="F6A609"/>
                </a:solidFill>
                <a:latin typeface="Aptos"/>
              </a:rPr>
              <a:t>PII review</a:t>
            </a:r>
          </a:p>
        </p:txBody>
      </p:sp>
      <p:sp>
        <p:nvSpPr>
          <p:cNvPr id="26" name="TextBox 25"/>
          <p:cNvSpPr txBox="1"/>
          <p:nvPr/>
        </p:nvSpPr>
        <p:spPr>
          <a:xfrm>
            <a:off x="6455664"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sensitive data handled</a:t>
            </a:r>
          </a:p>
        </p:txBody>
      </p:sp>
      <p:sp>
        <p:nvSpPr>
          <p:cNvPr id="27" name="Rounded Rectangle 26"/>
          <p:cNvSpPr/>
          <p:nvPr/>
        </p:nvSpPr>
        <p:spPr>
          <a:xfrm>
            <a:off x="9043415" y="1691640"/>
            <a:ext cx="2523744" cy="3246120"/>
          </a:xfrm>
          <a:prstGeom prst="roundRect">
            <a:avLst/>
          </a:prstGeom>
          <a:solidFill>
            <a:srgbClr val="FFFFFF"/>
          </a:solidFill>
          <a:ln w="12700">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43415" y="1691640"/>
            <a:ext cx="73152" cy="3246120"/>
          </a:xfrm>
          <a:prstGeom prst="rect">
            <a:avLst/>
          </a:prstGeom>
          <a:solidFill>
            <a:srgbClr val="0F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2015" y="1892808"/>
            <a:ext cx="2139696" cy="438912"/>
          </a:xfrm>
          <a:prstGeom prst="rect">
            <a:avLst/>
          </a:prstGeom>
          <a:noFill/>
        </p:spPr>
        <p:txBody>
          <a:bodyPr wrap="square" lIns="45720" tIns="9144" rIns="45720" bIns="9144" anchor="ctr">
            <a:spAutoFit/>
          </a:bodyPr>
          <a:lstStyle/>
          <a:p>
            <a:pPr algn="l"/>
            <a:r>
              <a:rPr sz="1800" b="1" i="0">
                <a:solidFill>
                  <a:srgbClr val="0FB5A6"/>
                </a:solidFill>
                <a:latin typeface="Aptos"/>
              </a:rPr>
              <a:t>Split frozen</a:t>
            </a:r>
          </a:p>
        </p:txBody>
      </p:sp>
      <p:sp>
        <p:nvSpPr>
          <p:cNvPr id="30" name="TextBox 29"/>
          <p:cNvSpPr txBox="1"/>
          <p:nvPr/>
        </p:nvSpPr>
        <p:spPr>
          <a:xfrm>
            <a:off x="9272015" y="2496312"/>
            <a:ext cx="2139696" cy="2313432"/>
          </a:xfrm>
          <a:prstGeom prst="rect">
            <a:avLst/>
          </a:prstGeom>
          <a:noFill/>
        </p:spPr>
        <p:txBody>
          <a:bodyPr wrap="square" lIns="45720" tIns="9144" rIns="45720" bIns="9144" anchor="ctr">
            <a:spAutoFit/>
          </a:bodyPr>
          <a:lstStyle/>
          <a:p>
            <a:pPr algn="l"/>
            <a:r>
              <a:rPr sz="1500" b="0" i="0">
                <a:solidFill>
                  <a:srgbClr val="5B6B82"/>
                </a:solidFill>
                <a:latin typeface="Aptos"/>
              </a:rPr>
              <a:t>eval stays untouched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3008</Words>
  <Application>Microsoft Office PowerPoint</Application>
  <PresentationFormat>Widescreen</PresentationFormat>
  <Paragraphs>316</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Dezhi Hong</dc:creator>
  <cp:keywords/>
  <dc:description>generated using python-pptx</dc:description>
  <cp:lastModifiedBy>Dezhi Hong</cp:lastModifiedBy>
  <cp:revision>31</cp:revision>
  <dcterms:created xsi:type="dcterms:W3CDTF">2026-07-20T04:59:44Z</dcterms:created>
  <dcterms:modified xsi:type="dcterms:W3CDTF">2026-07-20T20:35:41Z</dcterms:modified>
  <cp:category/>
</cp:coreProperties>
</file>