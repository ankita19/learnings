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85" r:id="rId2"/>
    <p:sldId id="286" r:id="rId3"/>
    <p:sldId id="287" r:id="rId4"/>
    <p:sldId id="288" r:id="rId5"/>
    <p:sldId id="289" r:id="rId6"/>
    <p:sldId id="290"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95" r:id="rId21"/>
    <p:sldId id="304" r:id="rId22"/>
    <p:sldId id="305" r:id="rId23"/>
    <p:sldId id="306" r:id="rId24"/>
    <p:sldId id="307" r:id="rId25"/>
    <p:sldId id="308"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6" r:id="rId43"/>
    <p:sldId id="329" r:id="rId44"/>
    <p:sldId id="330" r:id="rId45"/>
    <p:sldId id="332" r:id="rId46"/>
    <p:sldId id="331" r:id="rId47"/>
    <p:sldId id="344" r:id="rId48"/>
    <p:sldId id="333" r:id="rId49"/>
    <p:sldId id="334" r:id="rId50"/>
    <p:sldId id="335" r:id="rId51"/>
    <p:sldId id="336" r:id="rId52"/>
    <p:sldId id="337" r:id="rId53"/>
    <p:sldId id="338" r:id="rId54"/>
    <p:sldId id="340" r:id="rId55"/>
    <p:sldId id="341" r:id="rId56"/>
    <p:sldId id="342" r:id="rId57"/>
    <p:sldId id="343" r:id="rId58"/>
    <p:sldId id="345" r:id="rId59"/>
    <p:sldId id="346" r:id="rId60"/>
    <p:sldId id="347" r:id="rId61"/>
    <p:sldId id="348"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D9BB3A-029C-4F49-A10A-857644026404}">
          <p14:sldIdLst>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95"/>
            <p14:sldId id="304"/>
            <p14:sldId id="305"/>
            <p14:sldId id="306"/>
            <p14:sldId id="307"/>
            <p14:sldId id="308"/>
            <p14:sldId id="310"/>
            <p14:sldId id="311"/>
            <p14:sldId id="312"/>
            <p14:sldId id="313"/>
            <p14:sldId id="314"/>
            <p14:sldId id="315"/>
            <p14:sldId id="316"/>
            <p14:sldId id="317"/>
            <p14:sldId id="318"/>
            <p14:sldId id="319"/>
            <p14:sldId id="320"/>
            <p14:sldId id="321"/>
            <p14:sldId id="322"/>
            <p14:sldId id="323"/>
            <p14:sldId id="324"/>
            <p14:sldId id="325"/>
            <p14:sldId id="326"/>
            <p14:sldId id="329"/>
            <p14:sldId id="330"/>
            <p14:sldId id="332"/>
            <p14:sldId id="331"/>
            <p14:sldId id="344"/>
            <p14:sldId id="333"/>
            <p14:sldId id="334"/>
            <p14:sldId id="335"/>
            <p14:sldId id="336"/>
            <p14:sldId id="337"/>
            <p14:sldId id="338"/>
            <p14:sldId id="340"/>
            <p14:sldId id="341"/>
            <p14:sldId id="342"/>
            <p14:sldId id="343"/>
            <p14:sldId id="345"/>
            <p14:sldId id="346"/>
            <p14:sldId id="347"/>
            <p14:sldId id="348"/>
          </p14:sldIdLst>
        </p14:section>
        <p14:section name="Lab" id="{059A9219-FC5E-465D-9F33-0FB4475034CB}">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44AE52-648C-57C6-17D0-E63513A8AC80}" v="1" dt="2026-07-22T17:30:32.649"/>
    <p1510:client id="{8A391315-5DAC-DC57-6927-7321147FF93E}" v="158" dt="2026-07-21T04:27:09.258"/>
    <p1510:client id="{EC195B3E-382E-29BE-26B3-783F52D07C67}" v="3" dt="2026-07-21T17:37:09.178"/>
    <p1510:client id="{ED995A45-6FC4-3AE4-F4E0-AD374A6595E3}" v="114" dt="2026-07-22T05:18:26.5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8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zhi Hong" userId="S::dezhihong@microsoft.com::fff97b6a-d252-436f-9d01-db8d69260ac2" providerId="AD" clId="Web-{CD5EBF95-93C3-5525-1787-BE14B0A369E0}"/>
    <pc:docChg chg="modSld">
      <pc:chgData name="Dezhi Hong" userId="S::dezhihong@microsoft.com::fff97b6a-d252-436f-9d01-db8d69260ac2" providerId="AD" clId="Web-{CD5EBF95-93C3-5525-1787-BE14B0A369E0}" dt="2026-07-20T05:02:31.205" v="11" actId="20577"/>
      <pc:docMkLst>
        <pc:docMk/>
      </pc:docMkLst>
      <pc:sldChg chg="modSp">
        <pc:chgData name="Dezhi Hong" userId="S::dezhihong@microsoft.com::fff97b6a-d252-436f-9d01-db8d69260ac2" providerId="AD" clId="Web-{CD5EBF95-93C3-5525-1787-BE14B0A369E0}" dt="2026-07-20T05:02:31.205" v="11" actId="20577"/>
        <pc:sldMkLst>
          <pc:docMk/>
          <pc:sldMk cId="0" sldId="256"/>
        </pc:sldMkLst>
        <pc:spChg chg="mod">
          <ac:chgData name="Dezhi Hong" userId="S::dezhihong@microsoft.com::fff97b6a-d252-436f-9d01-db8d69260ac2" providerId="AD" clId="Web-{CD5EBF95-93C3-5525-1787-BE14B0A369E0}" dt="2026-07-20T05:02:31.205" v="11" actId="20577"/>
          <ac:spMkLst>
            <pc:docMk/>
            <pc:sldMk cId="0" sldId="256"/>
            <ac:spMk id="6" creationId="{00000000-0000-0000-0000-000000000000}"/>
          </ac:spMkLst>
        </pc:spChg>
      </pc:sldChg>
      <pc:sldChg chg="modSp">
        <pc:chgData name="Dezhi Hong" userId="S::dezhihong@microsoft.com::fff97b6a-d252-436f-9d01-db8d69260ac2" providerId="AD" clId="Web-{CD5EBF95-93C3-5525-1787-BE14B0A369E0}" dt="2026-07-20T05:00:33.110" v="2" actId="1076"/>
        <pc:sldMkLst>
          <pc:docMk/>
          <pc:sldMk cId="0" sldId="257"/>
        </pc:sldMkLst>
        <pc:spChg chg="mod">
          <ac:chgData name="Dezhi Hong" userId="S::dezhihong@microsoft.com::fff97b6a-d252-436f-9d01-db8d69260ac2" providerId="AD" clId="Web-{CD5EBF95-93C3-5525-1787-BE14B0A369E0}" dt="2026-07-20T05:00:33.110" v="2" actId="1076"/>
          <ac:spMkLst>
            <pc:docMk/>
            <pc:sldMk cId="0" sldId="257"/>
            <ac:spMk id="11" creationId="{00000000-0000-0000-0000-000000000000}"/>
          </ac:spMkLst>
        </pc:spChg>
      </pc:sldChg>
    </pc:docChg>
  </pc:docChgLst>
  <pc:docChgLst>
    <pc:chgData name="Dezhi Hong" userId="S::dezhihong@microsoft.com::fff97b6a-d252-436f-9d01-db8d69260ac2" providerId="AD" clId="Web-{ED995A45-6FC4-3AE4-F4E0-AD374A6595E3}"/>
    <pc:docChg chg="modSld">
      <pc:chgData name="Dezhi Hong" userId="S::dezhihong@microsoft.com::fff97b6a-d252-436f-9d01-db8d69260ac2" providerId="AD" clId="Web-{ED995A45-6FC4-3AE4-F4E0-AD374A6595E3}" dt="2026-07-22T05:18:26.546" v="66"/>
      <pc:docMkLst>
        <pc:docMk/>
      </pc:docMkLst>
      <pc:sldChg chg="modSp">
        <pc:chgData name="Dezhi Hong" userId="S::dezhihong@microsoft.com::fff97b6a-d252-436f-9d01-db8d69260ac2" providerId="AD" clId="Web-{ED995A45-6FC4-3AE4-F4E0-AD374A6595E3}" dt="2026-07-22T00:43:54.410" v="0" actId="1076"/>
        <pc:sldMkLst>
          <pc:docMk/>
          <pc:sldMk cId="0" sldId="308"/>
        </pc:sldMkLst>
        <pc:spChg chg="mod">
          <ac:chgData name="Dezhi Hong" userId="S::dezhihong@microsoft.com::fff97b6a-d252-436f-9d01-db8d69260ac2" providerId="AD" clId="Web-{ED995A45-6FC4-3AE4-F4E0-AD374A6595E3}" dt="2026-07-22T00:43:54.410" v="0" actId="1076"/>
          <ac:spMkLst>
            <pc:docMk/>
            <pc:sldMk cId="0" sldId="308"/>
            <ac:spMk id="28" creationId="{00000000-0000-0000-0000-000000000000}"/>
          </ac:spMkLst>
        </pc:spChg>
      </pc:sldChg>
      <pc:sldChg chg="modSp">
        <pc:chgData name="Dezhi Hong" userId="S::dezhihong@microsoft.com::fff97b6a-d252-436f-9d01-db8d69260ac2" providerId="AD" clId="Web-{ED995A45-6FC4-3AE4-F4E0-AD374A6595E3}" dt="2026-07-22T04:22:15.516" v="16" actId="20577"/>
        <pc:sldMkLst>
          <pc:docMk/>
          <pc:sldMk cId="0" sldId="312"/>
        </pc:sldMkLst>
        <pc:spChg chg="mod">
          <ac:chgData name="Dezhi Hong" userId="S::dezhihong@microsoft.com::fff97b6a-d252-436f-9d01-db8d69260ac2" providerId="AD" clId="Web-{ED995A45-6FC4-3AE4-F4E0-AD374A6595E3}" dt="2026-07-22T04:22:15.516" v="16" actId="20577"/>
          <ac:spMkLst>
            <pc:docMk/>
            <pc:sldMk cId="0" sldId="312"/>
            <ac:spMk id="4" creationId="{00000000-0000-0000-0000-000000000000}"/>
          </ac:spMkLst>
        </pc:spChg>
      </pc:sldChg>
      <pc:sldChg chg="delSp modSp">
        <pc:chgData name="Dezhi Hong" userId="S::dezhihong@microsoft.com::fff97b6a-d252-436f-9d01-db8d69260ac2" providerId="AD" clId="Web-{ED995A45-6FC4-3AE4-F4E0-AD374A6595E3}" dt="2026-07-22T04:22:32.860" v="18"/>
        <pc:sldMkLst>
          <pc:docMk/>
          <pc:sldMk cId="0" sldId="313"/>
        </pc:sldMkLst>
        <pc:spChg chg="del mod">
          <ac:chgData name="Dezhi Hong" userId="S::dezhihong@microsoft.com::fff97b6a-d252-436f-9d01-db8d69260ac2" providerId="AD" clId="Web-{ED995A45-6FC4-3AE4-F4E0-AD374A6595E3}" dt="2026-07-22T04:22:32.860" v="18"/>
          <ac:spMkLst>
            <pc:docMk/>
            <pc:sldMk cId="0" sldId="313"/>
            <ac:spMk id="25" creationId="{00000000-0000-0000-0000-000000000000}"/>
          </ac:spMkLst>
        </pc:spChg>
      </pc:sldChg>
      <pc:sldChg chg="delSp modSp">
        <pc:chgData name="Dezhi Hong" userId="S::dezhihong@microsoft.com::fff97b6a-d252-436f-9d01-db8d69260ac2" providerId="AD" clId="Web-{ED995A45-6FC4-3AE4-F4E0-AD374A6595E3}" dt="2026-07-22T04:23:38.298" v="50"/>
        <pc:sldMkLst>
          <pc:docMk/>
          <pc:sldMk cId="0" sldId="314"/>
        </pc:sldMkLst>
        <pc:spChg chg="mod">
          <ac:chgData name="Dezhi Hong" userId="S::dezhihong@microsoft.com::fff97b6a-d252-436f-9d01-db8d69260ac2" providerId="AD" clId="Web-{ED995A45-6FC4-3AE4-F4E0-AD374A6595E3}" dt="2026-07-22T04:23:26.767" v="48" actId="20577"/>
          <ac:spMkLst>
            <pc:docMk/>
            <pc:sldMk cId="0" sldId="314"/>
            <ac:spMk id="17" creationId="{00000000-0000-0000-0000-000000000000}"/>
          </ac:spMkLst>
        </pc:spChg>
        <pc:spChg chg="del mod">
          <ac:chgData name="Dezhi Hong" userId="S::dezhihong@microsoft.com::fff97b6a-d252-436f-9d01-db8d69260ac2" providerId="AD" clId="Web-{ED995A45-6FC4-3AE4-F4E0-AD374A6595E3}" dt="2026-07-22T04:23:38.298" v="50"/>
          <ac:spMkLst>
            <pc:docMk/>
            <pc:sldMk cId="0" sldId="314"/>
            <ac:spMk id="28" creationId="{00000000-0000-0000-0000-000000000000}"/>
          </ac:spMkLst>
        </pc:spChg>
      </pc:sldChg>
      <pc:sldChg chg="delSp modSp">
        <pc:chgData name="Dezhi Hong" userId="S::dezhihong@microsoft.com::fff97b6a-d252-436f-9d01-db8d69260ac2" providerId="AD" clId="Web-{ED995A45-6FC4-3AE4-F4E0-AD374A6595E3}" dt="2026-07-22T04:27:58.159" v="52"/>
        <pc:sldMkLst>
          <pc:docMk/>
          <pc:sldMk cId="0" sldId="317"/>
        </pc:sldMkLst>
        <pc:spChg chg="del mod">
          <ac:chgData name="Dezhi Hong" userId="S::dezhihong@microsoft.com::fff97b6a-d252-436f-9d01-db8d69260ac2" providerId="AD" clId="Web-{ED995A45-6FC4-3AE4-F4E0-AD374A6595E3}" dt="2026-07-22T04:27:58.159" v="52"/>
          <ac:spMkLst>
            <pc:docMk/>
            <pc:sldMk cId="0" sldId="317"/>
            <ac:spMk id="27" creationId="{00000000-0000-0000-0000-000000000000}"/>
          </ac:spMkLst>
        </pc:spChg>
      </pc:sldChg>
      <pc:sldChg chg="delSp">
        <pc:chgData name="Dezhi Hong" userId="S::dezhihong@microsoft.com::fff97b6a-d252-436f-9d01-db8d69260ac2" providerId="AD" clId="Web-{ED995A45-6FC4-3AE4-F4E0-AD374A6595E3}" dt="2026-07-22T04:52:19.537" v="53"/>
        <pc:sldMkLst>
          <pc:docMk/>
          <pc:sldMk cId="0" sldId="321"/>
        </pc:sldMkLst>
        <pc:spChg chg="del">
          <ac:chgData name="Dezhi Hong" userId="S::dezhihong@microsoft.com::fff97b6a-d252-436f-9d01-db8d69260ac2" providerId="AD" clId="Web-{ED995A45-6FC4-3AE4-F4E0-AD374A6595E3}" dt="2026-07-22T04:52:19.537" v="53"/>
          <ac:spMkLst>
            <pc:docMk/>
            <pc:sldMk cId="0" sldId="321"/>
            <ac:spMk id="31" creationId="{00000000-0000-0000-0000-000000000000}"/>
          </ac:spMkLst>
        </pc:spChg>
      </pc:sldChg>
      <pc:sldChg chg="delSp modSp">
        <pc:chgData name="Dezhi Hong" userId="S::dezhihong@microsoft.com::fff97b6a-d252-436f-9d01-db8d69260ac2" providerId="AD" clId="Web-{ED995A45-6FC4-3AE4-F4E0-AD374A6595E3}" dt="2026-07-22T04:54:39.209" v="54"/>
        <pc:sldMkLst>
          <pc:docMk/>
          <pc:sldMk cId="0" sldId="325"/>
        </pc:sldMkLst>
        <pc:spChg chg="del mod">
          <ac:chgData name="Dezhi Hong" userId="S::dezhihong@microsoft.com::fff97b6a-d252-436f-9d01-db8d69260ac2" providerId="AD" clId="Web-{ED995A45-6FC4-3AE4-F4E0-AD374A6595E3}" dt="2026-07-22T04:54:39.209" v="54"/>
          <ac:spMkLst>
            <pc:docMk/>
            <pc:sldMk cId="0" sldId="325"/>
            <ac:spMk id="28" creationId="{00000000-0000-0000-0000-000000000000}"/>
          </ac:spMkLst>
        </pc:spChg>
      </pc:sldChg>
      <pc:sldChg chg="addSp delSp modSp">
        <pc:chgData name="Dezhi Hong" userId="S::dezhihong@microsoft.com::fff97b6a-d252-436f-9d01-db8d69260ac2" providerId="AD" clId="Web-{ED995A45-6FC4-3AE4-F4E0-AD374A6595E3}" dt="2026-07-22T04:57:49.211" v="57" actId="1076"/>
        <pc:sldMkLst>
          <pc:docMk/>
          <pc:sldMk cId="0" sldId="333"/>
        </pc:sldMkLst>
        <pc:spChg chg="add del mod">
          <ac:chgData name="Dezhi Hong" userId="S::dezhihong@microsoft.com::fff97b6a-d252-436f-9d01-db8d69260ac2" providerId="AD" clId="Web-{ED995A45-6FC4-3AE4-F4E0-AD374A6595E3}" dt="2026-07-22T04:57:49.211" v="57" actId="1076"/>
          <ac:spMkLst>
            <pc:docMk/>
            <pc:sldMk cId="0" sldId="333"/>
            <ac:spMk id="28" creationId="{00000000-0000-0000-0000-000000000000}"/>
          </ac:spMkLst>
        </pc:spChg>
      </pc:sldChg>
      <pc:sldChg chg="modSp">
        <pc:chgData name="Dezhi Hong" userId="S::dezhihong@microsoft.com::fff97b6a-d252-436f-9d01-db8d69260ac2" providerId="AD" clId="Web-{ED995A45-6FC4-3AE4-F4E0-AD374A6595E3}" dt="2026-07-22T00:45:54.428" v="2" actId="1076"/>
        <pc:sldMkLst>
          <pc:docMk/>
          <pc:sldMk cId="0" sldId="336"/>
        </pc:sldMkLst>
        <pc:spChg chg="mod">
          <ac:chgData name="Dezhi Hong" userId="S::dezhihong@microsoft.com::fff97b6a-d252-436f-9d01-db8d69260ac2" providerId="AD" clId="Web-{ED995A45-6FC4-3AE4-F4E0-AD374A6595E3}" dt="2026-07-22T00:45:54.428" v="2" actId="1076"/>
          <ac:spMkLst>
            <pc:docMk/>
            <pc:sldMk cId="0" sldId="336"/>
            <ac:spMk id="28" creationId="{00000000-0000-0000-0000-000000000000}"/>
          </ac:spMkLst>
        </pc:spChg>
      </pc:sldChg>
      <pc:sldChg chg="mod modShow">
        <pc:chgData name="Dezhi Hong" userId="S::dezhihong@microsoft.com::fff97b6a-d252-436f-9d01-db8d69260ac2" providerId="AD" clId="Web-{ED995A45-6FC4-3AE4-F4E0-AD374A6595E3}" dt="2026-07-22T05:14:01.169" v="58"/>
        <pc:sldMkLst>
          <pc:docMk/>
          <pc:sldMk cId="0" sldId="346"/>
        </pc:sldMkLst>
      </pc:sldChg>
      <pc:sldChg chg="mod modShow">
        <pc:chgData name="Dezhi Hong" userId="S::dezhihong@microsoft.com::fff97b6a-d252-436f-9d01-db8d69260ac2" providerId="AD" clId="Web-{ED995A45-6FC4-3AE4-F4E0-AD374A6595E3}" dt="2026-07-22T05:14:51.716" v="59"/>
        <pc:sldMkLst>
          <pc:docMk/>
          <pc:sldMk cId="0" sldId="357"/>
        </pc:sldMkLst>
      </pc:sldChg>
      <pc:sldChg chg="mod modShow">
        <pc:chgData name="Dezhi Hong" userId="S::dezhihong@microsoft.com::fff97b6a-d252-436f-9d01-db8d69260ac2" providerId="AD" clId="Web-{ED995A45-6FC4-3AE4-F4E0-AD374A6595E3}" dt="2026-07-22T05:18:14.702" v="65"/>
        <pc:sldMkLst>
          <pc:docMk/>
          <pc:sldMk cId="0" sldId="358"/>
        </pc:sldMkLst>
      </pc:sldChg>
      <pc:sldChg chg="mod modShow">
        <pc:chgData name="Dezhi Hong" userId="S::dezhihong@microsoft.com::fff97b6a-d252-436f-9d01-db8d69260ac2" providerId="AD" clId="Web-{ED995A45-6FC4-3AE4-F4E0-AD374A6595E3}" dt="2026-07-22T05:18:26.546" v="66"/>
        <pc:sldMkLst>
          <pc:docMk/>
          <pc:sldMk cId="0" sldId="359"/>
        </pc:sldMkLst>
      </pc:sldChg>
      <pc:sldChg chg="mod modShow">
        <pc:chgData name="Dezhi Hong" userId="S::dezhihong@microsoft.com::fff97b6a-d252-436f-9d01-db8d69260ac2" providerId="AD" clId="Web-{ED995A45-6FC4-3AE4-F4E0-AD374A6595E3}" dt="2026-07-22T05:15:51.404" v="62"/>
        <pc:sldMkLst>
          <pc:docMk/>
          <pc:sldMk cId="0" sldId="365"/>
        </pc:sldMkLst>
      </pc:sldChg>
      <pc:sldChg chg="modSp">
        <pc:chgData name="Dezhi Hong" userId="S::dezhihong@microsoft.com::fff97b6a-d252-436f-9d01-db8d69260ac2" providerId="AD" clId="Web-{ED995A45-6FC4-3AE4-F4E0-AD374A6595E3}" dt="2026-07-22T05:16:00.107" v="63" actId="1076"/>
        <pc:sldMkLst>
          <pc:docMk/>
          <pc:sldMk cId="0" sldId="366"/>
        </pc:sldMkLst>
        <pc:spChg chg="mod">
          <ac:chgData name="Dezhi Hong" userId="S::dezhihong@microsoft.com::fff97b6a-d252-436f-9d01-db8d69260ac2" providerId="AD" clId="Web-{ED995A45-6FC4-3AE4-F4E0-AD374A6595E3}" dt="2026-07-22T05:16:00.107" v="63" actId="1076"/>
          <ac:spMkLst>
            <pc:docMk/>
            <pc:sldMk cId="0" sldId="366"/>
            <ac:spMk id="24" creationId="{00000000-0000-0000-0000-000000000000}"/>
          </ac:spMkLst>
        </pc:spChg>
      </pc:sldChg>
      <pc:sldChg chg="mod modShow">
        <pc:chgData name="Dezhi Hong" userId="S::dezhihong@microsoft.com::fff97b6a-d252-436f-9d01-db8d69260ac2" providerId="AD" clId="Web-{ED995A45-6FC4-3AE4-F4E0-AD374A6595E3}" dt="2026-07-22T05:16:43.607" v="64"/>
        <pc:sldMkLst>
          <pc:docMk/>
          <pc:sldMk cId="0" sldId="376"/>
        </pc:sldMkLst>
      </pc:sldChg>
    </pc:docChg>
  </pc:docChgLst>
  <pc:docChgLst>
    <pc:chgData name="Dezhi Hong" userId="S::dezhihong@microsoft.com::fff97b6a-d252-436f-9d01-db8d69260ac2" providerId="AD" clId="Web-{EC195B3E-382E-29BE-26B3-783F52D07C67}"/>
    <pc:docChg chg="modSld">
      <pc:chgData name="Dezhi Hong" userId="S::dezhihong@microsoft.com::fff97b6a-d252-436f-9d01-db8d69260ac2" providerId="AD" clId="Web-{EC195B3E-382E-29BE-26B3-783F52D07C67}" dt="2026-07-21T17:37:09.178" v="1"/>
      <pc:docMkLst>
        <pc:docMk/>
      </pc:docMkLst>
      <pc:sldChg chg="modSp">
        <pc:chgData name="Dezhi Hong" userId="S::dezhihong@microsoft.com::fff97b6a-d252-436f-9d01-db8d69260ac2" providerId="AD" clId="Web-{EC195B3E-382E-29BE-26B3-783F52D07C67}" dt="2026-07-21T17:33:24.795" v="0" actId="20577"/>
        <pc:sldMkLst>
          <pc:docMk/>
          <pc:sldMk cId="0" sldId="310"/>
        </pc:sldMkLst>
        <pc:spChg chg="mod">
          <ac:chgData name="Dezhi Hong" userId="S::dezhihong@microsoft.com::fff97b6a-d252-436f-9d01-db8d69260ac2" providerId="AD" clId="Web-{EC195B3E-382E-29BE-26B3-783F52D07C67}" dt="2026-07-21T17:33:24.795" v="0" actId="20577"/>
          <ac:spMkLst>
            <pc:docMk/>
            <pc:sldMk cId="0" sldId="310"/>
            <ac:spMk id="17" creationId="{00000000-0000-0000-0000-000000000000}"/>
          </ac:spMkLst>
        </pc:spChg>
      </pc:sldChg>
      <pc:sldChg chg="mod modShow">
        <pc:chgData name="Dezhi Hong" userId="S::dezhihong@microsoft.com::fff97b6a-d252-436f-9d01-db8d69260ac2" providerId="AD" clId="Web-{EC195B3E-382E-29BE-26B3-783F52D07C67}" dt="2026-07-21T17:37:09.178" v="1"/>
        <pc:sldMkLst>
          <pc:docMk/>
          <pc:sldMk cId="0" sldId="316"/>
        </pc:sldMkLst>
      </pc:sldChg>
    </pc:docChg>
  </pc:docChgLst>
  <pc:docChgLst>
    <pc:chgData name="Dezhi Hong" userId="S::dezhihong@microsoft.com::fff97b6a-d252-436f-9d01-db8d69260ac2" providerId="AD" clId="Web-{8A391315-5DAC-DC57-6927-7321147FF93E}"/>
    <pc:docChg chg="addSld delSld modSld sldOrd modSection">
      <pc:chgData name="Dezhi Hong" userId="S::dezhihong@microsoft.com::fff97b6a-d252-436f-9d01-db8d69260ac2" providerId="AD" clId="Web-{8A391315-5DAC-DC57-6927-7321147FF93E}" dt="2026-07-21T04:27:09.258" v="122"/>
      <pc:docMkLst>
        <pc:docMk/>
      </pc:docMkLst>
      <pc:sldChg chg="modSp">
        <pc:chgData name="Dezhi Hong" userId="S::dezhihong@microsoft.com::fff97b6a-d252-436f-9d01-db8d69260ac2" providerId="AD" clId="Web-{8A391315-5DAC-DC57-6927-7321147FF93E}" dt="2026-07-21T03:24:03.451" v="60" actId="20577"/>
        <pc:sldMkLst>
          <pc:docMk/>
          <pc:sldMk cId="0" sldId="293"/>
        </pc:sldMkLst>
        <pc:spChg chg="mod">
          <ac:chgData name="Dezhi Hong" userId="S::dezhihong@microsoft.com::fff97b6a-d252-436f-9d01-db8d69260ac2" providerId="AD" clId="Web-{8A391315-5DAC-DC57-6927-7321147FF93E}" dt="2026-07-21T03:24:03.451" v="60" actId="20577"/>
          <ac:spMkLst>
            <pc:docMk/>
            <pc:sldMk cId="0" sldId="293"/>
            <ac:spMk id="16" creationId="{00000000-0000-0000-0000-000000000000}"/>
          </ac:spMkLst>
        </pc:spChg>
      </pc:sldChg>
      <pc:sldChg chg="addSp delSp modSp">
        <pc:chgData name="Dezhi Hong" userId="S::dezhihong@microsoft.com::fff97b6a-d252-436f-9d01-db8d69260ac2" providerId="AD" clId="Web-{8A391315-5DAC-DC57-6927-7321147FF93E}" dt="2026-07-21T03:14:07.974" v="7" actId="14100"/>
        <pc:sldMkLst>
          <pc:docMk/>
          <pc:sldMk cId="0" sldId="298"/>
        </pc:sldMkLst>
        <pc:cxnChg chg="add del mod">
          <ac:chgData name="Dezhi Hong" userId="S::dezhihong@microsoft.com::fff97b6a-d252-436f-9d01-db8d69260ac2" providerId="AD" clId="Web-{8A391315-5DAC-DC57-6927-7321147FF93E}" dt="2026-07-21T03:14:07.974" v="7" actId="14100"/>
          <ac:cxnSpMkLst>
            <pc:docMk/>
            <pc:sldMk cId="0" sldId="298"/>
            <ac:cxnSpMk id="23" creationId="{00000000-0000-0000-0000-000000000000}"/>
          </ac:cxnSpMkLst>
        </pc:cxnChg>
      </pc:sldChg>
      <pc:sldChg chg="modSp">
        <pc:chgData name="Dezhi Hong" userId="S::dezhihong@microsoft.com::fff97b6a-d252-436f-9d01-db8d69260ac2" providerId="AD" clId="Web-{8A391315-5DAC-DC57-6927-7321147FF93E}" dt="2026-07-21T03:27:36.208" v="76" actId="20577"/>
        <pc:sldMkLst>
          <pc:docMk/>
          <pc:sldMk cId="0" sldId="306"/>
        </pc:sldMkLst>
        <pc:spChg chg="mod">
          <ac:chgData name="Dezhi Hong" userId="S::dezhihong@microsoft.com::fff97b6a-d252-436f-9d01-db8d69260ac2" providerId="AD" clId="Web-{8A391315-5DAC-DC57-6927-7321147FF93E}" dt="2026-07-21T03:27:36.208" v="76" actId="20577"/>
          <ac:spMkLst>
            <pc:docMk/>
            <pc:sldMk cId="0" sldId="306"/>
            <ac:spMk id="4" creationId="{00000000-0000-0000-0000-000000000000}"/>
          </ac:spMkLst>
        </pc:spChg>
      </pc:sldChg>
      <pc:sldChg chg="del">
        <pc:chgData name="Dezhi Hong" userId="S::dezhihong@microsoft.com::fff97b6a-d252-436f-9d01-db8d69260ac2" providerId="AD" clId="Web-{8A391315-5DAC-DC57-6927-7321147FF93E}" dt="2026-07-21T03:33:22.471" v="77"/>
        <pc:sldMkLst>
          <pc:docMk/>
          <pc:sldMk cId="0" sldId="309"/>
        </pc:sldMkLst>
      </pc:sldChg>
      <pc:sldChg chg="modSp modNotes">
        <pc:chgData name="Dezhi Hong" userId="S::dezhihong@microsoft.com::fff97b6a-d252-436f-9d01-db8d69260ac2" providerId="AD" clId="Web-{8A391315-5DAC-DC57-6927-7321147FF93E}" dt="2026-07-21T03:35:47.694" v="104"/>
        <pc:sldMkLst>
          <pc:docMk/>
          <pc:sldMk cId="0" sldId="310"/>
        </pc:sldMkLst>
        <pc:spChg chg="mod">
          <ac:chgData name="Dezhi Hong" userId="S::dezhihong@microsoft.com::fff97b6a-d252-436f-9d01-db8d69260ac2" providerId="AD" clId="Web-{8A391315-5DAC-DC57-6927-7321147FF93E}" dt="2026-07-21T03:35:24.928" v="83" actId="20577"/>
          <ac:spMkLst>
            <pc:docMk/>
            <pc:sldMk cId="0" sldId="310"/>
            <ac:spMk id="17" creationId="{00000000-0000-0000-0000-000000000000}"/>
          </ac:spMkLst>
        </pc:spChg>
        <pc:spChg chg="mod">
          <ac:chgData name="Dezhi Hong" userId="S::dezhihong@microsoft.com::fff97b6a-d252-436f-9d01-db8d69260ac2" providerId="AD" clId="Web-{8A391315-5DAC-DC57-6927-7321147FF93E}" dt="2026-07-21T03:35:32.428" v="97" actId="20577"/>
          <ac:spMkLst>
            <pc:docMk/>
            <pc:sldMk cId="0" sldId="310"/>
            <ac:spMk id="21" creationId="{00000000-0000-0000-0000-000000000000}"/>
          </ac:spMkLst>
        </pc:spChg>
      </pc:sldChg>
      <pc:sldChg chg="modNotes">
        <pc:chgData name="Dezhi Hong" userId="S::dezhihong@microsoft.com::fff97b6a-d252-436f-9d01-db8d69260ac2" providerId="AD" clId="Web-{8A391315-5DAC-DC57-6927-7321147FF93E}" dt="2026-07-21T04:01:54.782" v="107"/>
        <pc:sldMkLst>
          <pc:docMk/>
          <pc:sldMk cId="0" sldId="311"/>
        </pc:sldMkLst>
      </pc:sldChg>
      <pc:sldChg chg="add del mod modShow">
        <pc:chgData name="Dezhi Hong" userId="S::dezhihong@microsoft.com::fff97b6a-d252-436f-9d01-db8d69260ac2" providerId="AD" clId="Web-{8A391315-5DAC-DC57-6927-7321147FF93E}" dt="2026-07-21T04:07:08.340" v="110"/>
        <pc:sldMkLst>
          <pc:docMk/>
          <pc:sldMk cId="0" sldId="319"/>
        </pc:sldMkLst>
      </pc:sldChg>
      <pc:sldChg chg="del">
        <pc:chgData name="Dezhi Hong" userId="S::dezhihong@microsoft.com::fff97b6a-d252-436f-9d01-db8d69260ac2" providerId="AD" clId="Web-{8A391315-5DAC-DC57-6927-7321147FF93E}" dt="2026-07-21T04:10:14.002" v="111"/>
        <pc:sldMkLst>
          <pc:docMk/>
          <pc:sldMk cId="0" sldId="327"/>
        </pc:sldMkLst>
      </pc:sldChg>
      <pc:sldChg chg="del">
        <pc:chgData name="Dezhi Hong" userId="S::dezhihong@microsoft.com::fff97b6a-d252-436f-9d01-db8d69260ac2" providerId="AD" clId="Web-{8A391315-5DAC-DC57-6927-7321147FF93E}" dt="2026-07-21T04:10:18.034" v="112"/>
        <pc:sldMkLst>
          <pc:docMk/>
          <pc:sldMk cId="0" sldId="328"/>
        </pc:sldMkLst>
      </pc:sldChg>
      <pc:sldChg chg="ord">
        <pc:chgData name="Dezhi Hong" userId="S::dezhihong@microsoft.com::fff97b6a-d252-436f-9d01-db8d69260ac2" providerId="AD" clId="Web-{8A391315-5DAC-DC57-6927-7321147FF93E}" dt="2026-07-21T04:22:52.264" v="115"/>
        <pc:sldMkLst>
          <pc:docMk/>
          <pc:sldMk cId="0" sldId="332"/>
        </pc:sldMkLst>
      </pc:sldChg>
      <pc:sldChg chg="add del ord">
        <pc:chgData name="Dezhi Hong" userId="S::dezhihong@microsoft.com::fff97b6a-d252-436f-9d01-db8d69260ac2" providerId="AD" clId="Web-{8A391315-5DAC-DC57-6927-7321147FF93E}" dt="2026-07-21T04:27:09.258" v="122"/>
        <pc:sldMkLst>
          <pc:docMk/>
          <pc:sldMk cId="0" sldId="339"/>
        </pc:sldMkLst>
      </pc:sldChg>
      <pc:sldChg chg="add del">
        <pc:chgData name="Dezhi Hong" userId="S::dezhihong@microsoft.com::fff97b6a-d252-436f-9d01-db8d69260ac2" providerId="AD" clId="Web-{8A391315-5DAC-DC57-6927-7321147FF93E}" dt="2026-07-21T04:23:04.327" v="117"/>
        <pc:sldMkLst>
          <pc:docMk/>
          <pc:sldMk cId="0" sldId="344"/>
        </pc:sldMkLst>
      </pc:sldChg>
      <pc:sldChg chg="delSp modSp">
        <pc:chgData name="Dezhi Hong" userId="S::dezhihong@microsoft.com::fff97b6a-d252-436f-9d01-db8d69260ac2" providerId="AD" clId="Web-{8A391315-5DAC-DC57-6927-7321147FF93E}" dt="2026-07-21T03:23:09.355" v="59"/>
        <pc:sldMkLst>
          <pc:docMk/>
          <pc:sldMk cId="0" sldId="395"/>
        </pc:sldMkLst>
        <pc:spChg chg="mod">
          <ac:chgData name="Dezhi Hong" userId="S::dezhihong@microsoft.com::fff97b6a-d252-436f-9d01-db8d69260ac2" providerId="AD" clId="Web-{8A391315-5DAC-DC57-6927-7321147FF93E}" dt="2026-07-21T03:23:01.558" v="46"/>
          <ac:spMkLst>
            <pc:docMk/>
            <pc:sldMk cId="0" sldId="395"/>
            <ac:spMk id="6" creationId="{00000000-0000-0000-0000-000000000000}"/>
          </ac:spMkLst>
        </pc:spChg>
        <pc:spChg chg="mod">
          <ac:chgData name="Dezhi Hong" userId="S::dezhihong@microsoft.com::fff97b6a-d252-436f-9d01-db8d69260ac2" providerId="AD" clId="Web-{8A391315-5DAC-DC57-6927-7321147FF93E}" dt="2026-07-21T03:23:01.558" v="47"/>
          <ac:spMkLst>
            <pc:docMk/>
            <pc:sldMk cId="0" sldId="395"/>
            <ac:spMk id="7" creationId="{00000000-0000-0000-0000-000000000000}"/>
          </ac:spMkLst>
        </pc:spChg>
        <pc:spChg chg="mod">
          <ac:chgData name="Dezhi Hong" userId="S::dezhihong@microsoft.com::fff97b6a-d252-436f-9d01-db8d69260ac2" providerId="AD" clId="Web-{8A391315-5DAC-DC57-6927-7321147FF93E}" dt="2026-07-21T03:23:01.558" v="48"/>
          <ac:spMkLst>
            <pc:docMk/>
            <pc:sldMk cId="0" sldId="395"/>
            <ac:spMk id="8" creationId="{00000000-0000-0000-0000-000000000000}"/>
          </ac:spMkLst>
        </pc:spChg>
        <pc:spChg chg="mod">
          <ac:chgData name="Dezhi Hong" userId="S::dezhihong@microsoft.com::fff97b6a-d252-436f-9d01-db8d69260ac2" providerId="AD" clId="Web-{8A391315-5DAC-DC57-6927-7321147FF93E}" dt="2026-07-21T03:23:01.558" v="49"/>
          <ac:spMkLst>
            <pc:docMk/>
            <pc:sldMk cId="0" sldId="395"/>
            <ac:spMk id="9" creationId="{00000000-0000-0000-0000-000000000000}"/>
          </ac:spMkLst>
        </pc:spChg>
        <pc:spChg chg="mod">
          <ac:chgData name="Dezhi Hong" userId="S::dezhihong@microsoft.com::fff97b6a-d252-436f-9d01-db8d69260ac2" providerId="AD" clId="Web-{8A391315-5DAC-DC57-6927-7321147FF93E}" dt="2026-07-21T03:23:01.558" v="50"/>
          <ac:spMkLst>
            <pc:docMk/>
            <pc:sldMk cId="0" sldId="395"/>
            <ac:spMk id="10" creationId="{00000000-0000-0000-0000-000000000000}"/>
          </ac:spMkLst>
        </pc:spChg>
        <pc:spChg chg="mod">
          <ac:chgData name="Dezhi Hong" userId="S::dezhihong@microsoft.com::fff97b6a-d252-436f-9d01-db8d69260ac2" providerId="AD" clId="Web-{8A391315-5DAC-DC57-6927-7321147FF93E}" dt="2026-07-21T03:23:01.558" v="51"/>
          <ac:spMkLst>
            <pc:docMk/>
            <pc:sldMk cId="0" sldId="395"/>
            <ac:spMk id="11" creationId="{00000000-0000-0000-0000-000000000000}"/>
          </ac:spMkLst>
        </pc:spChg>
        <pc:spChg chg="mod">
          <ac:chgData name="Dezhi Hong" userId="S::dezhihong@microsoft.com::fff97b6a-d252-436f-9d01-db8d69260ac2" providerId="AD" clId="Web-{8A391315-5DAC-DC57-6927-7321147FF93E}" dt="2026-07-21T03:23:01.558" v="52"/>
          <ac:spMkLst>
            <pc:docMk/>
            <pc:sldMk cId="0" sldId="395"/>
            <ac:spMk id="12" creationId="{00000000-0000-0000-0000-000000000000}"/>
          </ac:spMkLst>
        </pc:spChg>
        <pc:spChg chg="mod">
          <ac:chgData name="Dezhi Hong" userId="S::dezhihong@microsoft.com::fff97b6a-d252-436f-9d01-db8d69260ac2" providerId="AD" clId="Web-{8A391315-5DAC-DC57-6927-7321147FF93E}" dt="2026-07-21T03:23:01.558" v="53"/>
          <ac:spMkLst>
            <pc:docMk/>
            <pc:sldMk cId="0" sldId="395"/>
            <ac:spMk id="13" creationId="{00000000-0000-0000-0000-000000000000}"/>
          </ac:spMkLst>
        </pc:spChg>
        <pc:spChg chg="mod">
          <ac:chgData name="Dezhi Hong" userId="S::dezhihong@microsoft.com::fff97b6a-d252-436f-9d01-db8d69260ac2" providerId="AD" clId="Web-{8A391315-5DAC-DC57-6927-7321147FF93E}" dt="2026-07-21T03:23:01.558" v="54"/>
          <ac:spMkLst>
            <pc:docMk/>
            <pc:sldMk cId="0" sldId="395"/>
            <ac:spMk id="14" creationId="{00000000-0000-0000-0000-000000000000}"/>
          </ac:spMkLst>
        </pc:spChg>
        <pc:spChg chg="mod">
          <ac:chgData name="Dezhi Hong" userId="S::dezhihong@microsoft.com::fff97b6a-d252-436f-9d01-db8d69260ac2" providerId="AD" clId="Web-{8A391315-5DAC-DC57-6927-7321147FF93E}" dt="2026-07-21T03:23:01.558" v="55"/>
          <ac:spMkLst>
            <pc:docMk/>
            <pc:sldMk cId="0" sldId="395"/>
            <ac:spMk id="15" creationId="{00000000-0000-0000-0000-000000000000}"/>
          </ac:spMkLst>
        </pc:spChg>
        <pc:spChg chg="mod">
          <ac:chgData name="Dezhi Hong" userId="S::dezhihong@microsoft.com::fff97b6a-d252-436f-9d01-db8d69260ac2" providerId="AD" clId="Web-{8A391315-5DAC-DC57-6927-7321147FF93E}" dt="2026-07-21T03:23:01.574" v="56"/>
          <ac:spMkLst>
            <pc:docMk/>
            <pc:sldMk cId="0" sldId="395"/>
            <ac:spMk id="16" creationId="{00000000-0000-0000-0000-000000000000}"/>
          </ac:spMkLst>
        </pc:spChg>
        <pc:spChg chg="mod">
          <ac:chgData name="Dezhi Hong" userId="S::dezhihong@microsoft.com::fff97b6a-d252-436f-9d01-db8d69260ac2" providerId="AD" clId="Web-{8A391315-5DAC-DC57-6927-7321147FF93E}" dt="2026-07-21T03:23:01.730" v="57"/>
          <ac:spMkLst>
            <pc:docMk/>
            <pc:sldMk cId="0" sldId="395"/>
            <ac:spMk id="17" creationId="{00000000-0000-0000-0000-000000000000}"/>
          </ac:spMkLst>
        </pc:spChg>
        <pc:spChg chg="del">
          <ac:chgData name="Dezhi Hong" userId="S::dezhihong@microsoft.com::fff97b6a-d252-436f-9d01-db8d69260ac2" providerId="AD" clId="Web-{8A391315-5DAC-DC57-6927-7321147FF93E}" dt="2026-07-21T03:22:35.573" v="31"/>
          <ac:spMkLst>
            <pc:docMk/>
            <pc:sldMk cId="0" sldId="395"/>
            <ac:spMk id="18" creationId="{00000000-0000-0000-0000-000000000000}"/>
          </ac:spMkLst>
        </pc:spChg>
        <pc:spChg chg="del">
          <ac:chgData name="Dezhi Hong" userId="S::dezhihong@microsoft.com::fff97b6a-d252-436f-9d01-db8d69260ac2" providerId="AD" clId="Web-{8A391315-5DAC-DC57-6927-7321147FF93E}" dt="2026-07-21T03:22:35.573" v="30"/>
          <ac:spMkLst>
            <pc:docMk/>
            <pc:sldMk cId="0" sldId="395"/>
            <ac:spMk id="19" creationId="{00000000-0000-0000-0000-000000000000}"/>
          </ac:spMkLst>
        </pc:spChg>
        <pc:spChg chg="del">
          <ac:chgData name="Dezhi Hong" userId="S::dezhihong@microsoft.com::fff97b6a-d252-436f-9d01-db8d69260ac2" providerId="AD" clId="Web-{8A391315-5DAC-DC57-6927-7321147FF93E}" dt="2026-07-21T03:22:35.573" v="29"/>
          <ac:spMkLst>
            <pc:docMk/>
            <pc:sldMk cId="0" sldId="395"/>
            <ac:spMk id="20" creationId="{00000000-0000-0000-0000-000000000000}"/>
          </ac:spMkLst>
        </pc:spChg>
        <pc:spChg chg="del">
          <ac:chgData name="Dezhi Hong" userId="S::dezhihong@microsoft.com::fff97b6a-d252-436f-9d01-db8d69260ac2" providerId="AD" clId="Web-{8A391315-5DAC-DC57-6927-7321147FF93E}" dt="2026-07-21T03:22:35.573" v="28"/>
          <ac:spMkLst>
            <pc:docMk/>
            <pc:sldMk cId="0" sldId="395"/>
            <ac:spMk id="21" creationId="{00000000-0000-0000-0000-000000000000}"/>
          </ac:spMkLst>
        </pc:spChg>
        <pc:spChg chg="del">
          <ac:chgData name="Dezhi Hong" userId="S::dezhihong@microsoft.com::fff97b6a-d252-436f-9d01-db8d69260ac2" providerId="AD" clId="Web-{8A391315-5DAC-DC57-6927-7321147FF93E}" dt="2026-07-21T03:22:35.573" v="27"/>
          <ac:spMkLst>
            <pc:docMk/>
            <pc:sldMk cId="0" sldId="395"/>
            <ac:spMk id="22" creationId="{00000000-0000-0000-0000-000000000000}"/>
          </ac:spMkLst>
        </pc:spChg>
        <pc:spChg chg="del">
          <ac:chgData name="Dezhi Hong" userId="S::dezhihong@microsoft.com::fff97b6a-d252-436f-9d01-db8d69260ac2" providerId="AD" clId="Web-{8A391315-5DAC-DC57-6927-7321147FF93E}" dt="2026-07-21T03:22:35.573" v="26"/>
          <ac:spMkLst>
            <pc:docMk/>
            <pc:sldMk cId="0" sldId="395"/>
            <ac:spMk id="23" creationId="{00000000-0000-0000-0000-000000000000}"/>
          </ac:spMkLst>
        </pc:spChg>
        <pc:spChg chg="del">
          <ac:chgData name="Dezhi Hong" userId="S::dezhihong@microsoft.com::fff97b6a-d252-436f-9d01-db8d69260ac2" providerId="AD" clId="Web-{8A391315-5DAC-DC57-6927-7321147FF93E}" dt="2026-07-21T03:22:35.573" v="25"/>
          <ac:spMkLst>
            <pc:docMk/>
            <pc:sldMk cId="0" sldId="395"/>
            <ac:spMk id="24" creationId="{00000000-0000-0000-0000-000000000000}"/>
          </ac:spMkLst>
        </pc:spChg>
        <pc:spChg chg="del">
          <ac:chgData name="Dezhi Hong" userId="S::dezhihong@microsoft.com::fff97b6a-d252-436f-9d01-db8d69260ac2" providerId="AD" clId="Web-{8A391315-5DAC-DC57-6927-7321147FF93E}" dt="2026-07-21T03:22:35.573" v="24"/>
          <ac:spMkLst>
            <pc:docMk/>
            <pc:sldMk cId="0" sldId="395"/>
            <ac:spMk id="25" creationId="{00000000-0000-0000-0000-000000000000}"/>
          </ac:spMkLst>
        </pc:spChg>
        <pc:spChg chg="del">
          <ac:chgData name="Dezhi Hong" userId="S::dezhihong@microsoft.com::fff97b6a-d252-436f-9d01-db8d69260ac2" providerId="AD" clId="Web-{8A391315-5DAC-DC57-6927-7321147FF93E}" dt="2026-07-21T03:22:35.573" v="23"/>
          <ac:spMkLst>
            <pc:docMk/>
            <pc:sldMk cId="0" sldId="395"/>
            <ac:spMk id="26" creationId="{00000000-0000-0000-0000-000000000000}"/>
          </ac:spMkLst>
        </pc:spChg>
        <pc:spChg chg="del">
          <ac:chgData name="Dezhi Hong" userId="S::dezhihong@microsoft.com::fff97b6a-d252-436f-9d01-db8d69260ac2" providerId="AD" clId="Web-{8A391315-5DAC-DC57-6927-7321147FF93E}" dt="2026-07-21T03:22:35.573" v="22"/>
          <ac:spMkLst>
            <pc:docMk/>
            <pc:sldMk cId="0" sldId="395"/>
            <ac:spMk id="27" creationId="{00000000-0000-0000-0000-000000000000}"/>
          </ac:spMkLst>
        </pc:spChg>
        <pc:spChg chg="mod">
          <ac:chgData name="Dezhi Hong" userId="S::dezhihong@microsoft.com::fff97b6a-d252-436f-9d01-db8d69260ac2" providerId="AD" clId="Web-{8A391315-5DAC-DC57-6927-7321147FF93E}" dt="2026-07-21T03:22:46.432" v="44" actId="1076"/>
          <ac:spMkLst>
            <pc:docMk/>
            <pc:sldMk cId="0" sldId="395"/>
            <ac:spMk id="28" creationId="{00000000-0000-0000-0000-000000000000}"/>
          </ac:spMkLst>
        </pc:spChg>
        <pc:spChg chg="mod">
          <ac:chgData name="Dezhi Hong" userId="S::dezhihong@microsoft.com::fff97b6a-d252-436f-9d01-db8d69260ac2" providerId="AD" clId="Web-{8A391315-5DAC-DC57-6927-7321147FF93E}" dt="2026-07-21T03:23:09.355" v="59"/>
          <ac:spMkLst>
            <pc:docMk/>
            <pc:sldMk cId="0" sldId="395"/>
            <ac:spMk id="29" creationId="{00000000-0000-0000-0000-000000000000}"/>
          </ac:spMkLst>
        </pc:spChg>
      </pc:sldChg>
    </pc:docChg>
  </pc:docChgLst>
  <pc:docChgLst>
    <pc:chgData name="Dezhi Hong" userId="S::dezhihong@microsoft.com::fff97b6a-d252-436f-9d01-db8d69260ac2" providerId="AD" clId="Web-{47D000D2-F80E-F5F8-E86F-5531CC853883}"/>
    <pc:docChg chg="addSld delSld modSld sldOrd modSection">
      <pc:chgData name="Dezhi Hong" userId="S::dezhihong@microsoft.com::fff97b6a-d252-436f-9d01-db8d69260ac2" providerId="AD" clId="Web-{47D000D2-F80E-F5F8-E86F-5531CC853883}" dt="2026-07-20T18:26:15.664" v="8"/>
      <pc:docMkLst>
        <pc:docMk/>
      </pc:docMkLst>
      <pc:sldChg chg="delSp modSp">
        <pc:chgData name="Dezhi Hong" userId="S::dezhihong@microsoft.com::fff97b6a-d252-436f-9d01-db8d69260ac2" providerId="AD" clId="Web-{47D000D2-F80E-F5F8-E86F-5531CC853883}" dt="2026-07-20T05:17:33.213" v="1"/>
        <pc:sldMkLst>
          <pc:docMk/>
          <pc:sldMk cId="0" sldId="391"/>
        </pc:sldMkLst>
      </pc:sldChg>
      <pc:sldChg chg="delSp modSp">
        <pc:chgData name="Dezhi Hong" userId="S::dezhihong@microsoft.com::fff97b6a-d252-436f-9d01-db8d69260ac2" providerId="AD" clId="Web-{47D000D2-F80E-F5F8-E86F-5531CC853883}" dt="2026-07-20T05:17:37.901" v="3"/>
        <pc:sldMkLst>
          <pc:docMk/>
          <pc:sldMk cId="0" sldId="392"/>
        </pc:sldMkLst>
      </pc:sldChg>
      <pc:sldChg chg="delSp">
        <pc:chgData name="Dezhi Hong" userId="S::dezhihong@microsoft.com::fff97b6a-d252-436f-9d01-db8d69260ac2" providerId="AD" clId="Web-{47D000D2-F80E-F5F8-E86F-5531CC853883}" dt="2026-07-20T05:17:41.307" v="4"/>
        <pc:sldMkLst>
          <pc:docMk/>
          <pc:sldMk cId="0" sldId="393"/>
        </pc:sldMkLst>
      </pc:sldChg>
      <pc:sldChg chg="new ord">
        <pc:chgData name="Dezhi Hong" userId="S::dezhihong@microsoft.com::fff97b6a-d252-436f-9d01-db8d69260ac2" providerId="AD" clId="Web-{47D000D2-F80E-F5F8-E86F-5531CC853883}" dt="2026-07-20T18:26:15.664" v="8"/>
        <pc:sldMkLst>
          <pc:docMk/>
          <pc:sldMk cId="3658974516" sldId="394"/>
        </pc:sldMkLst>
      </pc:sldChg>
    </pc:docChg>
  </pc:docChgLst>
  <pc:docChgLst>
    <pc:chgData name="Dezhi Hong" userId="S::dezhihong@microsoft.com::fff97b6a-d252-436f-9d01-db8d69260ac2" providerId="AD" clId="Web-{1B44AE52-648C-57C6-17D0-E63513A8AC80}"/>
    <pc:docChg chg="modSld">
      <pc:chgData name="Dezhi Hong" userId="S::dezhihong@microsoft.com::fff97b6a-d252-436f-9d01-db8d69260ac2" providerId="AD" clId="Web-{1B44AE52-648C-57C6-17D0-E63513A8AC80}" dt="2026-07-22T17:30:32.649" v="0"/>
      <pc:docMkLst>
        <pc:docMk/>
      </pc:docMkLst>
      <pc:sldChg chg="mod modShow">
        <pc:chgData name="Dezhi Hong" userId="S::dezhihong@microsoft.com::fff97b6a-d252-436f-9d01-db8d69260ac2" providerId="AD" clId="Web-{1B44AE52-648C-57C6-17D0-E63513A8AC80}" dt="2026-07-22T17:30:32.649" v="0"/>
        <pc:sldMkLst>
          <pc:docMk/>
          <pc:sldMk cId="0" sldId="343"/>
        </pc:sldMkLst>
      </pc:sldChg>
    </pc:docChg>
  </pc:docChgLst>
  <pc:docChgLst>
    <pc:chgData name="Dezhi Hong" userId="S::dezhihong@microsoft.com::fff97b6a-d252-436f-9d01-db8d69260ac2" providerId="AD" clId="Web-{788419A4-B8D4-A4B1-2099-7DDABADD9D72}"/>
    <pc:docChg chg="modSld addSection modSection">
      <pc:chgData name="Dezhi Hong" userId="S::dezhihong@microsoft.com::fff97b6a-d252-436f-9d01-db8d69260ac2" providerId="AD" clId="Web-{788419A4-B8D4-A4B1-2099-7DDABADD9D72}" dt="2026-07-14T03:51:13.790" v="29" actId="20577"/>
      <pc:docMkLst>
        <pc:docMk/>
      </pc:docMkLst>
      <pc:sldChg chg="modSp">
        <pc:chgData name="Dezhi Hong" userId="S::dezhihong@microsoft.com::fff97b6a-d252-436f-9d01-db8d69260ac2" providerId="AD" clId="Web-{788419A4-B8D4-A4B1-2099-7DDABADD9D72}" dt="2026-07-14T03:51:13.790" v="29" actId="20577"/>
        <pc:sldMkLst>
          <pc:docMk/>
          <pc:sldMk cId="0" sldId="256"/>
        </pc:sldMkLst>
        <pc:spChg chg="mod">
          <ac:chgData name="Dezhi Hong" userId="S::dezhihong@microsoft.com::fff97b6a-d252-436f-9d01-db8d69260ac2" providerId="AD" clId="Web-{788419A4-B8D4-A4B1-2099-7DDABADD9D72}" dt="2026-07-14T03:50:56.837" v="18" actId="20577"/>
          <ac:spMkLst>
            <pc:docMk/>
            <pc:sldMk cId="0" sldId="256"/>
            <ac:spMk id="3" creationId="{00000000-0000-0000-0000-000000000000}"/>
          </ac:spMkLst>
        </pc:spChg>
        <pc:spChg chg="mod">
          <ac:chgData name="Dezhi Hong" userId="S::dezhihong@microsoft.com::fff97b6a-d252-436f-9d01-db8d69260ac2" providerId="AD" clId="Web-{788419A4-B8D4-A4B1-2099-7DDABADD9D72}" dt="2026-07-14T03:51:02.274" v="25" actId="20577"/>
          <ac:spMkLst>
            <pc:docMk/>
            <pc:sldMk cId="0" sldId="256"/>
            <ac:spMk id="4" creationId="{00000000-0000-0000-0000-000000000000}"/>
          </ac:spMkLst>
        </pc:spChg>
        <pc:spChg chg="mod">
          <ac:chgData name="Dezhi Hong" userId="S::dezhihong@microsoft.com::fff97b6a-d252-436f-9d01-db8d69260ac2" providerId="AD" clId="Web-{788419A4-B8D4-A4B1-2099-7DDABADD9D72}" dt="2026-07-14T03:51:13.790" v="29" actId="20577"/>
          <ac:spMkLst>
            <pc:docMk/>
            <pc:sldMk cId="0" sldId="256"/>
            <ac:spMk id="5" creationId="{00000000-0000-0000-0000-000000000000}"/>
          </ac:spMkLst>
        </pc:spChg>
      </pc:sldChg>
      <pc:sldChg chg="modSp">
        <pc:chgData name="Dezhi Hong" userId="S::dezhihong@microsoft.com::fff97b6a-d252-436f-9d01-db8d69260ac2" providerId="AD" clId="Web-{788419A4-B8D4-A4B1-2099-7DDABADD9D72}" dt="2026-07-14T03:46:24.687" v="2" actId="20577"/>
        <pc:sldMkLst>
          <pc:docMk/>
          <pc:sldMk cId="0" sldId="257"/>
        </pc:sldMkLst>
        <pc:spChg chg="mod">
          <ac:chgData name="Dezhi Hong" userId="S::dezhihong@microsoft.com::fff97b6a-d252-436f-9d01-db8d69260ac2" providerId="AD" clId="Web-{788419A4-B8D4-A4B1-2099-7DDABADD9D72}" dt="2026-07-14T03:46:24.687" v="2" actId="20577"/>
          <ac:spMkLst>
            <pc:docMk/>
            <pc:sldMk cId="0" sldId="257"/>
            <ac:spMk id="3" creationId="{00000000-0000-0000-0000-000000000000}"/>
          </ac:spMkLst>
        </pc:spChg>
      </pc:sldChg>
      <pc:sldChg chg="modSp">
        <pc:chgData name="Dezhi Hong" userId="S::dezhihong@microsoft.com::fff97b6a-d252-436f-9d01-db8d69260ac2" providerId="AD" clId="Web-{788419A4-B8D4-A4B1-2099-7DDABADD9D72}" dt="2026-07-14T03:47:52.675" v="11" actId="20577"/>
        <pc:sldMkLst>
          <pc:docMk/>
          <pc:sldMk cId="0" sldId="311"/>
        </pc:sldMkLst>
        <pc:spChg chg="mod">
          <ac:chgData name="Dezhi Hong" userId="S::dezhihong@microsoft.com::fff97b6a-d252-436f-9d01-db8d69260ac2" providerId="AD" clId="Web-{788419A4-B8D4-A4B1-2099-7DDABADD9D72}" dt="2026-07-14T03:47:52.675" v="11" actId="20577"/>
          <ac:spMkLst>
            <pc:docMk/>
            <pc:sldMk cId="0" sldId="311"/>
            <ac:spMk id="4" creationId="{00000000-0000-0000-0000-000000000000}"/>
          </ac:spMkLst>
        </pc:spChg>
      </pc:sldChg>
    </pc:docChg>
  </pc:docChgLst>
  <pc:docChgLst>
    <pc:chgData name="Dezhi Hong" userId="S::dezhihong@microsoft.com::fff97b6a-d252-436f-9d01-db8d69260ac2" providerId="AD" clId="Web-{78048D8A-0548-3EAB-EADD-895ADA44B89B}"/>
    <pc:docChg chg="modSld">
      <pc:chgData name="Dezhi Hong" userId="S::dezhihong@microsoft.com::fff97b6a-d252-436f-9d01-db8d69260ac2" providerId="AD" clId="Web-{78048D8A-0548-3EAB-EADD-895ADA44B89B}" dt="2026-07-20T04:14:03.558" v="7" actId="20577"/>
      <pc:docMkLst>
        <pc:docMk/>
      </pc:docMkLst>
      <pc:sldChg chg="modSp">
        <pc:chgData name="Dezhi Hong" userId="S::dezhihong@microsoft.com::fff97b6a-d252-436f-9d01-db8d69260ac2" providerId="AD" clId="Web-{78048D8A-0548-3EAB-EADD-895ADA44B89B}" dt="2026-07-20T04:14:03.558" v="7" actId="20577"/>
        <pc:sldMkLst>
          <pc:docMk/>
          <pc:sldMk cId="0" sldId="256"/>
        </pc:sldMkLst>
        <pc:spChg chg="mod">
          <ac:chgData name="Dezhi Hong" userId="S::dezhihong@microsoft.com::fff97b6a-d252-436f-9d01-db8d69260ac2" providerId="AD" clId="Web-{78048D8A-0548-3EAB-EADD-895ADA44B89B}" dt="2026-07-20T04:14:03.558" v="7" actId="20577"/>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314258-5DE6-4F0F-9C0F-0DA3406D08C9}" type="datetimeFigureOut">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8F0F9-8017-4831-A564-C7141F4926AA}" type="slidenum">
              <a:t>‹#›</a:t>
            </a:fld>
            <a:endParaRPr lang="en-US"/>
          </a:p>
        </p:txBody>
      </p:sp>
    </p:spTree>
    <p:extLst>
      <p:ext uri="{BB962C8B-B14F-4D97-AF65-F5344CB8AC3E}">
        <p14:creationId xmlns:p14="http://schemas.microsoft.com/office/powerpoint/2010/main" val="2080431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orient the learning sequence and explain why the next topic follows from the previous one. Anchor the explanation on: Evaluate, Examples, Preferences, Scores. Make the transition explicit so attendees can track the full alignment lifecycle.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Orient Day 2 around optimization from preference and reward signals. DPO uses pairwise comparisons directly, reward models compress rubrics into scores, and PPO/GRPO optimize policies with constraints. Emphasize that each method is only as good as the feedback signal.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“Preference optimization” affects the evaluation-driven alignment loop. Focus on the operational meaning of Train from comparisons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“Pair construction pipeline” affects the evaluation-driven alignment loop. Focus on the operational meaning of Prompts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“Good pair vs weak pair” affects the evaluation-driven alignment loop. Focus on the operational meaning of Clear margin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“Preference labeling protocol” affects the evaluation-driven alignment loop. Focus on the operational meaning of Rubric first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DPO as shifting probability mass toward chosen answers and away from rejected answers. The key is relative preference under a reference model, not an external reward model. This makes DPO operationally simpler than full RLHF for many preference datasets.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three boxes to explain how DPO compares chosen and rejected responses while keeping the policy close to a reference. Increasing chosen probability alone is not enough; the rejected answer must become relatively less likely. The reference constraint helps avoid uncontrolled drift.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DPO objective slowly: compare the current policy’s chosen-vs-rejected log-probability gap against the reference policy’s gap. Beta controls how aggressively the model follows the preference margin. The intuition is to reward improvements over the reference without needing a separate reward model.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“When DPO is enough” affects the evaluation-driven alignment loop. Focus on the operational meaning of Strong preference pairs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“DPO failure modes” affects the evaluation-driven alignment loop. Focus on the operational meaning of Pair bias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reward design as turning a multi-dimensional product rubric into a scalar optimization signal. That compression is powerful but risky because details can be lost. Emphasize that reward design must start from observable quality dimensions.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“Reward dimensions” affects the evaluation-driven alignment loop. Focus on the operational meaning of Grounding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pipeline: prompt and outputs go into a preference or scoring process, and the reward model learns to predict quality. The reward model is not ground truth; it is a learned proxy. This distinction matters for calibration and reward hacking later.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two candidates to show how dimension scores become a single reward. Candidate A wins because grounding is stronger, even though both may be clear and safe. The teaching point is that weighting choices encode product priorities.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Bradley-Terry style form: a larger reward gap means a higher predicted probability that the chosen answer is preferred. Name y-plus, y-minus, r-plus, r-minus, and sigmoid before interpreting the equation. This is the mathematical bridge from pairwise labels to a scorer.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“Reward model limitations” affects the evaluation-driven alignment loop. Focus on the operational meaning of Proxy mismatch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trade-off slide to avoid algorithm hype. DPO is simpler and often sufficient when pair data is strong; RLHF has a higher ceiling when exploration and reward optimization are needed. The decision should depend on signal quality, operational cost, and safety controls.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RLHF/RLxF as a loop: sample outputs, score them, update the policy, and evaluate again. The benefit is exploration beyond static demonstrations. The risk is that a bad reward or weak guardrail can amplify failures quickly.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the bridge from reward modeling into RLHF/PPO: RL updates a policy based on feedback from sampled behavior, not by copying one target answer. For LLMs, the policy is the model distribution over responses, the action is the generated token sequence, and the reward can come from a human preference model, LLM judge, rule, or validated telemetry. Emphasize that KL constraints and evaluation gates are what keep reward optimization from becoming uncontrolled behavior drift.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prompt-answer-reward-update sequence to make RL concrete. The model samples a response, receives a score, and shifts future behavior based on that feedback. Emphasize that scoring quality and update constraints determine whether the loop improves or destabilizes behavior.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policy, rollout, reward, update, and eval as a closed system. Eval is not an afterthought; it prevents optimization from chasing the wrong signal. This slide prepares the audience for PPO and KL regularization.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objective as improving reward while penalizing movement away from the reference policy. KL is the “do not drift too far” term, and lambda controls how strong that constraint is. The practical goal is better behavior without losing the base model’s useful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KL as a distance-like measure between the current and reference policies. In RLHF, it keeps optimization from overfitting the reward model or collapsing into odd behavior. Use this slide to make the safety role of the reference policy explicit.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the audience through one PPO loop: sample a support-routing answer, score it, estimate which tokens or choices had positive advantage, then update with clipping and KL control. The example should feel operational rather than purely mathematical. Emphasize that PPO adds machinery to keep learning stable.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“Offline vs online policy updates” affects the evaluation-driven alignment loop. </a:t>
            </a:r>
            <a:r>
              <a:rPr lang="en-US"/>
              <a:t> Key diff is an env/rm. </a:t>
            </a:r>
            <a:r>
              <a:t>Focus on the operational meaning of Offline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PPO often relies on a critic or value model to estimate expected reward. That critic adds memory, tuning complexity, and another failure point for LLM training. GRPO is motivated by replacing the critic with group-relative rewards.</a:t>
            </a:r>
          </a:p>
          <a:p>
            <a:endParaRPr lang="en-US">
              <a:ea typeface="Calibri"/>
              <a:cs typeface="Calibri"/>
            </a:endParaRPr>
          </a:p>
          <a:p>
            <a:r>
              <a:rPr lang="en-US"/>
              <a:t>PPO relies on a separate </a:t>
            </a:r>
            <a:r>
              <a:rPr lang="en-US" i="1"/>
              <a:t>critic</a:t>
            </a:r>
            <a:r>
              <a:rPr lang="en-US"/>
              <a:t> (a model that estimates how good a response is expected to be before seeing the final reward), which adds complexity and can introduce instability when those estimates are inaccurate. GRPO removes the critic by comparing multiple responses to the same prompt and using their relative rewards as the learning signal. This simplifies training and often scales better for large language models while preserving the benefits of policy optimization.</a:t>
            </a:r>
          </a:p>
          <a:p>
            <a:endParaRPr lang="en-US">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GRPO as sampling a group of answers for the same prompt, scoring each one, and using the group as a local baseline. The group comparison tells the policy which answers are better than peers for the same task. This avoids a separate learned critic.</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formula as reward minus group mean, scaled by group standard deviation. Positive advantage means the completion beat its peers; negative advantage means it underperformed for the same prompt. The key intuition is relative quality within a prompt group.</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correct, wrong, and partially correct answers to show how group-relative updates work. The correct answer is reinforced, the wrong answer is discouraged, and the partial answer changes less. Emphasize that GRPO is most attractive when rewards are reliable and verifiable.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where GRPO fits: reasoning, coding, tool use, and other tasks with scoreable outcomes. Warn that group normalization can be biased by length, difficulty, or weak reward design. The mitigation is careful normalization and slice-level evaluation.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Name the symbols first, then translate the formula into the behavior it encourages or constrains. Anchor the explanation on: KL penalty, control drift, Reward clipping, limit outliers. Close by stating the product risk this mathematical term helps manage.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“Reward hacking warning” affects the evaluation-driven alignment loop. Focus on the operational meaning of Bad proxy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“Evaluation setup for policy learning” affects the evaluation-driven alignment loop. Focus on the operational meaning of Baselines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Treat this as an interactive checkpoint rather than a lecture slide. Anchor the explanation on: DPO or RL?, what signal do we have?, Reward risk?, what proxy can be gamed?. Push attendees to name concrete workflow examples, trade-offs, and failure modes.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consolidate the section into decisions people can apply after the session. Anchor the explanation on: DPO, direct pair learning, PPO/GRPO, policy optimization recipes. Ask attendees to connect one takeaway to an eval, data, or rollout choice.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orient the learning sequence and explain why the next topic follows from the previous one. Anchor the explanation on: LLM judge, automated rubric scoring, Benchmarks, MMLU/BIG-Bench style thinking. Make the transition explicit so attendees can track the full alignment lifecycle.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“Why graders?” affects the evaluation-driven alignment loop. Focus on the operational meaning of Scale judgment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“Code checks vs LLM judges” affects the evaluation-driven alignment loop. Focus on the operational meaning of Exact checks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judge as an evaluation component that consumes the task, candidate output, rubric, and reference evidence, then returns a score or structured assessment. The architecture matters because each input can introduce bias or ambiguity. This slide sets up calibration and rubric design.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JSON-style judge prompt to show why output schema and reference grounding matter. A judge should score only what the rubric and evidence support. The key lesson is that judge quality depends on prompt, rubric, reference, and calibration.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good rubrics make quality observable, anchored, decomposed, and actionable. Observable dimensions can be checked from the trace or evidence; anchored levels reduce labeler and judge ambiguity. This turns subjective quality into a more reliable training and eval signal.</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“Benchmark mindset” affects the evaluation-driven alignment loop. Focus on the operational meaning of Broad coverage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“MMLU / BIG-Bench lesson” affects the evaluation-driven alignment loop. Focus on the operational meaning of Diverse tasks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that judge accuracy is measured, not assumed. Calibration compares judge ratings with human labels and refreshes the rubric or judge prompt when disagreement appears. This is what makes automated evaluation usable for decisions.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“Golden set loop” affects the evaluation-driven alignment loop. Focus on the operational meaning of Human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“Human review workflow” affects the evaluation-driven alignment loop. Focus on the operational meaning of Sample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example to make the preceding concept observable and concrete. Anchor the explanation on: Concrete example, Human score, 4 / 5, Judge score. Ask what quality signal the example exposes and what failure it would catch.</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agreement, correlation, slice quality, and stability as different views of judge reliability. A judge can look good globally while failing on a critical task slice. Encourage attendees to inspect metrics by workflow, language, model version, and difficulty.</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main bias patterns: longer answers can look better, earlier answers can get favored, and judges may prefer outputs from related model families. These biases can silently distort preference data and evaluation. The fix starts with experimental design, not just a better prompt.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long polished answer versus short complete answer to show verbosity bias. If humans see a tie but the judge consistently prefers length, the metric will reward bloat. This motivates length controls, shuffled order, and anchored rubrics.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“Bias mitigation” affects the evaluation-driven alignment loop. Focus on the operational meaning of Shuffle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“Reference-grounded judging” affects the evaluation-driven alignment loop. Focus on the operational meaning of Reference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“Grader output” affects the evaluation-driven alignment loop. Focus on the operational meaning of Score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“Grader → DPO” affects the evaluation-driven alignment loop. Focus on the operational meaning of Variants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“Grader → RL” affects the evaluation-driven alignment loop. Focus on the operational meaning of Rollout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the slide to the broader platform idea: classify failures, generate targeted examples, re-score, and gate shipping. This converts evaluation from reporting into a build loop. The goal is a repeatable system for improving skills and agents.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“Judge safety limits” affects the evaluation-driven alignment loop. Focus on the operational meaning of No blind trust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“Evaluation dashboard slices” affects the evaluation-driven alignment loop. Focus on the operational meaning of Task type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Treat this as an interactive checkpoint rather than a lecture slide. Anchor the explanation on: Golden set, what belongs there?, Dangerous bias, what must we measure?. Push attendees to name concrete workflow examples, trade-offs, and failure modes.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consolidate the section into decisions people can apply after the session. Anchor the explanation on: Rubrics, need anchors, Judges, must be calibrated. Ask attendees to connect one takeaway to an eval, data, or rollout choice.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Day 1 → Day 2 bridge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30</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30</a:t>
            </a:r>
          </a:p>
        </p:txBody>
      </p:sp>
      <p:sp>
        <p:nvSpPr>
          <p:cNvPr id="15" name="Rounded Rectangle 14"/>
          <p:cNvSpPr/>
          <p:nvPr/>
        </p:nvSpPr>
        <p:spPr>
          <a:xfrm>
            <a:off x="59436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Evaluate</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Examples</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Preferences</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Scores</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Policy updates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Day 2 roadmap</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31</a:t>
            </a:r>
          </a:p>
        </p:txBody>
      </p:sp>
      <p:sp>
        <p:nvSpPr>
          <p:cNvPr id="6" name="Oval 5"/>
          <p:cNvSpPr/>
          <p:nvPr/>
        </p:nvSpPr>
        <p:spPr>
          <a:xfrm>
            <a:off x="10561320"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31</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DPO</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direct preference optimization</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Reward models</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rubric → score</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PPO + GRPO</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policy optimization recipes</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RLHF/RLxF</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rollouts and updates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Preference optimization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32</a:t>
            </a:r>
          </a:p>
        </p:txBody>
      </p:sp>
      <p:sp>
        <p:nvSpPr>
          <p:cNvPr id="6" name="Oval 5"/>
          <p:cNvSpPr/>
          <p:nvPr/>
        </p:nvSpPr>
        <p:spPr>
          <a:xfrm>
            <a:off x="10561320"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32</a:t>
            </a:r>
          </a:p>
        </p:txBody>
      </p:sp>
      <p:sp>
        <p:nvSpPr>
          <p:cNvPr id="15" name="TextBox 14"/>
          <p:cNvSpPr txBox="1"/>
          <p:nvPr/>
        </p:nvSpPr>
        <p:spPr>
          <a:xfrm>
            <a:off x="777240" y="2148840"/>
            <a:ext cx="10698480" cy="822960"/>
          </a:xfrm>
          <a:prstGeom prst="rect">
            <a:avLst/>
          </a:prstGeom>
          <a:noFill/>
        </p:spPr>
        <p:txBody>
          <a:bodyPr wrap="square" lIns="45720" tIns="9144" rIns="45720" bIns="9144" anchor="ctr">
            <a:spAutoFit/>
          </a:bodyPr>
          <a:lstStyle/>
          <a:p>
            <a:pPr algn="ctr"/>
            <a:r>
              <a:rPr sz="4400" b="1" i="0">
                <a:solidFill>
                  <a:srgbClr val="0F1E3D"/>
                </a:solidFill>
                <a:latin typeface="Aptos"/>
              </a:rPr>
              <a:t>Train from comparisons</a:t>
            </a:r>
          </a:p>
        </p:txBody>
      </p:sp>
      <p:sp>
        <p:nvSpPr>
          <p:cNvPr id="16" name="TextBox 15"/>
          <p:cNvSpPr txBox="1"/>
          <p:nvPr/>
        </p:nvSpPr>
        <p:spPr>
          <a:xfrm>
            <a:off x="1371600" y="3410712"/>
            <a:ext cx="9418320" cy="640080"/>
          </a:xfrm>
          <a:prstGeom prst="rect">
            <a:avLst/>
          </a:prstGeom>
          <a:noFill/>
        </p:spPr>
        <p:txBody>
          <a:bodyPr wrap="square" lIns="45720" tIns="9144" rIns="45720" bIns="9144" anchor="ctr">
            <a:spAutoFit/>
          </a:bodyPr>
          <a:lstStyle/>
          <a:p>
            <a:pPr algn="ctr"/>
            <a:r>
              <a:rPr sz="2000" b="0" i="0">
                <a:solidFill>
                  <a:srgbClr val="5B6B82"/>
                </a:solidFill>
                <a:latin typeface="Aptos"/>
              </a:rPr>
              <a:t>Preference data is cheaper than writing perfect target answers for every prompt.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Pair construction pipeline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33</a:t>
            </a:r>
          </a:p>
        </p:txBody>
      </p:sp>
      <p:sp>
        <p:nvSpPr>
          <p:cNvPr id="6" name="Oval 5"/>
          <p:cNvSpPr/>
          <p:nvPr/>
        </p:nvSpPr>
        <p:spPr>
          <a:xfrm>
            <a:off x="10561320"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33</a:t>
            </a:r>
          </a:p>
        </p:txBody>
      </p:sp>
      <p:sp>
        <p:nvSpPr>
          <p:cNvPr id="15" name="Rounded Rectangle 14"/>
          <p:cNvSpPr/>
          <p:nvPr/>
        </p:nvSpPr>
        <p:spPr>
          <a:xfrm>
            <a:off x="59436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Prompts</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Generate variants</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Rank</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Audit</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Train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Good pair vs weak pair</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34</a:t>
            </a:r>
          </a:p>
        </p:txBody>
      </p:sp>
      <p:sp>
        <p:nvSpPr>
          <p:cNvPr id="6" name="Oval 5"/>
          <p:cNvSpPr/>
          <p:nvPr/>
        </p:nvSpPr>
        <p:spPr>
          <a:xfrm>
            <a:off x="10561320"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34</a:t>
            </a:r>
          </a:p>
        </p:txBody>
      </p:sp>
      <p:sp>
        <p:nvSpPr>
          <p:cNvPr id="15" name="Rounded Rectangle 14"/>
          <p:cNvSpPr/>
          <p:nvPr/>
        </p:nvSpPr>
        <p:spPr>
          <a:xfrm>
            <a:off x="777240" y="1783080"/>
            <a:ext cx="4892040" cy="30175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1783080"/>
            <a:ext cx="73152" cy="30175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1984248"/>
            <a:ext cx="4507992" cy="438912"/>
          </a:xfrm>
          <a:prstGeom prst="rect">
            <a:avLst/>
          </a:prstGeom>
          <a:noFill/>
        </p:spPr>
        <p:txBody>
          <a:bodyPr wrap="square" lIns="45720" tIns="9144" rIns="45720" bIns="9144" anchor="ctr">
            <a:spAutoFit/>
          </a:bodyPr>
          <a:lstStyle/>
          <a:p>
            <a:pPr algn="l"/>
            <a:r>
              <a:rPr sz="2200" b="1" i="0">
                <a:solidFill>
                  <a:srgbClr val="0FB5A6"/>
                </a:solidFill>
                <a:latin typeface="Aptos"/>
              </a:rPr>
              <a:t>Clear margin</a:t>
            </a:r>
          </a:p>
        </p:txBody>
      </p:sp>
      <p:sp>
        <p:nvSpPr>
          <p:cNvPr id="18" name="TextBox 17"/>
          <p:cNvSpPr txBox="1"/>
          <p:nvPr/>
        </p:nvSpPr>
        <p:spPr>
          <a:xfrm>
            <a:off x="1005840" y="2587752"/>
            <a:ext cx="4507992" cy="2084831"/>
          </a:xfrm>
          <a:prstGeom prst="rect">
            <a:avLst/>
          </a:prstGeom>
          <a:noFill/>
        </p:spPr>
        <p:txBody>
          <a:bodyPr wrap="square" lIns="45720" tIns="9144" rIns="45720" bIns="9144" anchor="ctr">
            <a:spAutoFit/>
          </a:bodyPr>
          <a:lstStyle/>
          <a:p>
            <a:pPr algn="l"/>
            <a:r>
              <a:rPr sz="1700" b="0" i="0">
                <a:solidFill>
                  <a:srgbClr val="5B6B82"/>
                </a:solidFill>
                <a:latin typeface="Aptos"/>
              </a:rPr>
              <a:t>Winner is objectively better</a:t>
            </a:r>
          </a:p>
        </p:txBody>
      </p:sp>
      <p:sp>
        <p:nvSpPr>
          <p:cNvPr id="19" name="Rounded Rectangle 18"/>
          <p:cNvSpPr/>
          <p:nvPr/>
        </p:nvSpPr>
        <p:spPr>
          <a:xfrm>
            <a:off x="6492240" y="1783080"/>
            <a:ext cx="4892040" cy="30175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92240" y="1783080"/>
            <a:ext cx="73152" cy="30175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0840" y="1984248"/>
            <a:ext cx="4507992" cy="438912"/>
          </a:xfrm>
          <a:prstGeom prst="rect">
            <a:avLst/>
          </a:prstGeom>
          <a:noFill/>
        </p:spPr>
        <p:txBody>
          <a:bodyPr wrap="square" lIns="45720" tIns="9144" rIns="45720" bIns="9144" anchor="ctr">
            <a:spAutoFit/>
          </a:bodyPr>
          <a:lstStyle/>
          <a:p>
            <a:pPr algn="l"/>
            <a:r>
              <a:rPr sz="2200" b="1" i="0">
                <a:solidFill>
                  <a:srgbClr val="F6A609"/>
                </a:solidFill>
                <a:latin typeface="Aptos"/>
              </a:rPr>
              <a:t>Style noise</a:t>
            </a:r>
          </a:p>
        </p:txBody>
      </p:sp>
      <p:sp>
        <p:nvSpPr>
          <p:cNvPr id="22" name="TextBox 21"/>
          <p:cNvSpPr txBox="1"/>
          <p:nvPr/>
        </p:nvSpPr>
        <p:spPr>
          <a:xfrm>
            <a:off x="6720840" y="2587752"/>
            <a:ext cx="4507992" cy="2084831"/>
          </a:xfrm>
          <a:prstGeom prst="rect">
            <a:avLst/>
          </a:prstGeom>
          <a:noFill/>
        </p:spPr>
        <p:txBody>
          <a:bodyPr wrap="square" lIns="45720" tIns="9144" rIns="45720" bIns="9144" anchor="ctr">
            <a:spAutoFit/>
          </a:bodyPr>
          <a:lstStyle/>
          <a:p>
            <a:pPr algn="l"/>
            <a:r>
              <a:rPr sz="1700" b="0" i="0">
                <a:solidFill>
                  <a:srgbClr val="5B6B82"/>
                </a:solidFill>
                <a:latin typeface="Aptos"/>
              </a:rPr>
              <a:t>Winner depends on taste</a:t>
            </a:r>
          </a:p>
        </p:txBody>
      </p:sp>
      <p:sp>
        <p:nvSpPr>
          <p:cNvPr id="23" name="TextBox 22"/>
          <p:cNvSpPr txBox="1"/>
          <p:nvPr/>
        </p:nvSpPr>
        <p:spPr>
          <a:xfrm>
            <a:off x="5833872" y="2971800"/>
            <a:ext cx="502920" cy="365760"/>
          </a:xfrm>
          <a:prstGeom prst="rect">
            <a:avLst/>
          </a:prstGeom>
          <a:noFill/>
        </p:spPr>
        <p:txBody>
          <a:bodyPr wrap="square" lIns="45720" tIns="9144" rIns="45720" bIns="9144" anchor="ctr">
            <a:spAutoFit/>
          </a:bodyPr>
          <a:lstStyle/>
          <a:p>
            <a:pPr algn="ctr"/>
            <a:r>
              <a:rPr sz="2600" b="1" i="0">
                <a:solidFill>
                  <a:srgbClr val="5B6B82"/>
                </a:solidFill>
                <a:latin typeface="Apto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Preference labeling protocol</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35</a:t>
            </a:r>
          </a:p>
        </p:txBody>
      </p:sp>
      <p:sp>
        <p:nvSpPr>
          <p:cNvPr id="6" name="Oval 5"/>
          <p:cNvSpPr/>
          <p:nvPr/>
        </p:nvSpPr>
        <p:spPr>
          <a:xfrm>
            <a:off x="10561320"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35</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Rubric first</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define dimensions before ranking</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Blind order</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avoid position bias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Tie option</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do not force tiny margins</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Rationale</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collect short reason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DPO intuition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36</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36</a:t>
            </a:r>
          </a:p>
        </p:txBody>
      </p:sp>
      <p:sp>
        <p:nvSpPr>
          <p:cNvPr id="15" name="TextBox 14"/>
          <p:cNvSpPr txBox="1"/>
          <p:nvPr/>
        </p:nvSpPr>
        <p:spPr>
          <a:xfrm>
            <a:off x="777240" y="2148840"/>
            <a:ext cx="10698480" cy="822960"/>
          </a:xfrm>
          <a:prstGeom prst="rect">
            <a:avLst/>
          </a:prstGeom>
          <a:noFill/>
        </p:spPr>
        <p:txBody>
          <a:bodyPr wrap="square" lIns="45720" tIns="9144" rIns="45720" bIns="9144" anchor="ctr">
            <a:spAutoFit/>
          </a:bodyPr>
          <a:lstStyle/>
          <a:p>
            <a:pPr algn="ctr"/>
            <a:r>
              <a:rPr sz="4400" b="1" i="0">
                <a:solidFill>
                  <a:srgbClr val="0F1E3D"/>
                </a:solidFill>
                <a:latin typeface="Aptos"/>
              </a:rPr>
              <a:t>chosen ↑   rejected ↓</a:t>
            </a:r>
          </a:p>
        </p:txBody>
      </p:sp>
      <p:sp>
        <p:nvSpPr>
          <p:cNvPr id="16" name="TextBox 15"/>
          <p:cNvSpPr txBox="1"/>
          <p:nvPr/>
        </p:nvSpPr>
        <p:spPr>
          <a:xfrm>
            <a:off x="1371600" y="3410712"/>
            <a:ext cx="9418320" cy="640080"/>
          </a:xfrm>
          <a:prstGeom prst="rect">
            <a:avLst/>
          </a:prstGeom>
          <a:noFill/>
        </p:spPr>
        <p:txBody>
          <a:bodyPr wrap="square" lIns="45720" tIns="9144" rIns="45720" bIns="9144" anchor="ctr">
            <a:spAutoFit/>
          </a:bodyPr>
          <a:lstStyle/>
          <a:p>
            <a:pPr algn="ctr"/>
            <a:r>
              <a:rPr sz="2000" b="0" i="0">
                <a:solidFill>
                  <a:srgbClr val="5B6B82"/>
                </a:solidFill>
                <a:latin typeface="Aptos"/>
              </a:rPr>
              <a:t>Move probability mass toward preferred behavior.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DPO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37</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37</a:t>
            </a:r>
          </a:p>
        </p:txBody>
      </p:sp>
      <p:sp>
        <p:nvSpPr>
          <p:cNvPr id="14" name="Rounded Rectangle 13"/>
          <p:cNvSpPr/>
          <p:nvPr/>
        </p:nvSpPr>
        <p:spPr>
          <a:xfrm>
            <a:off x="594360"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3102864" cy="438912"/>
          </a:xfrm>
          <a:prstGeom prst="rect">
            <a:avLst/>
          </a:prstGeom>
          <a:noFill/>
        </p:spPr>
        <p:txBody>
          <a:bodyPr wrap="square" lIns="45720" tIns="9144" rIns="45720" bIns="9144" anchor="ctr">
            <a:spAutoFit/>
          </a:bodyPr>
          <a:lstStyle/>
          <a:p>
            <a:pPr algn="l"/>
            <a:r>
              <a:rPr sz="1700" b="1" i="0">
                <a:solidFill>
                  <a:srgbClr val="0FB5A6"/>
                </a:solidFill>
                <a:latin typeface="Aptos"/>
              </a:rPr>
              <a:t>Chosen</a:t>
            </a:r>
          </a:p>
        </p:txBody>
      </p:sp>
      <p:sp>
        <p:nvSpPr>
          <p:cNvPr id="17" name="TextBox 16"/>
          <p:cNvSpPr txBox="1"/>
          <p:nvPr/>
        </p:nvSpPr>
        <p:spPr>
          <a:xfrm>
            <a:off x="822960"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Probability ↑</a:t>
            </a:r>
          </a:p>
        </p:txBody>
      </p:sp>
      <p:sp>
        <p:nvSpPr>
          <p:cNvPr id="18" name="Rounded Rectangle 17"/>
          <p:cNvSpPr/>
          <p:nvPr/>
        </p:nvSpPr>
        <p:spPr>
          <a:xfrm>
            <a:off x="4337304"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37304"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65904" y="1828800"/>
            <a:ext cx="3102864" cy="438912"/>
          </a:xfrm>
          <a:prstGeom prst="rect">
            <a:avLst/>
          </a:prstGeom>
          <a:noFill/>
        </p:spPr>
        <p:txBody>
          <a:bodyPr wrap="square" lIns="45720" tIns="9144" rIns="45720" bIns="9144" anchor="ctr">
            <a:spAutoFit/>
          </a:bodyPr>
          <a:lstStyle/>
          <a:p>
            <a:pPr algn="l"/>
            <a:r>
              <a:rPr sz="1700" b="1" i="0">
                <a:solidFill>
                  <a:srgbClr val="F6A609"/>
                </a:solidFill>
                <a:latin typeface="Aptos"/>
              </a:rPr>
              <a:t>Rejected</a:t>
            </a:r>
          </a:p>
        </p:txBody>
      </p:sp>
      <p:sp>
        <p:nvSpPr>
          <p:cNvPr id="21" name="TextBox 20"/>
          <p:cNvSpPr txBox="1"/>
          <p:nvPr/>
        </p:nvSpPr>
        <p:spPr>
          <a:xfrm>
            <a:off x="4565904"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Probability ↓</a:t>
            </a:r>
          </a:p>
        </p:txBody>
      </p:sp>
      <p:sp>
        <p:nvSpPr>
          <p:cNvPr id="22" name="Rounded Rectangle 21"/>
          <p:cNvSpPr/>
          <p:nvPr/>
        </p:nvSpPr>
        <p:spPr>
          <a:xfrm>
            <a:off x="8080247"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0247"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8847" y="1828800"/>
            <a:ext cx="3102864" cy="438912"/>
          </a:xfrm>
          <a:prstGeom prst="rect">
            <a:avLst/>
          </a:prstGeom>
          <a:noFill/>
        </p:spPr>
        <p:txBody>
          <a:bodyPr wrap="square" lIns="45720" tIns="9144" rIns="45720" bIns="9144" anchor="ctr">
            <a:spAutoFit/>
          </a:bodyPr>
          <a:lstStyle/>
          <a:p>
            <a:pPr algn="l"/>
            <a:r>
              <a:rPr sz="1700" b="1" i="0">
                <a:solidFill>
                  <a:srgbClr val="3B6EF5"/>
                </a:solidFill>
                <a:latin typeface="Aptos"/>
              </a:rPr>
              <a:t>Reference</a:t>
            </a:r>
          </a:p>
        </p:txBody>
      </p:sp>
      <p:sp>
        <p:nvSpPr>
          <p:cNvPr id="25" name="TextBox 24"/>
          <p:cNvSpPr txBox="1"/>
          <p:nvPr/>
        </p:nvSpPr>
        <p:spPr>
          <a:xfrm>
            <a:off x="8308847"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Keeps policy close</a:t>
            </a:r>
          </a:p>
        </p:txBody>
      </p:sp>
      <p:sp>
        <p:nvSpPr>
          <p:cNvPr id="26" name="Rounded Rectangle 25"/>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DPO increases chosen over rejected under a reference constraint.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DPO objective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38</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38</a:t>
            </a:r>
          </a:p>
        </p:txBody>
      </p:sp>
      <p:sp>
        <p:nvSpPr>
          <p:cNvPr id="15" name="Rounded Rectangle 14"/>
          <p:cNvSpPr/>
          <p:nvPr/>
        </p:nvSpPr>
        <p:spPr>
          <a:xfrm>
            <a:off x="594360" y="1600200"/>
            <a:ext cx="10972800" cy="1042415"/>
          </a:xfrm>
          <a:prstGeom prst="roundRect">
            <a:avLst/>
          </a:prstGeom>
          <a:solidFill>
            <a:srgbClr val="FFFFFF"/>
          </a:solidFill>
          <a:ln w="1905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1663000"/>
            <a:ext cx="10607040" cy="880241"/>
          </a:xfrm>
          <a:prstGeom prst="rect">
            <a:avLst/>
          </a:prstGeom>
          <a:noFill/>
        </p:spPr>
        <p:txBody>
          <a:bodyPr wrap="square" lIns="45720" tIns="9144" rIns="45720" bIns="9144" anchor="ctr">
            <a:spAutoFit/>
          </a:bodyPr>
          <a:lstStyle/>
          <a:p>
            <a:pPr algn="ctr"/>
            <a:r>
              <a:rPr sz="2800" b="1" i="0">
                <a:solidFill>
                  <a:srgbClr val="0F1E3D"/>
                </a:solidFill>
                <a:latin typeface="Aptos"/>
              </a:rPr>
              <a:t>L_DPO(θ)=−E log σ(β[(</a:t>
            </a:r>
            <a:r>
              <a:rPr sz="2800" b="1" i="0">
                <a:solidFill>
                  <a:srgbClr val="00B050"/>
                </a:solidFill>
                <a:latin typeface="Aptos"/>
              </a:rPr>
              <a:t>log πθ(y⁺|x)−log πref(y⁺|x)</a:t>
            </a:r>
            <a:r>
              <a:rPr sz="2800" b="1" i="0">
                <a:solidFill>
                  <a:srgbClr val="0F1E3D"/>
                </a:solidFill>
                <a:latin typeface="Aptos"/>
              </a:rPr>
              <a:t>) − </a:t>
            </a:r>
            <a:endParaRPr lang="en-US"/>
          </a:p>
          <a:p>
            <a:pPr algn="ctr"/>
            <a:r>
              <a:rPr sz="2800" b="1" i="0">
                <a:solidFill>
                  <a:srgbClr val="0F1E3D"/>
                </a:solidFill>
                <a:latin typeface="Aptos"/>
              </a:rPr>
              <a:t>(</a:t>
            </a:r>
            <a:r>
              <a:rPr sz="2800" b="1" i="0">
                <a:solidFill>
                  <a:srgbClr val="FF0000"/>
                </a:solidFill>
                <a:latin typeface="Aptos"/>
              </a:rPr>
              <a:t>log πθ(y⁻|x)−log πref(y⁻|x)</a:t>
            </a:r>
            <a:r>
              <a:rPr sz="2800" b="1" i="0">
                <a:solidFill>
                  <a:srgbClr val="0F1E3D"/>
                </a:solidFill>
                <a:latin typeface="Aptos"/>
              </a:rPr>
              <a:t>)])</a:t>
            </a:r>
            <a:endParaRPr/>
          </a:p>
        </p:txBody>
      </p:sp>
      <p:sp>
        <p:nvSpPr>
          <p:cNvPr id="17" name="Rounded Rectangle 16"/>
          <p:cNvSpPr/>
          <p:nvPr/>
        </p:nvSpPr>
        <p:spPr>
          <a:xfrm>
            <a:off x="594360" y="2971800"/>
            <a:ext cx="544068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2971800"/>
            <a:ext cx="73152" cy="2359152"/>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172968"/>
            <a:ext cx="5056632" cy="438912"/>
          </a:xfrm>
          <a:prstGeom prst="rect">
            <a:avLst/>
          </a:prstGeom>
          <a:noFill/>
        </p:spPr>
        <p:txBody>
          <a:bodyPr wrap="square" lIns="45720" tIns="9144" rIns="45720" bIns="9144" anchor="ctr">
            <a:spAutoFit/>
          </a:bodyPr>
          <a:lstStyle/>
          <a:p>
            <a:pPr algn="l"/>
            <a:r>
              <a:rPr sz="1700" b="1" i="0">
                <a:solidFill>
                  <a:srgbClr val="0FB5A6"/>
                </a:solidFill>
                <a:latin typeface="Aptos"/>
              </a:rPr>
              <a:t>Symbols</a:t>
            </a:r>
          </a:p>
        </p:txBody>
      </p:sp>
      <p:sp>
        <p:nvSpPr>
          <p:cNvPr id="20" name="TextBox 19"/>
          <p:cNvSpPr txBox="1"/>
          <p:nvPr/>
        </p:nvSpPr>
        <p:spPr>
          <a:xfrm>
            <a:off x="822960" y="3776472"/>
            <a:ext cx="5056632" cy="1426464"/>
          </a:xfrm>
          <a:prstGeom prst="rect">
            <a:avLst/>
          </a:prstGeom>
          <a:noFill/>
        </p:spPr>
        <p:txBody>
          <a:bodyPr wrap="square" lIns="45720" tIns="9144" rIns="45720" bIns="9144" anchor="ctr">
            <a:spAutoFit/>
          </a:bodyPr>
          <a:lstStyle/>
          <a:p>
            <a:pPr algn="l"/>
            <a:r>
              <a:rPr sz="1260" b="0" i="0">
                <a:solidFill>
                  <a:srgbClr val="5B6B82"/>
                </a:solidFill>
                <a:latin typeface="Aptos"/>
              </a:rPr>
              <a:t>x = prompt/context
y⁺ = chosen answer
y⁻ = rejected answer
πθ = current policy
πref = reference policy
β = strength of preference margin</a:t>
            </a:r>
          </a:p>
        </p:txBody>
      </p:sp>
      <p:sp>
        <p:nvSpPr>
          <p:cNvPr id="21" name="Rounded Rectangle 20"/>
          <p:cNvSpPr/>
          <p:nvPr/>
        </p:nvSpPr>
        <p:spPr>
          <a:xfrm>
            <a:off x="6309360" y="2971800"/>
            <a:ext cx="525780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2971800"/>
            <a:ext cx="73152" cy="2359152"/>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3172968"/>
            <a:ext cx="4873752" cy="438912"/>
          </a:xfrm>
          <a:prstGeom prst="rect">
            <a:avLst/>
          </a:prstGeom>
          <a:noFill/>
        </p:spPr>
        <p:txBody>
          <a:bodyPr wrap="square" lIns="45720" tIns="9144" rIns="45720" bIns="9144" anchor="ctr">
            <a:spAutoFit/>
          </a:bodyPr>
          <a:lstStyle/>
          <a:p>
            <a:pPr algn="l"/>
            <a:r>
              <a:rPr sz="1700" b="1" i="0">
                <a:solidFill>
                  <a:srgbClr val="F6A609"/>
                </a:solidFill>
                <a:latin typeface="Aptos"/>
              </a:rPr>
              <a:t>Interpretation</a:t>
            </a:r>
          </a:p>
        </p:txBody>
      </p:sp>
      <p:sp>
        <p:nvSpPr>
          <p:cNvPr id="24" name="TextBox 23"/>
          <p:cNvSpPr txBox="1"/>
          <p:nvPr/>
        </p:nvSpPr>
        <p:spPr>
          <a:xfrm>
            <a:off x="6537960" y="3776472"/>
            <a:ext cx="4873752" cy="1426464"/>
          </a:xfrm>
          <a:prstGeom prst="rect">
            <a:avLst/>
          </a:prstGeom>
          <a:noFill/>
        </p:spPr>
        <p:txBody>
          <a:bodyPr wrap="square" lIns="45720" tIns="9144" rIns="45720" bIns="9144" anchor="ctr">
            <a:spAutoFit/>
          </a:bodyPr>
          <a:lstStyle/>
          <a:p>
            <a:pPr algn="l"/>
            <a:r>
              <a:rPr sz="1400" b="0" i="0">
                <a:solidFill>
                  <a:srgbClr val="5B6B82"/>
                </a:solidFill>
                <a:latin typeface="Aptos"/>
              </a:rPr>
              <a:t>Increase the reference-normalized likelihood gap between chosen and rejected answers.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When DPO is enough</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39</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39</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Strong preference pairs</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clear chosen/rejected margin</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Coverage</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pairs span target behaviors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Low exploration need</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no need for new policy search</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Fast iteration</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simpler training pipeline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DPO failure modes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40</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40</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Pair bias</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learns labeler quirks</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Mode narrowing</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over-prefers one answer style</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Coverage gaps</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unseen prompts remain weak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Reward design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41</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41</a:t>
            </a:r>
          </a:p>
        </p:txBody>
      </p:sp>
      <p:sp>
        <p:nvSpPr>
          <p:cNvPr id="15" name="TextBox 14"/>
          <p:cNvSpPr txBox="1"/>
          <p:nvPr/>
        </p:nvSpPr>
        <p:spPr>
          <a:xfrm>
            <a:off x="777240" y="2148840"/>
            <a:ext cx="10698480" cy="822960"/>
          </a:xfrm>
          <a:prstGeom prst="rect">
            <a:avLst/>
          </a:prstGeom>
          <a:noFill/>
        </p:spPr>
        <p:txBody>
          <a:bodyPr wrap="square" lIns="45720" tIns="9144" rIns="45720" bIns="9144" anchor="ctr">
            <a:spAutoFit/>
          </a:bodyPr>
          <a:lstStyle/>
          <a:p>
            <a:pPr algn="ctr"/>
            <a:r>
              <a:rPr sz="4400" b="1" i="0">
                <a:solidFill>
                  <a:srgbClr val="0F1E3D"/>
                </a:solidFill>
                <a:latin typeface="Aptos"/>
              </a:rPr>
              <a:t>Quality score</a:t>
            </a:r>
          </a:p>
        </p:txBody>
      </p:sp>
      <p:sp>
        <p:nvSpPr>
          <p:cNvPr id="16" name="TextBox 15"/>
          <p:cNvSpPr txBox="1"/>
          <p:nvPr/>
        </p:nvSpPr>
        <p:spPr>
          <a:xfrm>
            <a:off x="1371600" y="3410712"/>
            <a:ext cx="9418320" cy="640080"/>
          </a:xfrm>
          <a:prstGeom prst="rect">
            <a:avLst/>
          </a:prstGeom>
          <a:noFill/>
        </p:spPr>
        <p:txBody>
          <a:bodyPr wrap="square" lIns="45720" tIns="9144" rIns="45720" bIns="9144" anchor="ctr">
            <a:spAutoFit/>
          </a:bodyPr>
          <a:lstStyle/>
          <a:p>
            <a:pPr algn="ctr"/>
            <a:r>
              <a:rPr sz="2000" b="0" i="0">
                <a:solidFill>
                  <a:srgbClr val="5B6B82"/>
                </a:solidFill>
                <a:latin typeface="Aptos"/>
              </a:rPr>
              <a:t>Compress a rubric into an optimization target.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Reward dimensions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42</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42</a:t>
            </a:r>
          </a:p>
        </p:txBody>
      </p:sp>
      <p:sp>
        <p:nvSpPr>
          <p:cNvPr id="15" name="Rounded Rectangle 14"/>
          <p:cNvSpPr/>
          <p:nvPr/>
        </p:nvSpPr>
        <p:spPr>
          <a:xfrm>
            <a:off x="594360" y="2788920"/>
            <a:ext cx="257175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2443734" cy="905256"/>
          </a:xfrm>
          <a:prstGeom prst="rect">
            <a:avLst/>
          </a:prstGeom>
          <a:noFill/>
        </p:spPr>
        <p:txBody>
          <a:bodyPr wrap="square" lIns="45720" tIns="9144" rIns="45720" bIns="9144" anchor="ctr">
            <a:spAutoFit/>
          </a:bodyPr>
          <a:lstStyle/>
          <a:p>
            <a:pPr algn="ctr"/>
            <a:r>
              <a:rPr sz="1700" b="1" i="0">
                <a:solidFill>
                  <a:srgbClr val="0FB5A6"/>
                </a:solidFill>
                <a:latin typeface="Aptos"/>
              </a:rPr>
              <a:t>Grounding</a:t>
            </a:r>
          </a:p>
        </p:txBody>
      </p:sp>
      <p:cxnSp>
        <p:nvCxnSpPr>
          <p:cNvPr id="17" name="Connector 16"/>
          <p:cNvCxnSpPr/>
          <p:nvPr/>
        </p:nvCxnSpPr>
        <p:spPr>
          <a:xfrm>
            <a:off x="319354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94710" y="2788920"/>
            <a:ext cx="257175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8718" y="2807208"/>
            <a:ext cx="2443734" cy="905256"/>
          </a:xfrm>
          <a:prstGeom prst="rect">
            <a:avLst/>
          </a:prstGeom>
          <a:noFill/>
        </p:spPr>
        <p:txBody>
          <a:bodyPr wrap="square" lIns="45720" tIns="9144" rIns="45720" bIns="9144" anchor="ctr">
            <a:spAutoFit/>
          </a:bodyPr>
          <a:lstStyle/>
          <a:p>
            <a:pPr algn="ctr"/>
            <a:r>
              <a:rPr sz="1700" b="1" i="0">
                <a:solidFill>
                  <a:srgbClr val="3B6EF5"/>
                </a:solidFill>
                <a:latin typeface="Aptos"/>
              </a:rPr>
              <a:t>Task success</a:t>
            </a:r>
          </a:p>
        </p:txBody>
      </p:sp>
      <p:cxnSp>
        <p:nvCxnSpPr>
          <p:cNvPr id="20" name="Connector 19"/>
          <p:cNvCxnSpPr/>
          <p:nvPr/>
        </p:nvCxnSpPr>
        <p:spPr>
          <a:xfrm>
            <a:off x="599389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5060" y="2788920"/>
            <a:ext cx="257175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9068" y="2807208"/>
            <a:ext cx="2443734" cy="905256"/>
          </a:xfrm>
          <a:prstGeom prst="rect">
            <a:avLst/>
          </a:prstGeom>
          <a:noFill/>
        </p:spPr>
        <p:txBody>
          <a:bodyPr wrap="square" lIns="45720" tIns="9144" rIns="45720" bIns="9144" anchor="ctr">
            <a:spAutoFit/>
          </a:bodyPr>
          <a:lstStyle/>
          <a:p>
            <a:pPr algn="ctr"/>
            <a:r>
              <a:rPr sz="1700" b="1" i="0">
                <a:solidFill>
                  <a:srgbClr val="3B6EF5"/>
                </a:solidFill>
                <a:latin typeface="Aptos"/>
              </a:rPr>
              <a:t>Tool use</a:t>
            </a:r>
          </a:p>
        </p:txBody>
      </p:sp>
      <p:cxnSp>
        <p:nvCxnSpPr>
          <p:cNvPr id="23" name="Connector 22"/>
          <p:cNvCxnSpPr/>
          <p:nvPr/>
        </p:nvCxnSpPr>
        <p:spPr>
          <a:xfrm>
            <a:off x="879424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95410" y="2788920"/>
            <a:ext cx="257175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9418" y="2807208"/>
            <a:ext cx="2443734" cy="905256"/>
          </a:xfrm>
          <a:prstGeom prst="rect">
            <a:avLst/>
          </a:prstGeom>
          <a:noFill/>
        </p:spPr>
        <p:txBody>
          <a:bodyPr wrap="square" lIns="45720" tIns="9144" rIns="45720" bIns="9144" anchor="ctr">
            <a:spAutoFit/>
          </a:bodyPr>
          <a:lstStyle/>
          <a:p>
            <a:pPr algn="ctr"/>
            <a:r>
              <a:rPr sz="1700" b="1" i="0">
                <a:solidFill>
                  <a:srgbClr val="F6A609"/>
                </a:solidFill>
                <a:latin typeface="Aptos"/>
              </a:rPr>
              <a:t>Safety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Reward model</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43</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43</a:t>
            </a:r>
          </a:p>
        </p:txBody>
      </p:sp>
      <p:sp>
        <p:nvSpPr>
          <p:cNvPr id="15" name="Rounded Rectangle 14"/>
          <p:cNvSpPr/>
          <p:nvPr/>
        </p:nvSpPr>
        <p:spPr>
          <a:xfrm>
            <a:off x="594360" y="2788920"/>
            <a:ext cx="257175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2443734" cy="905256"/>
          </a:xfrm>
          <a:prstGeom prst="rect">
            <a:avLst/>
          </a:prstGeom>
          <a:noFill/>
        </p:spPr>
        <p:txBody>
          <a:bodyPr wrap="square" lIns="45720" tIns="9144" rIns="45720" bIns="9144" anchor="ctr">
            <a:spAutoFit/>
          </a:bodyPr>
          <a:lstStyle/>
          <a:p>
            <a:pPr algn="ctr"/>
            <a:r>
              <a:rPr sz="1700" b="1" i="0">
                <a:solidFill>
                  <a:srgbClr val="0FB5A6"/>
                </a:solidFill>
                <a:latin typeface="Aptos"/>
              </a:rPr>
              <a:t>Prompt</a:t>
            </a:r>
          </a:p>
        </p:txBody>
      </p:sp>
      <p:cxnSp>
        <p:nvCxnSpPr>
          <p:cNvPr id="17" name="Connector 16"/>
          <p:cNvCxnSpPr/>
          <p:nvPr/>
        </p:nvCxnSpPr>
        <p:spPr>
          <a:xfrm>
            <a:off x="319354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94710" y="2788920"/>
            <a:ext cx="257175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8718" y="2807208"/>
            <a:ext cx="2443734" cy="905256"/>
          </a:xfrm>
          <a:prstGeom prst="rect">
            <a:avLst/>
          </a:prstGeom>
          <a:noFill/>
        </p:spPr>
        <p:txBody>
          <a:bodyPr wrap="square" lIns="45720" tIns="9144" rIns="45720" bIns="9144" anchor="ctr">
            <a:spAutoFit/>
          </a:bodyPr>
          <a:lstStyle/>
          <a:p>
            <a:pPr algn="ctr"/>
            <a:r>
              <a:rPr sz="1700" b="1" i="0">
                <a:solidFill>
                  <a:srgbClr val="3B6EF5"/>
                </a:solidFill>
                <a:latin typeface="Aptos"/>
              </a:rPr>
              <a:t>Outputs</a:t>
            </a:r>
          </a:p>
        </p:txBody>
      </p:sp>
      <p:cxnSp>
        <p:nvCxnSpPr>
          <p:cNvPr id="20" name="Connector 19"/>
          <p:cNvCxnSpPr/>
          <p:nvPr/>
        </p:nvCxnSpPr>
        <p:spPr>
          <a:xfrm>
            <a:off x="599389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5060" y="2788920"/>
            <a:ext cx="257175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9068" y="2807208"/>
            <a:ext cx="2443734" cy="905256"/>
          </a:xfrm>
          <a:prstGeom prst="rect">
            <a:avLst/>
          </a:prstGeom>
          <a:noFill/>
        </p:spPr>
        <p:txBody>
          <a:bodyPr wrap="square" lIns="45720" tIns="9144" rIns="45720" bIns="9144" anchor="ctr">
            <a:spAutoFit/>
          </a:bodyPr>
          <a:lstStyle/>
          <a:p>
            <a:pPr algn="ctr"/>
            <a:r>
              <a:rPr sz="1700" b="1" i="0">
                <a:solidFill>
                  <a:srgbClr val="3B6EF5"/>
                </a:solidFill>
                <a:latin typeface="Aptos"/>
              </a:rPr>
              <a:t>Preference</a:t>
            </a:r>
          </a:p>
        </p:txBody>
      </p:sp>
      <p:cxnSp>
        <p:nvCxnSpPr>
          <p:cNvPr id="23" name="Connector 22"/>
          <p:cNvCxnSpPr/>
          <p:nvPr/>
        </p:nvCxnSpPr>
        <p:spPr>
          <a:xfrm flipV="1">
            <a:off x="8807380" y="2863701"/>
            <a:ext cx="147721" cy="794845"/>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95410" y="2788920"/>
            <a:ext cx="257175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9418" y="2807208"/>
            <a:ext cx="2443734" cy="905256"/>
          </a:xfrm>
          <a:prstGeom prst="rect">
            <a:avLst/>
          </a:prstGeom>
          <a:noFill/>
        </p:spPr>
        <p:txBody>
          <a:bodyPr wrap="square" lIns="45720" tIns="9144" rIns="45720" bIns="9144" anchor="ctr">
            <a:spAutoFit/>
          </a:bodyPr>
          <a:lstStyle/>
          <a:p>
            <a:pPr algn="ctr"/>
            <a:r>
              <a:rPr sz="1700" b="1" i="0">
                <a:solidFill>
                  <a:srgbClr val="F6A609"/>
                </a:solidFill>
                <a:latin typeface="Aptos"/>
              </a:rPr>
              <a:t>Scorer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Reward model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44</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44</a:t>
            </a:r>
          </a:p>
        </p:txBody>
      </p:sp>
      <p:sp>
        <p:nvSpPr>
          <p:cNvPr id="14" name="Rounded Rectangle 13"/>
          <p:cNvSpPr/>
          <p:nvPr/>
        </p:nvSpPr>
        <p:spPr>
          <a:xfrm>
            <a:off x="594360" y="1627632"/>
            <a:ext cx="5358384"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4974336" cy="438912"/>
          </a:xfrm>
          <a:prstGeom prst="rect">
            <a:avLst/>
          </a:prstGeom>
          <a:noFill/>
        </p:spPr>
        <p:txBody>
          <a:bodyPr wrap="square" lIns="45720" tIns="9144" rIns="45720" bIns="9144" anchor="ctr">
            <a:spAutoFit/>
          </a:bodyPr>
          <a:lstStyle/>
          <a:p>
            <a:pPr algn="l"/>
            <a:r>
              <a:rPr sz="1700" b="1" i="0">
                <a:solidFill>
                  <a:srgbClr val="0FB5A6"/>
                </a:solidFill>
                <a:latin typeface="Aptos"/>
              </a:rPr>
              <a:t>Candidate A</a:t>
            </a:r>
          </a:p>
        </p:txBody>
      </p:sp>
      <p:sp>
        <p:nvSpPr>
          <p:cNvPr id="17" name="TextBox 16"/>
          <p:cNvSpPr txBox="1"/>
          <p:nvPr/>
        </p:nvSpPr>
        <p:spPr>
          <a:xfrm>
            <a:off x="822960" y="2432304"/>
            <a:ext cx="4974336" cy="2560320"/>
          </a:xfrm>
          <a:prstGeom prst="rect">
            <a:avLst/>
          </a:prstGeom>
          <a:noFill/>
        </p:spPr>
        <p:txBody>
          <a:bodyPr wrap="square" lIns="45720" tIns="9144" rIns="45720" bIns="9144" anchor="ctr">
            <a:spAutoFit/>
          </a:bodyPr>
          <a:lstStyle/>
          <a:p>
            <a:pPr algn="l"/>
            <a:r>
              <a:rPr sz="1450" b="0" i="0">
                <a:solidFill>
                  <a:srgbClr val="5B6B82"/>
                </a:solidFill>
                <a:latin typeface="Aptos"/>
              </a:rPr>
              <a:t>Grounding 5
Clarity 4
Safety 5
Reward = 4.7</a:t>
            </a:r>
          </a:p>
        </p:txBody>
      </p:sp>
      <p:sp>
        <p:nvSpPr>
          <p:cNvPr id="18" name="Rounded Rectangle 17"/>
          <p:cNvSpPr/>
          <p:nvPr/>
        </p:nvSpPr>
        <p:spPr>
          <a:xfrm>
            <a:off x="6208776" y="1627632"/>
            <a:ext cx="5358384"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1828800"/>
            <a:ext cx="4974336" cy="438912"/>
          </a:xfrm>
          <a:prstGeom prst="rect">
            <a:avLst/>
          </a:prstGeom>
          <a:noFill/>
        </p:spPr>
        <p:txBody>
          <a:bodyPr wrap="square" lIns="45720" tIns="9144" rIns="45720" bIns="9144" anchor="ctr">
            <a:spAutoFit/>
          </a:bodyPr>
          <a:lstStyle/>
          <a:p>
            <a:pPr algn="l"/>
            <a:r>
              <a:rPr sz="1700" b="1" i="0">
                <a:solidFill>
                  <a:srgbClr val="F6A609"/>
                </a:solidFill>
                <a:latin typeface="Aptos"/>
              </a:rPr>
              <a:t>Candidate B</a:t>
            </a:r>
          </a:p>
        </p:txBody>
      </p:sp>
      <p:sp>
        <p:nvSpPr>
          <p:cNvPr id="21" name="TextBox 20"/>
          <p:cNvSpPr txBox="1"/>
          <p:nvPr/>
        </p:nvSpPr>
        <p:spPr>
          <a:xfrm>
            <a:off x="6437376" y="2432304"/>
            <a:ext cx="4974336" cy="2560320"/>
          </a:xfrm>
          <a:prstGeom prst="rect">
            <a:avLst/>
          </a:prstGeom>
          <a:noFill/>
        </p:spPr>
        <p:txBody>
          <a:bodyPr wrap="square" lIns="45720" tIns="9144" rIns="45720" bIns="9144" anchor="ctr">
            <a:spAutoFit/>
          </a:bodyPr>
          <a:lstStyle/>
          <a:p>
            <a:pPr algn="l"/>
            <a:r>
              <a:rPr sz="1450" b="0" i="0">
                <a:solidFill>
                  <a:srgbClr val="5B6B82"/>
                </a:solidFill>
                <a:latin typeface="Aptos"/>
              </a:rPr>
              <a:t>Grounding 2
Clarity 4
Safety 5
Reward = 3.7</a:t>
            </a:r>
          </a:p>
        </p:txBody>
      </p:sp>
      <p:sp>
        <p:nvSpPr>
          <p:cNvPr id="22" name="Rounded Rectangle 21"/>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Reward is a compressed view of the rubric; compression loses detail.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Reward model equation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45</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45</a:t>
            </a:r>
          </a:p>
        </p:txBody>
      </p:sp>
      <p:sp>
        <p:nvSpPr>
          <p:cNvPr id="15" name="Rounded Rectangle 14"/>
          <p:cNvSpPr/>
          <p:nvPr/>
        </p:nvSpPr>
        <p:spPr>
          <a:xfrm>
            <a:off x="594360" y="1600200"/>
            <a:ext cx="10972800" cy="1042415"/>
          </a:xfrm>
          <a:prstGeom prst="roundRect">
            <a:avLst/>
          </a:prstGeom>
          <a:solidFill>
            <a:srgbClr val="FFFFFF"/>
          </a:solidFill>
          <a:ln w="1905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1783080"/>
            <a:ext cx="10607040" cy="640080"/>
          </a:xfrm>
          <a:prstGeom prst="rect">
            <a:avLst/>
          </a:prstGeom>
          <a:noFill/>
        </p:spPr>
        <p:txBody>
          <a:bodyPr wrap="square" lIns="45720" tIns="9144" rIns="45720" bIns="9144" anchor="ctr">
            <a:spAutoFit/>
          </a:bodyPr>
          <a:lstStyle/>
          <a:p>
            <a:pPr algn="ctr"/>
            <a:r>
              <a:rPr sz="2800" b="1" i="0">
                <a:solidFill>
                  <a:srgbClr val="0F1E3D"/>
                </a:solidFill>
                <a:latin typeface="Aptos"/>
              </a:rPr>
              <a:t>P(y⁺ ≻ y⁻) = σ(r⁺ − r⁻)</a:t>
            </a:r>
          </a:p>
        </p:txBody>
      </p:sp>
      <p:sp>
        <p:nvSpPr>
          <p:cNvPr id="17" name="Rounded Rectangle 16"/>
          <p:cNvSpPr/>
          <p:nvPr/>
        </p:nvSpPr>
        <p:spPr>
          <a:xfrm>
            <a:off x="594360" y="2971800"/>
            <a:ext cx="544068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2971800"/>
            <a:ext cx="73152" cy="2359152"/>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172968"/>
            <a:ext cx="5056632" cy="438912"/>
          </a:xfrm>
          <a:prstGeom prst="rect">
            <a:avLst/>
          </a:prstGeom>
          <a:noFill/>
        </p:spPr>
        <p:txBody>
          <a:bodyPr wrap="square" lIns="45720" tIns="9144" rIns="45720" bIns="9144" anchor="ctr">
            <a:spAutoFit/>
          </a:bodyPr>
          <a:lstStyle/>
          <a:p>
            <a:pPr algn="l"/>
            <a:r>
              <a:rPr sz="1700" b="1" i="0">
                <a:solidFill>
                  <a:srgbClr val="0FB5A6"/>
                </a:solidFill>
                <a:latin typeface="Aptos"/>
              </a:rPr>
              <a:t>Symbols</a:t>
            </a:r>
          </a:p>
        </p:txBody>
      </p:sp>
      <p:sp>
        <p:nvSpPr>
          <p:cNvPr id="20" name="TextBox 19"/>
          <p:cNvSpPr txBox="1"/>
          <p:nvPr/>
        </p:nvSpPr>
        <p:spPr>
          <a:xfrm>
            <a:off x="822960" y="3776472"/>
            <a:ext cx="5056632" cy="1426464"/>
          </a:xfrm>
          <a:prstGeom prst="rect">
            <a:avLst/>
          </a:prstGeom>
          <a:noFill/>
        </p:spPr>
        <p:txBody>
          <a:bodyPr wrap="square" lIns="45720" tIns="9144" rIns="45720" bIns="9144" anchor="ctr">
            <a:spAutoFit/>
          </a:bodyPr>
          <a:lstStyle/>
          <a:p>
            <a:pPr algn="l"/>
            <a:r>
              <a:rPr sz="1260" b="0" i="0">
                <a:solidFill>
                  <a:srgbClr val="5B6B82"/>
                </a:solidFill>
                <a:latin typeface="Aptos"/>
              </a:rPr>
              <a:t>y⁺ = chosen / preferred answer
y⁻ = rejected answer
≻ = preferred over
r⁺ = reward score for y⁺
r⁻ = reward score for y⁻
σ = sigmoid mapping to probability</a:t>
            </a:r>
          </a:p>
        </p:txBody>
      </p:sp>
      <p:sp>
        <p:nvSpPr>
          <p:cNvPr id="21" name="Rounded Rectangle 20"/>
          <p:cNvSpPr/>
          <p:nvPr/>
        </p:nvSpPr>
        <p:spPr>
          <a:xfrm>
            <a:off x="6309360" y="2971800"/>
            <a:ext cx="525780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2971800"/>
            <a:ext cx="73152" cy="2359152"/>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3172968"/>
            <a:ext cx="4873752" cy="438912"/>
          </a:xfrm>
          <a:prstGeom prst="rect">
            <a:avLst/>
          </a:prstGeom>
          <a:noFill/>
        </p:spPr>
        <p:txBody>
          <a:bodyPr wrap="square" lIns="45720" tIns="9144" rIns="45720" bIns="9144" anchor="ctr">
            <a:spAutoFit/>
          </a:bodyPr>
          <a:lstStyle/>
          <a:p>
            <a:pPr algn="l"/>
            <a:r>
              <a:rPr sz="1700" b="1" i="0">
                <a:solidFill>
                  <a:srgbClr val="F6A609"/>
                </a:solidFill>
                <a:latin typeface="Aptos"/>
              </a:rPr>
              <a:t>Interpretation</a:t>
            </a:r>
          </a:p>
        </p:txBody>
      </p:sp>
      <p:sp>
        <p:nvSpPr>
          <p:cNvPr id="24" name="TextBox 23"/>
          <p:cNvSpPr txBox="1"/>
          <p:nvPr/>
        </p:nvSpPr>
        <p:spPr>
          <a:xfrm>
            <a:off x="6537960" y="3776472"/>
            <a:ext cx="4873752" cy="1426464"/>
          </a:xfrm>
          <a:prstGeom prst="rect">
            <a:avLst/>
          </a:prstGeom>
          <a:noFill/>
        </p:spPr>
        <p:txBody>
          <a:bodyPr wrap="square" lIns="45720" tIns="9144" rIns="45720" bIns="9144" anchor="ctr">
            <a:spAutoFit/>
          </a:bodyPr>
          <a:lstStyle/>
          <a:p>
            <a:pPr algn="l"/>
            <a:r>
              <a:rPr sz="1400" b="0" i="0">
                <a:solidFill>
                  <a:srgbClr val="5B6B82"/>
                </a:solidFill>
                <a:latin typeface="Aptos"/>
              </a:rPr>
              <a:t>A larger reward gap means stronger predicted human preference for 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Reward model limitations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46</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46</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Proxy mismatch</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score differs from real quality</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Off-policy drift</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model exploits scorer outside training data</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Calibration decay</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reward meaning shifts over time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DPO vs RLHF</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47</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47</a:t>
            </a:r>
          </a:p>
        </p:txBody>
      </p:sp>
      <p:sp>
        <p:nvSpPr>
          <p:cNvPr id="15" name="Rounded Rectangle 14"/>
          <p:cNvSpPr/>
          <p:nvPr/>
        </p:nvSpPr>
        <p:spPr>
          <a:xfrm>
            <a:off x="777240" y="1783080"/>
            <a:ext cx="4892040" cy="30175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1783080"/>
            <a:ext cx="73152" cy="30175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1984248"/>
            <a:ext cx="4507992" cy="438912"/>
          </a:xfrm>
          <a:prstGeom prst="rect">
            <a:avLst/>
          </a:prstGeom>
          <a:noFill/>
        </p:spPr>
        <p:txBody>
          <a:bodyPr wrap="square" lIns="45720" tIns="9144" rIns="45720" bIns="9144" anchor="ctr">
            <a:spAutoFit/>
          </a:bodyPr>
          <a:lstStyle/>
          <a:p>
            <a:pPr algn="l"/>
            <a:r>
              <a:rPr sz="2200" b="1" i="0">
                <a:solidFill>
                  <a:srgbClr val="0FB5A6"/>
                </a:solidFill>
                <a:latin typeface="Aptos"/>
              </a:rPr>
              <a:t>DPO</a:t>
            </a:r>
          </a:p>
        </p:txBody>
      </p:sp>
      <p:sp>
        <p:nvSpPr>
          <p:cNvPr id="18" name="TextBox 17"/>
          <p:cNvSpPr txBox="1"/>
          <p:nvPr/>
        </p:nvSpPr>
        <p:spPr>
          <a:xfrm>
            <a:off x="1005840" y="2587752"/>
            <a:ext cx="4507992" cy="2084831"/>
          </a:xfrm>
          <a:prstGeom prst="rect">
            <a:avLst/>
          </a:prstGeom>
          <a:noFill/>
        </p:spPr>
        <p:txBody>
          <a:bodyPr wrap="square" lIns="45720" tIns="9144" rIns="45720" bIns="9144" anchor="ctr">
            <a:spAutoFit/>
          </a:bodyPr>
          <a:lstStyle/>
          <a:p>
            <a:pPr algn="l"/>
            <a:r>
              <a:rPr sz="1700" b="0" i="0">
                <a:solidFill>
                  <a:srgbClr val="5B6B82"/>
                </a:solidFill>
                <a:latin typeface="Aptos"/>
              </a:rPr>
              <a:t>Simpler, lower operational burden</a:t>
            </a:r>
          </a:p>
        </p:txBody>
      </p:sp>
      <p:sp>
        <p:nvSpPr>
          <p:cNvPr id="19" name="Rounded Rectangle 18"/>
          <p:cNvSpPr/>
          <p:nvPr/>
        </p:nvSpPr>
        <p:spPr>
          <a:xfrm>
            <a:off x="6492240" y="1783080"/>
            <a:ext cx="4892040" cy="30175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92240" y="1783080"/>
            <a:ext cx="73152" cy="30175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0840" y="1984248"/>
            <a:ext cx="4507992" cy="438912"/>
          </a:xfrm>
          <a:prstGeom prst="rect">
            <a:avLst/>
          </a:prstGeom>
          <a:noFill/>
        </p:spPr>
        <p:txBody>
          <a:bodyPr wrap="square" lIns="45720" tIns="9144" rIns="45720" bIns="9144" anchor="ctr">
            <a:spAutoFit/>
          </a:bodyPr>
          <a:lstStyle/>
          <a:p>
            <a:pPr algn="l"/>
            <a:r>
              <a:rPr sz="2200" b="1" i="0">
                <a:solidFill>
                  <a:srgbClr val="F6A609"/>
                </a:solidFill>
                <a:latin typeface="Aptos"/>
              </a:rPr>
              <a:t>RLHF</a:t>
            </a:r>
          </a:p>
        </p:txBody>
      </p:sp>
      <p:sp>
        <p:nvSpPr>
          <p:cNvPr id="22" name="TextBox 21"/>
          <p:cNvSpPr txBox="1"/>
          <p:nvPr/>
        </p:nvSpPr>
        <p:spPr>
          <a:xfrm>
            <a:off x="6720840" y="2587752"/>
            <a:ext cx="4507992" cy="2084831"/>
          </a:xfrm>
          <a:prstGeom prst="rect">
            <a:avLst/>
          </a:prstGeom>
          <a:noFill/>
        </p:spPr>
        <p:txBody>
          <a:bodyPr wrap="square" lIns="45720" tIns="9144" rIns="45720" bIns="9144" anchor="ctr">
            <a:spAutoFit/>
          </a:bodyPr>
          <a:lstStyle/>
          <a:p>
            <a:pPr algn="l"/>
            <a:r>
              <a:rPr sz="1700" b="0" i="0">
                <a:solidFill>
                  <a:srgbClr val="5B6B82"/>
                </a:solidFill>
                <a:latin typeface="Aptos"/>
              </a:rPr>
              <a:t>Higher ceiling, higher fragility</a:t>
            </a:r>
          </a:p>
        </p:txBody>
      </p:sp>
      <p:sp>
        <p:nvSpPr>
          <p:cNvPr id="23" name="TextBox 22"/>
          <p:cNvSpPr txBox="1"/>
          <p:nvPr/>
        </p:nvSpPr>
        <p:spPr>
          <a:xfrm>
            <a:off x="5833872" y="2971800"/>
            <a:ext cx="502920" cy="365760"/>
          </a:xfrm>
          <a:prstGeom prst="rect">
            <a:avLst/>
          </a:prstGeom>
          <a:noFill/>
        </p:spPr>
        <p:txBody>
          <a:bodyPr wrap="square" lIns="45720" tIns="9144" rIns="45720" bIns="9144" anchor="ctr">
            <a:spAutoFit/>
          </a:bodyPr>
          <a:lstStyle/>
          <a:p>
            <a:pPr algn="ctr"/>
            <a:r>
              <a:rPr sz="2600" b="1" i="0">
                <a:solidFill>
                  <a:srgbClr val="5B6B82"/>
                </a:solidFill>
                <a:latin typeface="Apto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RLHF / RLxF</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48</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48</a:t>
            </a:r>
          </a:p>
        </p:txBody>
      </p:sp>
      <p:sp>
        <p:nvSpPr>
          <p:cNvPr id="15" name="TextBox 14"/>
          <p:cNvSpPr txBox="1"/>
          <p:nvPr/>
        </p:nvSpPr>
        <p:spPr>
          <a:xfrm>
            <a:off x="777240" y="2148840"/>
            <a:ext cx="10698480" cy="822960"/>
          </a:xfrm>
          <a:prstGeom prst="rect">
            <a:avLst/>
          </a:prstGeom>
          <a:noFill/>
        </p:spPr>
        <p:txBody>
          <a:bodyPr wrap="square" lIns="45720" tIns="9144" rIns="45720" bIns="9144" anchor="ctr">
            <a:spAutoFit/>
          </a:bodyPr>
          <a:lstStyle/>
          <a:p>
            <a:pPr algn="ctr"/>
            <a:r>
              <a:rPr sz="4400" b="1" i="0">
                <a:solidFill>
                  <a:srgbClr val="0F1E3D"/>
                </a:solidFill>
                <a:latin typeface="Aptos"/>
              </a:rPr>
              <a:t>Explore + optimize</a:t>
            </a:r>
          </a:p>
        </p:txBody>
      </p:sp>
      <p:sp>
        <p:nvSpPr>
          <p:cNvPr id="16" name="TextBox 15"/>
          <p:cNvSpPr txBox="1"/>
          <p:nvPr/>
        </p:nvSpPr>
        <p:spPr>
          <a:xfrm>
            <a:off x="1371600" y="3410712"/>
            <a:ext cx="9418320" cy="640080"/>
          </a:xfrm>
          <a:prstGeom prst="rect">
            <a:avLst/>
          </a:prstGeom>
          <a:noFill/>
        </p:spPr>
        <p:txBody>
          <a:bodyPr wrap="square" lIns="45720" tIns="9144" rIns="45720" bIns="9144" anchor="ctr">
            <a:spAutoFit/>
          </a:bodyPr>
          <a:lstStyle/>
          <a:p>
            <a:pPr algn="ctr"/>
            <a:r>
              <a:rPr sz="2000" b="0" i="0">
                <a:solidFill>
                  <a:srgbClr val="5B6B82"/>
                </a:solidFill>
                <a:latin typeface="Aptos"/>
              </a:rPr>
              <a:t>Generate attempts, score them, update policy.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7863840" cy="347472"/>
          </a:xfrm>
          <a:prstGeom prst="rect">
            <a:avLst/>
          </a:prstGeom>
          <a:noFill/>
        </p:spPr>
        <p:txBody>
          <a:bodyPr wrap="none" lIns="18288" tIns="18288" rIns="18288" bIns="18288">
            <a:spAutoFit/>
          </a:bodyPr>
          <a:lstStyle/>
          <a:p>
            <a:pPr algn="l"/>
            <a:r>
              <a:rPr sz="2200" b="1" i="0">
                <a:solidFill>
                  <a:srgbClr val="0F1E3D"/>
                </a:solidFill>
                <a:latin typeface="Aptos"/>
              </a:rPr>
              <a:t>RL primer: learning from feedback</a:t>
            </a:r>
          </a:p>
        </p:txBody>
      </p:sp>
      <p:sp>
        <p:nvSpPr>
          <p:cNvPr id="3" name="TextBox 2"/>
          <p:cNvSpPr txBox="1"/>
          <p:nvPr/>
        </p:nvSpPr>
        <p:spPr>
          <a:xfrm>
            <a:off x="502920" y="658368"/>
            <a:ext cx="8138160" cy="228600"/>
          </a:xfrm>
          <a:prstGeom prst="rect">
            <a:avLst/>
          </a:prstGeom>
          <a:noFill/>
        </p:spPr>
        <p:txBody>
          <a:bodyPr wrap="none" lIns="18288" tIns="18288" rIns="18288" bIns="18288">
            <a:spAutoFit/>
          </a:bodyPr>
          <a:lstStyle/>
          <a:p>
            <a:pPr algn="l"/>
            <a:r>
              <a:rPr sz="1050" b="0" i="1">
                <a:solidFill>
                  <a:srgbClr val="5B6B82"/>
                </a:solidFill>
                <a:latin typeface="Aptos"/>
              </a:rPr>
              <a:t>What reinforcement learning does — and how it changes LLM behavior</a:t>
            </a:r>
          </a:p>
        </p:txBody>
      </p:sp>
      <p:sp>
        <p:nvSpPr>
          <p:cNvPr id="4" name="TextBox 3"/>
          <p:cNvSpPr txBox="1"/>
          <p:nvPr/>
        </p:nvSpPr>
        <p:spPr>
          <a:xfrm>
            <a:off x="10012680" y="420624"/>
            <a:ext cx="1097280" cy="201168"/>
          </a:xfrm>
          <a:prstGeom prst="rect">
            <a:avLst/>
          </a:prstGeom>
          <a:noFill/>
        </p:spPr>
        <p:txBody>
          <a:bodyPr wrap="none" lIns="18288" tIns="18288" rIns="18288" bIns="18288">
            <a:spAutoFit/>
          </a:bodyPr>
          <a:lstStyle/>
          <a:p>
            <a:pPr algn="r"/>
            <a:r>
              <a:rPr sz="800" b="0" i="0">
                <a:solidFill>
                  <a:srgbClr val="AAB6CC"/>
                </a:solidFill>
                <a:latin typeface="Aptos"/>
              </a:rPr>
              <a:t>Day 2 · 49a</a:t>
            </a:r>
          </a:p>
        </p:txBody>
      </p:sp>
      <p:sp>
        <p:nvSpPr>
          <p:cNvPr id="5" name="Rectangle 4"/>
          <p:cNvSpPr/>
          <p:nvPr/>
        </p:nvSpPr>
        <p:spPr>
          <a:xfrm>
            <a:off x="502920" y="960120"/>
            <a:ext cx="10607040" cy="13716"/>
          </a:xfrm>
          <a:prstGeom prst="rect">
            <a:avLst/>
          </a:prstGeom>
          <a:solidFill>
            <a:srgbClr val="BEC6D2"/>
          </a:solidFill>
          <a:ln>
            <a:solidFill>
              <a:srgbClr val="BEC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868" y="2016147"/>
            <a:ext cx="3246120" cy="1417320"/>
          </a:xfrm>
          <a:prstGeom prst="roundRect">
            <a:avLst/>
          </a:prstGeom>
          <a:solidFill>
            <a:srgbClr val="FFFFFF"/>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Rectangle 6"/>
          <p:cNvSpPr/>
          <p:nvPr/>
        </p:nvSpPr>
        <p:spPr>
          <a:xfrm>
            <a:off x="640868" y="2016147"/>
            <a:ext cx="64008" cy="1417320"/>
          </a:xfrm>
          <a:prstGeom prst="rect">
            <a:avLst/>
          </a:prstGeom>
          <a:solidFill>
            <a:srgbClr val="0FB5A6"/>
          </a:solidFill>
          <a:ln>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823748" y="2153307"/>
            <a:ext cx="1060868" cy="252377"/>
          </a:xfrm>
          <a:prstGeom prst="rect">
            <a:avLst/>
          </a:prstGeom>
          <a:noFill/>
        </p:spPr>
        <p:txBody>
          <a:bodyPr wrap="none" lIns="18288" tIns="18288" rIns="18288" bIns="18288">
            <a:spAutoFit/>
          </a:bodyPr>
          <a:lstStyle/>
          <a:p>
            <a:pPr algn="l"/>
            <a:r>
              <a:rPr sz="1400" b="1" i="0">
                <a:solidFill>
                  <a:srgbClr val="0FB5A6"/>
                </a:solidFill>
                <a:latin typeface="Aptos"/>
              </a:rPr>
              <a:t>Core RL idea</a:t>
            </a:r>
          </a:p>
        </p:txBody>
      </p:sp>
      <p:sp>
        <p:nvSpPr>
          <p:cNvPr id="9" name="TextBox 8"/>
          <p:cNvSpPr txBox="1"/>
          <p:nvPr/>
        </p:nvSpPr>
        <p:spPr>
          <a:xfrm>
            <a:off x="823748" y="2491635"/>
            <a:ext cx="2750818" cy="544765"/>
          </a:xfrm>
          <a:prstGeom prst="rect">
            <a:avLst/>
          </a:prstGeom>
          <a:noFill/>
        </p:spPr>
        <p:txBody>
          <a:bodyPr wrap="none" lIns="18288" tIns="18288" rIns="18288" bIns="18288" anchor="t">
            <a:spAutoFit/>
          </a:bodyPr>
          <a:lstStyle/>
          <a:p>
            <a:r>
              <a:rPr sz="1100" b="0" i="0">
                <a:solidFill>
                  <a:srgbClr val="5B6B82"/>
                </a:solidFill>
                <a:latin typeface="Aptos"/>
              </a:rPr>
              <a:t>An agent tries actions, observes reward, and </a:t>
            </a:r>
            <a:endParaRPr lang="en-US" sz="2000"/>
          </a:p>
          <a:p>
            <a:r>
              <a:rPr sz="1100" b="0" i="0">
                <a:solidFill>
                  <a:srgbClr val="5B6B82"/>
                </a:solidFill>
                <a:latin typeface="Aptos"/>
              </a:rPr>
              <a:t>updates the policy toward actions that </a:t>
            </a:r>
            <a:endParaRPr lang="en-US" sz="2000">
              <a:solidFill>
                <a:srgbClr val="000000"/>
              </a:solidFill>
              <a:latin typeface="Calibri"/>
              <a:ea typeface="Calibri"/>
              <a:cs typeface="Calibri"/>
            </a:endParaRPr>
          </a:p>
          <a:p>
            <a:pPr algn="l"/>
            <a:r>
              <a:rPr sz="1100" b="0" i="0">
                <a:solidFill>
                  <a:srgbClr val="5B6B82"/>
                </a:solidFill>
                <a:latin typeface="Aptos"/>
              </a:rPr>
              <a:t>earn higher reward.</a:t>
            </a:r>
            <a:endParaRPr sz="2000">
              <a:ea typeface="Calibri"/>
              <a:cs typeface="Calibri"/>
            </a:endParaRPr>
          </a:p>
        </p:txBody>
      </p:sp>
      <p:sp>
        <p:nvSpPr>
          <p:cNvPr id="10" name="Rounded Rectangle 9"/>
          <p:cNvSpPr/>
          <p:nvPr/>
        </p:nvSpPr>
        <p:spPr>
          <a:xfrm>
            <a:off x="4161308" y="2016147"/>
            <a:ext cx="3246120" cy="1417320"/>
          </a:xfrm>
          <a:prstGeom prst="roundRect">
            <a:avLst/>
          </a:prstGeom>
          <a:solidFill>
            <a:srgbClr val="FFFFFF"/>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ectangle 10"/>
          <p:cNvSpPr/>
          <p:nvPr/>
        </p:nvSpPr>
        <p:spPr>
          <a:xfrm>
            <a:off x="4161308" y="2016147"/>
            <a:ext cx="64008" cy="1417320"/>
          </a:xfrm>
          <a:prstGeom prst="rect">
            <a:avLst/>
          </a:prstGeom>
          <a:solidFill>
            <a:srgbClr val="3B6EF5"/>
          </a:solidFill>
          <a:ln>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4344188" y="2153307"/>
            <a:ext cx="760080" cy="252377"/>
          </a:xfrm>
          <a:prstGeom prst="rect">
            <a:avLst/>
          </a:prstGeom>
          <a:noFill/>
        </p:spPr>
        <p:txBody>
          <a:bodyPr wrap="none" lIns="18288" tIns="18288" rIns="18288" bIns="18288">
            <a:spAutoFit/>
          </a:bodyPr>
          <a:lstStyle/>
          <a:p>
            <a:pPr algn="l"/>
            <a:r>
              <a:rPr sz="1400" b="1" i="0">
                <a:solidFill>
                  <a:srgbClr val="3B6EF5"/>
                </a:solidFill>
                <a:latin typeface="Aptos"/>
              </a:rPr>
              <a:t>For LLMs</a:t>
            </a:r>
          </a:p>
        </p:txBody>
      </p:sp>
      <p:sp>
        <p:nvSpPr>
          <p:cNvPr id="13" name="TextBox 12"/>
          <p:cNvSpPr txBox="1"/>
          <p:nvPr/>
        </p:nvSpPr>
        <p:spPr>
          <a:xfrm>
            <a:off x="4344188" y="2491635"/>
            <a:ext cx="2829364" cy="544765"/>
          </a:xfrm>
          <a:prstGeom prst="rect">
            <a:avLst/>
          </a:prstGeom>
          <a:noFill/>
        </p:spPr>
        <p:txBody>
          <a:bodyPr wrap="none" lIns="18288" tIns="18288" rIns="18288" bIns="18288" anchor="t">
            <a:spAutoFit/>
          </a:bodyPr>
          <a:lstStyle/>
          <a:p>
            <a:r>
              <a:rPr sz="1100" b="0" i="0">
                <a:solidFill>
                  <a:srgbClr val="5B6B82"/>
                </a:solidFill>
                <a:latin typeface="Aptos"/>
              </a:rPr>
              <a:t>The “action” is a generated response or token </a:t>
            </a:r>
            <a:endParaRPr lang="en-US" sz="2000"/>
          </a:p>
          <a:p>
            <a:r>
              <a:rPr sz="1100" b="0" i="0">
                <a:solidFill>
                  <a:srgbClr val="5B6B82"/>
                </a:solidFill>
                <a:latin typeface="Aptos"/>
              </a:rPr>
              <a:t>sequence; the policy is the model distribution </a:t>
            </a:r>
            <a:endParaRPr lang="en-US" sz="2000">
              <a:solidFill>
                <a:srgbClr val="000000"/>
              </a:solidFill>
              <a:latin typeface="Calibri"/>
              <a:ea typeface="Calibri"/>
              <a:cs typeface="Calibri"/>
            </a:endParaRPr>
          </a:p>
          <a:p>
            <a:pPr algn="l"/>
            <a:r>
              <a:rPr sz="1100" b="0" i="0">
                <a:solidFill>
                  <a:srgbClr val="5B6B82"/>
                </a:solidFill>
                <a:latin typeface="Aptos"/>
              </a:rPr>
              <a:t>over next tokens.</a:t>
            </a:r>
            <a:endParaRPr sz="2000">
              <a:ea typeface="Calibri"/>
              <a:cs typeface="Calibri"/>
            </a:endParaRPr>
          </a:p>
        </p:txBody>
      </p:sp>
      <p:sp>
        <p:nvSpPr>
          <p:cNvPr id="14" name="Rounded Rectangle 13"/>
          <p:cNvSpPr/>
          <p:nvPr/>
        </p:nvSpPr>
        <p:spPr>
          <a:xfrm>
            <a:off x="7681748" y="2016147"/>
            <a:ext cx="3246120" cy="1417320"/>
          </a:xfrm>
          <a:prstGeom prst="roundRect">
            <a:avLst/>
          </a:prstGeom>
          <a:solidFill>
            <a:srgbClr val="FFFFFF"/>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Rectangle 14"/>
          <p:cNvSpPr/>
          <p:nvPr/>
        </p:nvSpPr>
        <p:spPr>
          <a:xfrm>
            <a:off x="7681748" y="2016147"/>
            <a:ext cx="64008" cy="1417320"/>
          </a:xfrm>
          <a:prstGeom prst="rect">
            <a:avLst/>
          </a:prstGeom>
          <a:solidFill>
            <a:srgbClr val="F6A609"/>
          </a:solidFill>
          <a:ln>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7864627" y="2153307"/>
            <a:ext cx="1205523" cy="252377"/>
          </a:xfrm>
          <a:prstGeom prst="rect">
            <a:avLst/>
          </a:prstGeom>
          <a:noFill/>
        </p:spPr>
        <p:txBody>
          <a:bodyPr wrap="none" lIns="18288" tIns="18288" rIns="18288" bIns="18288">
            <a:spAutoFit/>
          </a:bodyPr>
          <a:lstStyle/>
          <a:p>
            <a:pPr algn="l"/>
            <a:r>
              <a:rPr sz="1400" b="1" i="0">
                <a:solidFill>
                  <a:srgbClr val="F6A609"/>
                </a:solidFill>
                <a:latin typeface="Aptos"/>
              </a:rPr>
              <a:t>Alignment use</a:t>
            </a:r>
          </a:p>
        </p:txBody>
      </p:sp>
      <p:sp>
        <p:nvSpPr>
          <p:cNvPr id="17" name="TextBox 16"/>
          <p:cNvSpPr txBox="1"/>
          <p:nvPr/>
        </p:nvSpPr>
        <p:spPr>
          <a:xfrm>
            <a:off x="7864627" y="2491635"/>
            <a:ext cx="3186834" cy="544765"/>
          </a:xfrm>
          <a:prstGeom prst="rect">
            <a:avLst/>
          </a:prstGeom>
          <a:noFill/>
        </p:spPr>
        <p:txBody>
          <a:bodyPr wrap="none" lIns="18288" tIns="18288" rIns="18288" bIns="18288" anchor="t">
            <a:spAutoFit/>
          </a:bodyPr>
          <a:lstStyle/>
          <a:p>
            <a:r>
              <a:rPr sz="1100" b="0" i="0">
                <a:solidFill>
                  <a:srgbClr val="5B6B82"/>
                </a:solidFill>
                <a:latin typeface="Aptos"/>
              </a:rPr>
              <a:t>Reward can come from a human preference model, </a:t>
            </a:r>
            <a:endParaRPr lang="en-US" sz="2000"/>
          </a:p>
          <a:p>
            <a:r>
              <a:rPr sz="1100" b="0" i="0">
                <a:solidFill>
                  <a:srgbClr val="5B6B82"/>
                </a:solidFill>
                <a:latin typeface="Aptos"/>
              </a:rPr>
              <a:t>an LLM judge, rules, or product signals — then </a:t>
            </a:r>
            <a:endParaRPr lang="en-US" sz="2000">
              <a:solidFill>
                <a:srgbClr val="000000"/>
              </a:solidFill>
              <a:latin typeface="Calibri"/>
              <a:ea typeface="Calibri"/>
              <a:cs typeface="Calibri"/>
            </a:endParaRPr>
          </a:p>
          <a:p>
            <a:pPr algn="l"/>
            <a:r>
              <a:rPr sz="1100" b="0" i="0">
                <a:solidFill>
                  <a:srgbClr val="5B6B82"/>
                </a:solidFill>
                <a:latin typeface="Aptos"/>
              </a:rPr>
              <a:t>updates are gated by evals.</a:t>
            </a:r>
            <a:endParaRPr sz="2000">
              <a:ea typeface="Calibri"/>
              <a:cs typeface="Calibri"/>
            </a:endParaRPr>
          </a:p>
        </p:txBody>
      </p:sp>
      <p:sp>
        <p:nvSpPr>
          <p:cNvPr id="28" name="Rounded Rectangle 27"/>
          <p:cNvSpPr/>
          <p:nvPr/>
        </p:nvSpPr>
        <p:spPr>
          <a:xfrm>
            <a:off x="941727" y="4236194"/>
            <a:ext cx="9692640" cy="731520"/>
          </a:xfrm>
          <a:prstGeom prst="roundRect">
            <a:avLst/>
          </a:prstGeom>
          <a:solidFill>
            <a:srgbClr val="FFFFFF"/>
          </a:solidFill>
          <a:ln>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58908" y="4396793"/>
            <a:ext cx="8897692" cy="406265"/>
          </a:xfrm>
          <a:prstGeom prst="rect">
            <a:avLst/>
          </a:prstGeom>
          <a:noFill/>
        </p:spPr>
        <p:txBody>
          <a:bodyPr wrap="none" lIns="18288" tIns="18288" rIns="18288" bIns="18288" anchor="t">
            <a:spAutoFit/>
          </a:bodyPr>
          <a:lstStyle/>
          <a:p>
            <a:pPr algn="ctr"/>
            <a:r>
              <a:rPr sz="1200" b="1" i="0">
                <a:solidFill>
                  <a:srgbClr val="0F1E3D"/>
                </a:solidFill>
                <a:latin typeface="Aptos"/>
              </a:rPr>
              <a:t>Key intuition: RL does not teach the model from a single “correct answer”; it nudges the policy toward outputs that score better </a:t>
            </a:r>
            <a:endParaRPr lang="en-US"/>
          </a:p>
          <a:p>
            <a:pPr algn="ctr"/>
            <a:r>
              <a:rPr sz="1200" b="1" i="0">
                <a:solidFill>
                  <a:srgbClr val="0F1E3D"/>
                </a:solidFill>
                <a:latin typeface="Aptos"/>
              </a:rPr>
              <a:t>under a feedback signal, while constraints keep the model from drifting.</a:t>
            </a:r>
            <a:endParaRPr/>
          </a:p>
        </p:txBody>
      </p:sp>
      <p:sp>
        <p:nvSpPr>
          <p:cNvPr id="30" name="Rectangle 29"/>
          <p:cNvSpPr/>
          <p:nvPr/>
        </p:nvSpPr>
        <p:spPr>
          <a:xfrm>
            <a:off x="0" y="6565392"/>
            <a:ext cx="12192000" cy="292608"/>
          </a:xfrm>
          <a:prstGeom prst="rect">
            <a:avLst/>
          </a:prstGeom>
          <a:solidFill>
            <a:srgbClr val="0F1E3D"/>
          </a:solidFill>
          <a:ln>
            <a:solidFill>
              <a:srgbClr val="0F1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629400"/>
            <a:ext cx="4480560" cy="137160"/>
          </a:xfrm>
          <a:prstGeom prst="rect">
            <a:avLst/>
          </a:prstGeom>
          <a:noFill/>
        </p:spPr>
        <p:txBody>
          <a:bodyPr wrap="none" lIns="18288" tIns="18288" rIns="18288" bIns="18288">
            <a:spAutoFit/>
          </a:bodyPr>
          <a:lstStyle/>
          <a:p>
            <a:pPr algn="l"/>
            <a:r>
              <a:rPr sz="550" b="0" i="0">
                <a:solidFill>
                  <a:srgbClr val="FFFFFF"/>
                </a:solidFill>
                <a:latin typeface="Aptos"/>
              </a:rPr>
              <a:t>CxAI AI Upskill Program · Week 4: Alignment &amp; Optimization</a:t>
            </a:r>
          </a:p>
        </p:txBody>
      </p:sp>
      <p:sp>
        <p:nvSpPr>
          <p:cNvPr id="32" name="TextBox 31"/>
          <p:cNvSpPr txBox="1"/>
          <p:nvPr/>
        </p:nvSpPr>
        <p:spPr>
          <a:xfrm>
            <a:off x="10149840" y="6629400"/>
            <a:ext cx="1005840" cy="137160"/>
          </a:xfrm>
          <a:prstGeom prst="rect">
            <a:avLst/>
          </a:prstGeom>
          <a:noFill/>
        </p:spPr>
        <p:txBody>
          <a:bodyPr wrap="none" lIns="18288" tIns="18288" rIns="18288" bIns="18288">
            <a:spAutoFit/>
          </a:bodyPr>
          <a:lstStyle/>
          <a:p>
            <a:pPr algn="r"/>
            <a:r>
              <a:rPr sz="550" b="0" i="0">
                <a:solidFill>
                  <a:srgbClr val="FFFFFF"/>
                </a:solidFill>
                <a:latin typeface="Aptos"/>
              </a:rPr>
              <a:t>Day 2 | 49a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RLHF rollout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49</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49</a:t>
            </a:r>
          </a:p>
        </p:txBody>
      </p:sp>
      <p:sp>
        <p:nvSpPr>
          <p:cNvPr id="14" name="Rounded Rectangle 13"/>
          <p:cNvSpPr/>
          <p:nvPr/>
        </p:nvSpPr>
        <p:spPr>
          <a:xfrm>
            <a:off x="594360" y="1627632"/>
            <a:ext cx="2551176"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2167128" cy="438912"/>
          </a:xfrm>
          <a:prstGeom prst="rect">
            <a:avLst/>
          </a:prstGeom>
          <a:noFill/>
        </p:spPr>
        <p:txBody>
          <a:bodyPr wrap="square" lIns="45720" tIns="9144" rIns="45720" bIns="9144" anchor="ctr">
            <a:spAutoFit/>
          </a:bodyPr>
          <a:lstStyle/>
          <a:p>
            <a:pPr algn="l"/>
            <a:r>
              <a:rPr sz="1700" b="1" i="0">
                <a:solidFill>
                  <a:srgbClr val="0FB5A6"/>
                </a:solidFill>
                <a:latin typeface="Aptos"/>
              </a:rPr>
              <a:t>Prompt</a:t>
            </a:r>
          </a:p>
        </p:txBody>
      </p:sp>
      <p:sp>
        <p:nvSpPr>
          <p:cNvPr id="17" name="TextBox 16"/>
          <p:cNvSpPr txBox="1"/>
          <p:nvPr/>
        </p:nvSpPr>
        <p:spPr>
          <a:xfrm>
            <a:off x="822960" y="2432304"/>
            <a:ext cx="2167128" cy="2560320"/>
          </a:xfrm>
          <a:prstGeom prst="rect">
            <a:avLst/>
          </a:prstGeom>
          <a:noFill/>
        </p:spPr>
        <p:txBody>
          <a:bodyPr wrap="square" lIns="45720" tIns="9144" rIns="45720" bIns="9144" anchor="ctr">
            <a:spAutoFit/>
          </a:bodyPr>
          <a:lstStyle/>
          <a:p>
            <a:pPr algn="l"/>
            <a:r>
              <a:rPr sz="1450" b="0" i="0">
                <a:solidFill>
                  <a:srgbClr val="5B6B82"/>
                </a:solidFill>
                <a:latin typeface="Aptos"/>
              </a:rPr>
              <a:t>Draft a grounded response</a:t>
            </a:r>
          </a:p>
        </p:txBody>
      </p:sp>
      <p:sp>
        <p:nvSpPr>
          <p:cNvPr id="18" name="Rounded Rectangle 17"/>
          <p:cNvSpPr/>
          <p:nvPr/>
        </p:nvSpPr>
        <p:spPr>
          <a:xfrm>
            <a:off x="3401568" y="1627632"/>
            <a:ext cx="2551176"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01568"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30168" y="1828800"/>
            <a:ext cx="2167128" cy="438912"/>
          </a:xfrm>
          <a:prstGeom prst="rect">
            <a:avLst/>
          </a:prstGeom>
          <a:noFill/>
        </p:spPr>
        <p:txBody>
          <a:bodyPr wrap="square" lIns="45720" tIns="9144" rIns="45720" bIns="9144" anchor="ctr">
            <a:spAutoFit/>
          </a:bodyPr>
          <a:lstStyle/>
          <a:p>
            <a:pPr algn="l"/>
            <a:r>
              <a:rPr sz="1700" b="1" i="0">
                <a:solidFill>
                  <a:srgbClr val="3B6EF5"/>
                </a:solidFill>
                <a:latin typeface="Aptos"/>
              </a:rPr>
              <a:t>Answer</a:t>
            </a:r>
          </a:p>
        </p:txBody>
      </p:sp>
      <p:sp>
        <p:nvSpPr>
          <p:cNvPr id="21" name="TextBox 20"/>
          <p:cNvSpPr txBox="1"/>
          <p:nvPr/>
        </p:nvSpPr>
        <p:spPr>
          <a:xfrm>
            <a:off x="3630168" y="2432304"/>
            <a:ext cx="2167128" cy="2560320"/>
          </a:xfrm>
          <a:prstGeom prst="rect">
            <a:avLst/>
          </a:prstGeom>
          <a:noFill/>
        </p:spPr>
        <p:txBody>
          <a:bodyPr wrap="square" lIns="45720" tIns="9144" rIns="45720" bIns="9144" anchor="ctr">
            <a:spAutoFit/>
          </a:bodyPr>
          <a:lstStyle/>
          <a:p>
            <a:pPr algn="l"/>
            <a:r>
              <a:rPr sz="1450" b="0" i="0">
                <a:solidFill>
                  <a:srgbClr val="5B6B82"/>
                </a:solidFill>
                <a:latin typeface="Aptos"/>
              </a:rPr>
              <a:t>model samples output</a:t>
            </a:r>
          </a:p>
        </p:txBody>
      </p:sp>
      <p:sp>
        <p:nvSpPr>
          <p:cNvPr id="22" name="Rounded Rectangle 21"/>
          <p:cNvSpPr/>
          <p:nvPr/>
        </p:nvSpPr>
        <p:spPr>
          <a:xfrm>
            <a:off x="6208776" y="1627632"/>
            <a:ext cx="2551176"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08776"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37376" y="1828800"/>
            <a:ext cx="2167128" cy="438912"/>
          </a:xfrm>
          <a:prstGeom prst="rect">
            <a:avLst/>
          </a:prstGeom>
          <a:noFill/>
        </p:spPr>
        <p:txBody>
          <a:bodyPr wrap="square" lIns="45720" tIns="9144" rIns="45720" bIns="9144" anchor="ctr">
            <a:spAutoFit/>
          </a:bodyPr>
          <a:lstStyle/>
          <a:p>
            <a:pPr algn="l"/>
            <a:r>
              <a:rPr sz="1700" b="1" i="0">
                <a:solidFill>
                  <a:srgbClr val="F6A609"/>
                </a:solidFill>
                <a:latin typeface="Aptos"/>
              </a:rPr>
              <a:t>Reward</a:t>
            </a:r>
          </a:p>
        </p:txBody>
      </p:sp>
      <p:sp>
        <p:nvSpPr>
          <p:cNvPr id="25" name="TextBox 24"/>
          <p:cNvSpPr txBox="1"/>
          <p:nvPr/>
        </p:nvSpPr>
        <p:spPr>
          <a:xfrm>
            <a:off x="6437376" y="2432304"/>
            <a:ext cx="2167128" cy="2560320"/>
          </a:xfrm>
          <a:prstGeom prst="rect">
            <a:avLst/>
          </a:prstGeom>
          <a:noFill/>
        </p:spPr>
        <p:txBody>
          <a:bodyPr wrap="square" lIns="45720" tIns="9144" rIns="45720" bIns="9144" anchor="ctr">
            <a:spAutoFit/>
          </a:bodyPr>
          <a:lstStyle/>
          <a:p>
            <a:pPr algn="l"/>
            <a:r>
              <a:rPr sz="1450" b="0" i="0">
                <a:solidFill>
                  <a:srgbClr val="5B6B82"/>
                </a:solidFill>
                <a:latin typeface="Aptos"/>
              </a:rPr>
              <a:t>0.87</a:t>
            </a:r>
          </a:p>
        </p:txBody>
      </p:sp>
      <p:sp>
        <p:nvSpPr>
          <p:cNvPr id="26" name="Rounded Rectangle 25"/>
          <p:cNvSpPr/>
          <p:nvPr/>
        </p:nvSpPr>
        <p:spPr>
          <a:xfrm>
            <a:off x="9015984" y="1627632"/>
            <a:ext cx="2551176"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15984"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44584" y="1828800"/>
            <a:ext cx="2167128" cy="438912"/>
          </a:xfrm>
          <a:prstGeom prst="rect">
            <a:avLst/>
          </a:prstGeom>
          <a:noFill/>
        </p:spPr>
        <p:txBody>
          <a:bodyPr wrap="square" lIns="45720" tIns="9144" rIns="45720" bIns="9144" anchor="ctr">
            <a:spAutoFit/>
          </a:bodyPr>
          <a:lstStyle/>
          <a:p>
            <a:pPr algn="l"/>
            <a:r>
              <a:rPr sz="1700" b="1" i="0">
                <a:solidFill>
                  <a:srgbClr val="3B6EF5"/>
                </a:solidFill>
                <a:latin typeface="Aptos"/>
              </a:rPr>
              <a:t>Update</a:t>
            </a:r>
          </a:p>
        </p:txBody>
      </p:sp>
      <p:sp>
        <p:nvSpPr>
          <p:cNvPr id="29" name="TextBox 28"/>
          <p:cNvSpPr txBox="1"/>
          <p:nvPr/>
        </p:nvSpPr>
        <p:spPr>
          <a:xfrm>
            <a:off x="9244584" y="2432304"/>
            <a:ext cx="2167128" cy="2560320"/>
          </a:xfrm>
          <a:prstGeom prst="rect">
            <a:avLst/>
          </a:prstGeom>
          <a:noFill/>
        </p:spPr>
        <p:txBody>
          <a:bodyPr wrap="square" lIns="45720" tIns="9144" rIns="45720" bIns="9144" anchor="ctr">
            <a:spAutoFit/>
          </a:bodyPr>
          <a:lstStyle/>
          <a:p>
            <a:pPr algn="l"/>
            <a:r>
              <a:rPr sz="1450" b="0" i="0">
                <a:solidFill>
                  <a:srgbClr val="5B6B82"/>
                </a:solidFill>
                <a:latin typeface="Aptos"/>
              </a:rPr>
              <a:t>shift behavior</a:t>
            </a:r>
          </a:p>
        </p:txBody>
      </p:sp>
      <p:sp>
        <p:nvSpPr>
          <p:cNvPr id="30" name="Rounded Rectangle 29"/>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RL improves behavior by sampling outputs and optimizing feedback.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RLHF loop</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50</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50</a:t>
            </a:r>
          </a:p>
        </p:txBody>
      </p:sp>
      <p:sp>
        <p:nvSpPr>
          <p:cNvPr id="15" name="Rounded Rectangle 14"/>
          <p:cNvSpPr/>
          <p:nvPr/>
        </p:nvSpPr>
        <p:spPr>
          <a:xfrm>
            <a:off x="59436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Policy</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Rollout</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Reward</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Update</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Eval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62854"/>
            <a:ext cx="9784080" cy="480131"/>
          </a:xfrm>
          <a:prstGeom prst="rect">
            <a:avLst/>
          </a:prstGeom>
          <a:noFill/>
        </p:spPr>
        <p:txBody>
          <a:bodyPr wrap="square" lIns="45720" tIns="9144" rIns="45720" bIns="9144" anchor="ctr">
            <a:spAutoFit/>
          </a:bodyPr>
          <a:lstStyle/>
          <a:p>
            <a:r>
              <a:rPr lang="en-US" sz="3000" b="1">
                <a:solidFill>
                  <a:srgbClr val="0F1E3D"/>
                </a:solidFill>
                <a:latin typeface="Aptos"/>
              </a:rPr>
              <a:t>Proximal Policy Optimization (PPO)</a:t>
            </a:r>
            <a:r>
              <a:rPr sz="3000" b="1" i="0">
                <a:solidFill>
                  <a:srgbClr val="0F1E3D"/>
                </a:solidFill>
                <a:latin typeface="Aptos"/>
              </a:rPr>
              <a:t> intuition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51</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51</a:t>
            </a:r>
          </a:p>
        </p:txBody>
      </p:sp>
      <p:sp>
        <p:nvSpPr>
          <p:cNvPr id="15" name="Rounded Rectangle 14"/>
          <p:cNvSpPr/>
          <p:nvPr/>
        </p:nvSpPr>
        <p:spPr>
          <a:xfrm>
            <a:off x="594360" y="1600200"/>
            <a:ext cx="10972800" cy="1042415"/>
          </a:xfrm>
          <a:prstGeom prst="roundRect">
            <a:avLst/>
          </a:prstGeom>
          <a:solidFill>
            <a:srgbClr val="FFFFFF"/>
          </a:solidFill>
          <a:ln w="1905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1783080"/>
            <a:ext cx="10607040" cy="640080"/>
          </a:xfrm>
          <a:prstGeom prst="rect">
            <a:avLst/>
          </a:prstGeom>
          <a:noFill/>
        </p:spPr>
        <p:txBody>
          <a:bodyPr wrap="square" lIns="45720" tIns="9144" rIns="45720" bIns="9144" anchor="ctr">
            <a:spAutoFit/>
          </a:bodyPr>
          <a:lstStyle/>
          <a:p>
            <a:pPr algn="ctr"/>
            <a:r>
              <a:rPr sz="2800" b="1" i="0">
                <a:solidFill>
                  <a:srgbClr val="0F1E3D"/>
                </a:solidFill>
                <a:latin typeface="Aptos"/>
              </a:rPr>
              <a:t>Objective ≈ Reward − λ KL(π || πref)</a:t>
            </a:r>
          </a:p>
        </p:txBody>
      </p:sp>
      <p:sp>
        <p:nvSpPr>
          <p:cNvPr id="17" name="Rounded Rectangle 16"/>
          <p:cNvSpPr/>
          <p:nvPr/>
        </p:nvSpPr>
        <p:spPr>
          <a:xfrm>
            <a:off x="594360" y="2971800"/>
            <a:ext cx="544068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2971800"/>
            <a:ext cx="73152" cy="2359152"/>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172968"/>
            <a:ext cx="5056632" cy="438912"/>
          </a:xfrm>
          <a:prstGeom prst="rect">
            <a:avLst/>
          </a:prstGeom>
          <a:noFill/>
        </p:spPr>
        <p:txBody>
          <a:bodyPr wrap="square" lIns="45720" tIns="9144" rIns="45720" bIns="9144" anchor="ctr">
            <a:spAutoFit/>
          </a:bodyPr>
          <a:lstStyle/>
          <a:p>
            <a:pPr algn="l"/>
            <a:r>
              <a:rPr sz="1700" b="1" i="0">
                <a:solidFill>
                  <a:srgbClr val="0FB5A6"/>
                </a:solidFill>
                <a:latin typeface="Aptos"/>
              </a:rPr>
              <a:t>Symbols</a:t>
            </a:r>
          </a:p>
        </p:txBody>
      </p:sp>
      <p:sp>
        <p:nvSpPr>
          <p:cNvPr id="20" name="TextBox 19"/>
          <p:cNvSpPr txBox="1"/>
          <p:nvPr/>
        </p:nvSpPr>
        <p:spPr>
          <a:xfrm>
            <a:off x="822960" y="3776472"/>
            <a:ext cx="5056632" cy="1426464"/>
          </a:xfrm>
          <a:prstGeom prst="rect">
            <a:avLst/>
          </a:prstGeom>
          <a:noFill/>
        </p:spPr>
        <p:txBody>
          <a:bodyPr wrap="square" lIns="45720" tIns="9144" rIns="45720" bIns="9144" anchor="ctr">
            <a:spAutoFit/>
          </a:bodyPr>
          <a:lstStyle/>
          <a:p>
            <a:pPr algn="l"/>
            <a:r>
              <a:rPr sz="1260" b="0" i="0">
                <a:solidFill>
                  <a:srgbClr val="5B6B82"/>
                </a:solidFill>
                <a:latin typeface="Aptos"/>
              </a:rPr>
              <a:t>Reward = quality score from grader/RM
λ = strength of KL penalty
KL = divergence from reference policy
π = current policy being trained
πref = reference / starting policy</a:t>
            </a:r>
          </a:p>
        </p:txBody>
      </p:sp>
      <p:sp>
        <p:nvSpPr>
          <p:cNvPr id="21" name="Rounded Rectangle 20"/>
          <p:cNvSpPr/>
          <p:nvPr/>
        </p:nvSpPr>
        <p:spPr>
          <a:xfrm>
            <a:off x="6309360" y="2971800"/>
            <a:ext cx="525780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2971800"/>
            <a:ext cx="73152" cy="2359152"/>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3172968"/>
            <a:ext cx="4873752" cy="438912"/>
          </a:xfrm>
          <a:prstGeom prst="rect">
            <a:avLst/>
          </a:prstGeom>
          <a:noFill/>
        </p:spPr>
        <p:txBody>
          <a:bodyPr wrap="square" lIns="45720" tIns="9144" rIns="45720" bIns="9144" anchor="ctr">
            <a:spAutoFit/>
          </a:bodyPr>
          <a:lstStyle/>
          <a:p>
            <a:pPr algn="l"/>
            <a:r>
              <a:rPr sz="1700" b="1" i="0">
                <a:solidFill>
                  <a:srgbClr val="F6A609"/>
                </a:solidFill>
                <a:latin typeface="Aptos"/>
              </a:rPr>
              <a:t>Interpretation</a:t>
            </a:r>
          </a:p>
        </p:txBody>
      </p:sp>
      <p:sp>
        <p:nvSpPr>
          <p:cNvPr id="24" name="TextBox 23"/>
          <p:cNvSpPr txBox="1"/>
          <p:nvPr/>
        </p:nvSpPr>
        <p:spPr>
          <a:xfrm>
            <a:off x="6537960" y="3776472"/>
            <a:ext cx="4873752" cy="1426464"/>
          </a:xfrm>
          <a:prstGeom prst="rect">
            <a:avLst/>
          </a:prstGeom>
          <a:noFill/>
        </p:spPr>
        <p:txBody>
          <a:bodyPr wrap="square" lIns="45720" tIns="9144" rIns="45720" bIns="9144" anchor="ctr">
            <a:spAutoFit/>
          </a:bodyPr>
          <a:lstStyle/>
          <a:p>
            <a:pPr algn="l"/>
            <a:r>
              <a:rPr sz="1400" b="0" i="0">
                <a:solidFill>
                  <a:srgbClr val="5B6B82"/>
                </a:solidFill>
                <a:latin typeface="Aptos"/>
              </a:rPr>
              <a:t>Improve rewarded behavior while preventing the policy from drifting too far.</a:t>
            </a:r>
          </a:p>
        </p:txBody>
      </p:sp>
      <p:sp>
        <p:nvSpPr>
          <p:cNvPr id="25" name="Rounded Rectangle 24"/>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Ticket prompt asks “who owns the Auth outage?” Reward favors grounded owner + next action; KL keeps the answer close to the SFT style.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KL regularization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52</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52</a:t>
            </a:r>
          </a:p>
        </p:txBody>
      </p:sp>
      <p:sp>
        <p:nvSpPr>
          <p:cNvPr id="15" name="Rounded Rectangle 14"/>
          <p:cNvSpPr/>
          <p:nvPr/>
        </p:nvSpPr>
        <p:spPr>
          <a:xfrm>
            <a:off x="594360" y="1600200"/>
            <a:ext cx="10972800" cy="1042415"/>
          </a:xfrm>
          <a:prstGeom prst="roundRect">
            <a:avLst/>
          </a:prstGeom>
          <a:solidFill>
            <a:srgbClr val="FFFFFF"/>
          </a:solidFill>
          <a:ln w="1905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1783080"/>
            <a:ext cx="10607040" cy="640080"/>
          </a:xfrm>
          <a:prstGeom prst="rect">
            <a:avLst/>
          </a:prstGeom>
          <a:noFill/>
        </p:spPr>
        <p:txBody>
          <a:bodyPr wrap="square" lIns="45720" tIns="9144" rIns="45720" bIns="9144" anchor="ctr">
            <a:spAutoFit/>
          </a:bodyPr>
          <a:lstStyle/>
          <a:p>
            <a:pPr algn="ctr"/>
            <a:r>
              <a:rPr sz="2800" b="1" i="0">
                <a:solidFill>
                  <a:srgbClr val="0F1E3D"/>
                </a:solidFill>
                <a:latin typeface="Aptos"/>
              </a:rPr>
              <a:t>KL(π || πref)</a:t>
            </a:r>
          </a:p>
        </p:txBody>
      </p:sp>
      <p:sp>
        <p:nvSpPr>
          <p:cNvPr id="17" name="Rounded Rectangle 16"/>
          <p:cNvSpPr/>
          <p:nvPr/>
        </p:nvSpPr>
        <p:spPr>
          <a:xfrm>
            <a:off x="594360" y="2971800"/>
            <a:ext cx="544068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2971800"/>
            <a:ext cx="73152" cy="2359152"/>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172968"/>
            <a:ext cx="5056632" cy="438912"/>
          </a:xfrm>
          <a:prstGeom prst="rect">
            <a:avLst/>
          </a:prstGeom>
          <a:noFill/>
        </p:spPr>
        <p:txBody>
          <a:bodyPr wrap="square" lIns="45720" tIns="9144" rIns="45720" bIns="9144" anchor="ctr">
            <a:spAutoFit/>
          </a:bodyPr>
          <a:lstStyle/>
          <a:p>
            <a:pPr algn="l"/>
            <a:r>
              <a:rPr sz="1700" b="1" i="0">
                <a:solidFill>
                  <a:srgbClr val="0FB5A6"/>
                </a:solidFill>
                <a:latin typeface="Aptos"/>
              </a:rPr>
              <a:t>Symbols</a:t>
            </a:r>
          </a:p>
        </p:txBody>
      </p:sp>
      <p:sp>
        <p:nvSpPr>
          <p:cNvPr id="20" name="TextBox 19"/>
          <p:cNvSpPr txBox="1"/>
          <p:nvPr/>
        </p:nvSpPr>
        <p:spPr>
          <a:xfrm>
            <a:off x="822960" y="3776472"/>
            <a:ext cx="5056632" cy="1426464"/>
          </a:xfrm>
          <a:prstGeom prst="rect">
            <a:avLst/>
          </a:prstGeom>
          <a:noFill/>
        </p:spPr>
        <p:txBody>
          <a:bodyPr wrap="square" lIns="45720" tIns="9144" rIns="45720" bIns="9144" anchor="ctr">
            <a:spAutoFit/>
          </a:bodyPr>
          <a:lstStyle/>
          <a:p>
            <a:pPr algn="l"/>
            <a:r>
              <a:rPr sz="1260" b="0" i="0">
                <a:solidFill>
                  <a:srgbClr val="5B6B82"/>
                </a:solidFill>
                <a:latin typeface="Aptos"/>
              </a:rPr>
              <a:t>π = current policy
πref = reference policy
KL = how different π is from πref
large KL = behavior drift
small KL = behavior stays close</a:t>
            </a:r>
          </a:p>
        </p:txBody>
      </p:sp>
      <p:sp>
        <p:nvSpPr>
          <p:cNvPr id="21" name="Rounded Rectangle 20"/>
          <p:cNvSpPr/>
          <p:nvPr/>
        </p:nvSpPr>
        <p:spPr>
          <a:xfrm>
            <a:off x="6309360" y="2971800"/>
            <a:ext cx="525780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2971800"/>
            <a:ext cx="73152" cy="2359152"/>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3172968"/>
            <a:ext cx="4873752" cy="438912"/>
          </a:xfrm>
          <a:prstGeom prst="rect">
            <a:avLst/>
          </a:prstGeom>
          <a:noFill/>
        </p:spPr>
        <p:txBody>
          <a:bodyPr wrap="square" lIns="45720" tIns="9144" rIns="45720" bIns="9144" anchor="ctr">
            <a:spAutoFit/>
          </a:bodyPr>
          <a:lstStyle/>
          <a:p>
            <a:pPr algn="l"/>
            <a:r>
              <a:rPr sz="1700" b="1" i="0">
                <a:solidFill>
                  <a:srgbClr val="F6A609"/>
                </a:solidFill>
                <a:latin typeface="Aptos"/>
              </a:rPr>
              <a:t>Interpretation</a:t>
            </a:r>
          </a:p>
        </p:txBody>
      </p:sp>
      <p:sp>
        <p:nvSpPr>
          <p:cNvPr id="24" name="TextBox 23"/>
          <p:cNvSpPr txBox="1"/>
          <p:nvPr/>
        </p:nvSpPr>
        <p:spPr>
          <a:xfrm>
            <a:off x="6537960" y="3776472"/>
            <a:ext cx="4873752" cy="1426464"/>
          </a:xfrm>
          <a:prstGeom prst="rect">
            <a:avLst/>
          </a:prstGeom>
          <a:noFill/>
        </p:spPr>
        <p:txBody>
          <a:bodyPr wrap="square" lIns="45720" tIns="9144" rIns="45720" bIns="9144" anchor="ctr">
            <a:spAutoFit/>
          </a:bodyPr>
          <a:lstStyle/>
          <a:p>
            <a:pPr algn="l"/>
            <a:r>
              <a:rPr sz="1400" b="0" i="0">
                <a:solidFill>
                  <a:srgbClr val="5B6B82"/>
                </a:solidFill>
                <a:latin typeface="Aptos"/>
              </a:rPr>
              <a:t>KL regularization is the “stay close” term in RLHF-style training.</a:t>
            </a:r>
          </a:p>
        </p:txBody>
      </p:sp>
      <p:sp>
        <p:nvSpPr>
          <p:cNvPr id="25" name="Rounded Rectangle 24"/>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If the new policy starts inventing owners to earn actionability reward, KL pulls it back toward the reference behavior.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PPO end-to-end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53</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53</a:t>
            </a:r>
          </a:p>
        </p:txBody>
      </p:sp>
      <p:sp>
        <p:nvSpPr>
          <p:cNvPr id="14" name="Rounded Rectangle 13"/>
          <p:cNvSpPr/>
          <p:nvPr/>
        </p:nvSpPr>
        <p:spPr>
          <a:xfrm>
            <a:off x="594360"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3102864" cy="438912"/>
          </a:xfrm>
          <a:prstGeom prst="rect">
            <a:avLst/>
          </a:prstGeom>
          <a:noFill/>
        </p:spPr>
        <p:txBody>
          <a:bodyPr wrap="square" lIns="45720" tIns="9144" rIns="45720" bIns="9144" anchor="ctr">
            <a:spAutoFit/>
          </a:bodyPr>
          <a:lstStyle/>
          <a:p>
            <a:pPr algn="l"/>
            <a:r>
              <a:rPr sz="1700" b="1" i="0">
                <a:solidFill>
                  <a:srgbClr val="0FB5A6"/>
                </a:solidFill>
                <a:latin typeface="Aptos"/>
              </a:rPr>
              <a:t>1. Sample</a:t>
            </a:r>
          </a:p>
        </p:txBody>
      </p:sp>
      <p:sp>
        <p:nvSpPr>
          <p:cNvPr id="17" name="TextBox 16"/>
          <p:cNvSpPr txBox="1"/>
          <p:nvPr/>
        </p:nvSpPr>
        <p:spPr>
          <a:xfrm>
            <a:off x="822960"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Prompt: solve a support-routing task
Policy proposes an answer</a:t>
            </a:r>
          </a:p>
        </p:txBody>
      </p:sp>
      <p:sp>
        <p:nvSpPr>
          <p:cNvPr id="18" name="Rounded Rectangle 17"/>
          <p:cNvSpPr/>
          <p:nvPr/>
        </p:nvSpPr>
        <p:spPr>
          <a:xfrm>
            <a:off x="4337304"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37304"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65904" y="1828800"/>
            <a:ext cx="3102864" cy="438912"/>
          </a:xfrm>
          <a:prstGeom prst="rect">
            <a:avLst/>
          </a:prstGeom>
          <a:noFill/>
        </p:spPr>
        <p:txBody>
          <a:bodyPr wrap="square" lIns="45720" tIns="9144" rIns="45720" bIns="9144" anchor="ctr">
            <a:spAutoFit/>
          </a:bodyPr>
          <a:lstStyle/>
          <a:p>
            <a:pPr algn="l"/>
            <a:r>
              <a:rPr sz="1700" b="1" i="0">
                <a:solidFill>
                  <a:srgbClr val="F6A609"/>
                </a:solidFill>
                <a:latin typeface="Aptos"/>
              </a:rPr>
              <a:t>2. Score</a:t>
            </a:r>
          </a:p>
        </p:txBody>
      </p:sp>
      <p:sp>
        <p:nvSpPr>
          <p:cNvPr id="21" name="TextBox 20"/>
          <p:cNvSpPr txBox="1"/>
          <p:nvPr/>
        </p:nvSpPr>
        <p:spPr>
          <a:xfrm>
            <a:off x="4565904"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Reward model scores groundedness, actionability, safety</a:t>
            </a:r>
          </a:p>
        </p:txBody>
      </p:sp>
      <p:sp>
        <p:nvSpPr>
          <p:cNvPr id="22" name="Rounded Rectangle 21"/>
          <p:cNvSpPr/>
          <p:nvPr/>
        </p:nvSpPr>
        <p:spPr>
          <a:xfrm>
            <a:off x="8080247"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0247"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8847" y="1828800"/>
            <a:ext cx="3102864" cy="438912"/>
          </a:xfrm>
          <a:prstGeom prst="rect">
            <a:avLst/>
          </a:prstGeom>
          <a:noFill/>
        </p:spPr>
        <p:txBody>
          <a:bodyPr wrap="square" lIns="45720" tIns="9144" rIns="45720" bIns="9144" anchor="ctr">
            <a:spAutoFit/>
          </a:bodyPr>
          <a:lstStyle/>
          <a:p>
            <a:pPr algn="l"/>
            <a:r>
              <a:rPr sz="1700" b="1" i="0">
                <a:solidFill>
                  <a:srgbClr val="3B6EF5"/>
                </a:solidFill>
                <a:latin typeface="Aptos"/>
              </a:rPr>
              <a:t>3. Update</a:t>
            </a:r>
          </a:p>
        </p:txBody>
      </p:sp>
      <p:sp>
        <p:nvSpPr>
          <p:cNvPr id="25" name="TextBox 24"/>
          <p:cNvSpPr txBox="1"/>
          <p:nvPr/>
        </p:nvSpPr>
        <p:spPr>
          <a:xfrm>
            <a:off x="8308847"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Improve high-advantage tokens, clip large changes, apply KL penalty</a:t>
            </a:r>
          </a:p>
        </p:txBody>
      </p:sp>
      <p:sp>
        <p:nvSpPr>
          <p:cNvPr id="26" name="Rounded Rectangle 25"/>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PPO optimizes rewarded behavior while clipping updates and bounding drift.</a:t>
            </a:r>
          </a:p>
        </p:txBody>
      </p:sp>
      <p:sp>
        <p:nvSpPr>
          <p:cNvPr id="28" name="Rounded Rectangle 27"/>
          <p:cNvSpPr/>
          <p:nvPr/>
        </p:nvSpPr>
        <p:spPr>
          <a:xfrm>
            <a:off x="544866" y="5122962"/>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Sample 4 ticket triage replies, score grounding/actionability/safety, then reinforce high-advantage wording while clipping large jumps.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Offline vs online policy updates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55</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55</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964531"/>
            <a:ext cx="3078480" cy="295466"/>
          </a:xfrm>
          <a:prstGeom prst="rect">
            <a:avLst/>
          </a:prstGeom>
          <a:noFill/>
        </p:spPr>
        <p:txBody>
          <a:bodyPr wrap="square" lIns="45720" tIns="9144" rIns="45720" bIns="9144" anchor="ctr">
            <a:spAutoFit/>
          </a:bodyPr>
          <a:lstStyle/>
          <a:p>
            <a:r>
              <a:rPr sz="1800" b="1" i="0">
                <a:solidFill>
                  <a:srgbClr val="0FB5A6"/>
                </a:solidFill>
                <a:latin typeface="Aptos"/>
              </a:rPr>
              <a:t>Offline</a:t>
            </a:r>
            <a:r>
              <a:rPr lang="en-US" b="1">
                <a:solidFill>
                  <a:srgbClr val="0FB5A6"/>
                </a:solidFill>
                <a:latin typeface="Aptos"/>
              </a:rPr>
              <a:t> (like DPO)</a:t>
            </a:r>
            <a:endParaRPr sz="1800" b="1" i="0">
              <a:solidFill>
                <a:srgbClr val="0FB5A6"/>
              </a:solidFill>
              <a:latin typeface="Aptos"/>
            </a:endParaRP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safer; historical logs</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964531"/>
            <a:ext cx="3078480" cy="295466"/>
          </a:xfrm>
          <a:prstGeom prst="rect">
            <a:avLst/>
          </a:prstGeom>
          <a:noFill/>
        </p:spPr>
        <p:txBody>
          <a:bodyPr wrap="square" lIns="45720" tIns="9144" rIns="45720" bIns="9144" anchor="ctr">
            <a:spAutoFit/>
          </a:bodyPr>
          <a:lstStyle/>
          <a:p>
            <a:r>
              <a:rPr sz="1800" b="1" i="0">
                <a:solidFill>
                  <a:srgbClr val="F6A609"/>
                </a:solidFill>
                <a:latin typeface="Aptos"/>
              </a:rPr>
              <a:t>Online</a:t>
            </a:r>
            <a:r>
              <a:rPr lang="en-US" b="1">
                <a:solidFill>
                  <a:srgbClr val="F6A609"/>
                </a:solidFill>
                <a:latin typeface="Aptos"/>
              </a:rPr>
              <a:t> (like PPO)</a:t>
            </a:r>
            <a:endParaRPr sz="1800" b="1" i="0">
              <a:solidFill>
                <a:srgbClr val="F6A609"/>
              </a:solidFill>
              <a:latin typeface="Aptos"/>
            </a:endParaRP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fresh; stronger controls</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Evaluation</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compare against baselines</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Offline: train from historical ticket logs. Online: sample fresh replies against a reward model, with stricter eval gates.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62854"/>
            <a:ext cx="9784080" cy="480131"/>
          </a:xfrm>
          <a:prstGeom prst="rect">
            <a:avLst/>
          </a:prstGeom>
          <a:noFill/>
        </p:spPr>
        <p:txBody>
          <a:bodyPr wrap="square" lIns="45720" tIns="9144" rIns="45720" bIns="9144" anchor="ctr">
            <a:spAutoFit/>
          </a:bodyPr>
          <a:lstStyle/>
          <a:p>
            <a:r>
              <a:rPr sz="3000" b="1" i="0">
                <a:solidFill>
                  <a:srgbClr val="0F1E3D"/>
                </a:solidFill>
                <a:latin typeface="Aptos"/>
              </a:rPr>
              <a:t>PPO has a critic problem</a:t>
            </a:r>
            <a:r>
              <a:rPr lang="en-US" sz="3000" b="1">
                <a:solidFill>
                  <a:srgbClr val="0F1E3D"/>
                </a:solidFill>
                <a:latin typeface="Aptos"/>
              </a:rPr>
              <a:t> -&gt; GRPO</a:t>
            </a:r>
            <a:endParaRPr sz="3000" b="1" i="0">
              <a:solidFill>
                <a:srgbClr val="0F1E3D"/>
              </a:solidFill>
              <a:latin typeface="Aptos"/>
            </a:endParaRP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56</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56</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PPO critic</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requires value estimation / baseline</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Cost</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extra model state and tuning burden</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Instability</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bad value estimates distort advantages</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A critic estimates expected reward for a ticket reply before final scoring; bad estimates can push PPO toward the wrong tokens.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62854"/>
            <a:ext cx="9784080" cy="480131"/>
          </a:xfrm>
          <a:prstGeom prst="rect">
            <a:avLst/>
          </a:prstGeom>
          <a:noFill/>
        </p:spPr>
        <p:txBody>
          <a:bodyPr wrap="square" lIns="45720" tIns="9144" rIns="45720" bIns="9144" anchor="ctr">
            <a:spAutoFit/>
          </a:bodyPr>
          <a:lstStyle/>
          <a:p>
            <a:r>
              <a:rPr lang="en-US" sz="3000" b="1" dirty="0">
                <a:solidFill>
                  <a:srgbClr val="0F1E3D"/>
                </a:solidFill>
                <a:latin typeface="Aptos"/>
              </a:rPr>
              <a:t>Group </a:t>
            </a:r>
            <a:r>
              <a:rPr lang="en-US" sz="3000" b="1">
                <a:solidFill>
                  <a:srgbClr val="0F1E3D"/>
                </a:solidFill>
                <a:latin typeface="Aptos"/>
              </a:rPr>
              <a:t>Relative</a:t>
            </a:r>
            <a:r>
              <a:rPr lang="en-US" sz="3000" b="1" dirty="0">
                <a:solidFill>
                  <a:srgbClr val="0F1E3D"/>
                </a:solidFill>
                <a:latin typeface="Aptos"/>
              </a:rPr>
              <a:t> Policy Optimization (GRPO)</a:t>
            </a:r>
            <a:r>
              <a:rPr sz="3000" b="1" i="0" dirty="0">
                <a:solidFill>
                  <a:srgbClr val="0F1E3D"/>
                </a:solidFill>
                <a:latin typeface="Aptos"/>
              </a:rPr>
              <a:t> intuition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57</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57</a:t>
            </a:r>
          </a:p>
        </p:txBody>
      </p:sp>
      <p:sp>
        <p:nvSpPr>
          <p:cNvPr id="15" name="Rounded Rectangle 14"/>
          <p:cNvSpPr/>
          <p:nvPr/>
        </p:nvSpPr>
        <p:spPr>
          <a:xfrm>
            <a:off x="59436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Prompt</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Sample G answers</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Score each</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Normalize within group</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Update policy</a:t>
            </a:r>
          </a:p>
        </p:txBody>
      </p:sp>
      <p:sp>
        <p:nvSpPr>
          <p:cNvPr id="29" name="Rounded Rectangle 28"/>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For one ticket prompt, sample 6 replies, score each, compare within that group, then reinforce the best grounded reply.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GRPO advantage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58</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58</a:t>
            </a:r>
          </a:p>
        </p:txBody>
      </p:sp>
      <p:sp>
        <p:nvSpPr>
          <p:cNvPr id="15" name="Rounded Rectangle 14"/>
          <p:cNvSpPr/>
          <p:nvPr/>
        </p:nvSpPr>
        <p:spPr>
          <a:xfrm>
            <a:off x="594360" y="1600200"/>
            <a:ext cx="10972800" cy="1042415"/>
          </a:xfrm>
          <a:prstGeom prst="roundRect">
            <a:avLst/>
          </a:prstGeom>
          <a:solidFill>
            <a:srgbClr val="FFFFFF"/>
          </a:solidFill>
          <a:ln w="1905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1783080"/>
            <a:ext cx="10607040" cy="640080"/>
          </a:xfrm>
          <a:prstGeom prst="rect">
            <a:avLst/>
          </a:prstGeom>
          <a:noFill/>
        </p:spPr>
        <p:txBody>
          <a:bodyPr wrap="square" lIns="45720" tIns="9144" rIns="45720" bIns="9144" anchor="ctr">
            <a:spAutoFit/>
          </a:bodyPr>
          <a:lstStyle/>
          <a:p>
            <a:pPr algn="ctr"/>
            <a:r>
              <a:rPr sz="2800" b="1" i="0">
                <a:solidFill>
                  <a:srgbClr val="0F1E3D"/>
                </a:solidFill>
                <a:latin typeface="Aptos"/>
              </a:rPr>
              <a:t>Aᵢ = (rᵢ − mean(r_group)) / std(r_group)</a:t>
            </a:r>
          </a:p>
        </p:txBody>
      </p:sp>
      <p:sp>
        <p:nvSpPr>
          <p:cNvPr id="17" name="Rounded Rectangle 16"/>
          <p:cNvSpPr/>
          <p:nvPr/>
        </p:nvSpPr>
        <p:spPr>
          <a:xfrm>
            <a:off x="594360" y="2971800"/>
            <a:ext cx="544068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2971800"/>
            <a:ext cx="73152" cy="2359152"/>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172968"/>
            <a:ext cx="5056632" cy="438912"/>
          </a:xfrm>
          <a:prstGeom prst="rect">
            <a:avLst/>
          </a:prstGeom>
          <a:noFill/>
        </p:spPr>
        <p:txBody>
          <a:bodyPr wrap="square" lIns="45720" tIns="9144" rIns="45720" bIns="9144" anchor="ctr">
            <a:spAutoFit/>
          </a:bodyPr>
          <a:lstStyle/>
          <a:p>
            <a:pPr algn="l"/>
            <a:r>
              <a:rPr sz="1700" b="1" i="0">
                <a:solidFill>
                  <a:srgbClr val="0FB5A6"/>
                </a:solidFill>
                <a:latin typeface="Aptos"/>
              </a:rPr>
              <a:t>Symbols</a:t>
            </a:r>
          </a:p>
        </p:txBody>
      </p:sp>
      <p:sp>
        <p:nvSpPr>
          <p:cNvPr id="20" name="TextBox 19"/>
          <p:cNvSpPr txBox="1"/>
          <p:nvPr/>
        </p:nvSpPr>
        <p:spPr>
          <a:xfrm>
            <a:off x="822960" y="3776472"/>
            <a:ext cx="5056632" cy="1426464"/>
          </a:xfrm>
          <a:prstGeom prst="rect">
            <a:avLst/>
          </a:prstGeom>
          <a:noFill/>
        </p:spPr>
        <p:txBody>
          <a:bodyPr wrap="square" lIns="45720" tIns="9144" rIns="45720" bIns="9144" anchor="ctr">
            <a:spAutoFit/>
          </a:bodyPr>
          <a:lstStyle/>
          <a:p>
            <a:pPr algn="l"/>
            <a:r>
              <a:rPr sz="1260" b="0" i="0">
                <a:solidFill>
                  <a:srgbClr val="5B6B82"/>
                </a:solidFill>
                <a:latin typeface="Aptos"/>
              </a:rPr>
              <a:t>rᵢ = reward of completion i
r_group = rewards for all completions for the same prompt
mean = group baseline
std = group reward scale
Aᵢ = relative advantage within the group</a:t>
            </a:r>
          </a:p>
        </p:txBody>
      </p:sp>
      <p:sp>
        <p:nvSpPr>
          <p:cNvPr id="21" name="Rounded Rectangle 20"/>
          <p:cNvSpPr/>
          <p:nvPr/>
        </p:nvSpPr>
        <p:spPr>
          <a:xfrm>
            <a:off x="6309360" y="2971800"/>
            <a:ext cx="525780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2971800"/>
            <a:ext cx="73152" cy="2359152"/>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3172968"/>
            <a:ext cx="4873752" cy="438912"/>
          </a:xfrm>
          <a:prstGeom prst="rect">
            <a:avLst/>
          </a:prstGeom>
          <a:noFill/>
        </p:spPr>
        <p:txBody>
          <a:bodyPr wrap="square" lIns="45720" tIns="9144" rIns="45720" bIns="9144" anchor="ctr">
            <a:spAutoFit/>
          </a:bodyPr>
          <a:lstStyle/>
          <a:p>
            <a:pPr algn="l"/>
            <a:r>
              <a:rPr sz="1700" b="1" i="0">
                <a:solidFill>
                  <a:srgbClr val="F6A609"/>
                </a:solidFill>
                <a:latin typeface="Aptos"/>
              </a:rPr>
              <a:t>Interpretation</a:t>
            </a:r>
          </a:p>
        </p:txBody>
      </p:sp>
      <p:sp>
        <p:nvSpPr>
          <p:cNvPr id="24" name="TextBox 23"/>
          <p:cNvSpPr txBox="1"/>
          <p:nvPr/>
        </p:nvSpPr>
        <p:spPr>
          <a:xfrm>
            <a:off x="6537960" y="3776472"/>
            <a:ext cx="4873752" cy="1426464"/>
          </a:xfrm>
          <a:prstGeom prst="rect">
            <a:avLst/>
          </a:prstGeom>
          <a:noFill/>
        </p:spPr>
        <p:txBody>
          <a:bodyPr wrap="square" lIns="45720" tIns="9144" rIns="45720" bIns="9144" anchor="ctr">
            <a:spAutoFit/>
          </a:bodyPr>
          <a:lstStyle/>
          <a:p>
            <a:pPr algn="l"/>
            <a:r>
              <a:rPr sz="1400" b="0" i="0">
                <a:solidFill>
                  <a:srgbClr val="5B6B82"/>
                </a:solidFill>
                <a:latin typeface="Aptos"/>
              </a:rPr>
              <a:t>A completion is reinforced when it beats peers for the same prompt, avoiding a separate critic.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GRPO example: verifiable reward</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59</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59</a:t>
            </a:r>
          </a:p>
        </p:txBody>
      </p:sp>
      <p:sp>
        <p:nvSpPr>
          <p:cNvPr id="14" name="Rounded Rectangle 13"/>
          <p:cNvSpPr/>
          <p:nvPr/>
        </p:nvSpPr>
        <p:spPr>
          <a:xfrm>
            <a:off x="594360"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3102864" cy="438912"/>
          </a:xfrm>
          <a:prstGeom prst="rect">
            <a:avLst/>
          </a:prstGeom>
          <a:noFill/>
        </p:spPr>
        <p:txBody>
          <a:bodyPr wrap="square" lIns="45720" tIns="9144" rIns="45720" bIns="9144" anchor="ctr">
            <a:spAutoFit/>
          </a:bodyPr>
          <a:lstStyle/>
          <a:p>
            <a:pPr algn="l"/>
            <a:r>
              <a:rPr sz="1700" b="1" i="0">
                <a:solidFill>
                  <a:srgbClr val="0FB5A6"/>
                </a:solidFill>
                <a:latin typeface="Aptos"/>
              </a:rPr>
              <a:t>Group samples</a:t>
            </a:r>
          </a:p>
        </p:txBody>
      </p:sp>
      <p:sp>
        <p:nvSpPr>
          <p:cNvPr id="17" name="TextBox 16"/>
          <p:cNvSpPr txBox="1"/>
          <p:nvPr/>
        </p:nvSpPr>
        <p:spPr>
          <a:xfrm>
            <a:off x="822960" y="3368523"/>
            <a:ext cx="3102864" cy="687881"/>
          </a:xfrm>
          <a:prstGeom prst="rect">
            <a:avLst/>
          </a:prstGeom>
          <a:noFill/>
        </p:spPr>
        <p:txBody>
          <a:bodyPr wrap="square" lIns="45720" tIns="9144" rIns="45720" bIns="9144" anchor="ctr">
            <a:spAutoFit/>
          </a:bodyPr>
          <a:lstStyle/>
          <a:p>
            <a:r>
              <a:rPr sz="1450" b="0" i="0" dirty="0">
                <a:solidFill>
                  <a:srgbClr val="5B6B82"/>
                </a:solidFill>
                <a:latin typeface="Aptos"/>
              </a:rPr>
              <a:t>Answer A: correct</a:t>
            </a:r>
            <a:r>
              <a:rPr lang="en-US" sz="1450" dirty="0">
                <a:solidFill>
                  <a:srgbClr val="5B6B82"/>
                </a:solidFill>
                <a:latin typeface="Aptos"/>
              </a:rPr>
              <a:t> to Auth</a:t>
            </a:r>
            <a:r>
              <a:rPr sz="1450" b="0" i="0" dirty="0">
                <a:solidFill>
                  <a:srgbClr val="5B6B82"/>
                </a:solidFill>
                <a:latin typeface="Aptos"/>
              </a:rPr>
              <a:t>
Answer B: </a:t>
            </a:r>
            <a:r>
              <a:rPr lang="en-US" sz="1450">
                <a:solidFill>
                  <a:srgbClr val="5B6B82"/>
                </a:solidFill>
                <a:latin typeface="Aptos"/>
              </a:rPr>
              <a:t>value "contact support"</a:t>
            </a:r>
            <a:r>
              <a:rPr sz="1450" b="0" i="0" dirty="0">
                <a:solidFill>
                  <a:srgbClr val="5B6B82"/>
                </a:solidFill>
                <a:latin typeface="Aptos"/>
              </a:rPr>
              <a:t>
</a:t>
            </a:r>
            <a:r>
              <a:rPr sz="1450" b="0" i="0">
                <a:solidFill>
                  <a:srgbClr val="5B6B82"/>
                </a:solidFill>
                <a:latin typeface="Aptos"/>
              </a:rPr>
              <a:t>Answer C: </a:t>
            </a:r>
            <a:r>
              <a:rPr lang="en-US" sz="1450">
                <a:solidFill>
                  <a:srgbClr val="5B6B82"/>
                </a:solidFill>
                <a:latin typeface="Aptos"/>
              </a:rPr>
              <a:t>partial owner</a:t>
            </a:r>
            <a:endParaRPr sz="1450" b="0" i="0">
              <a:solidFill>
                <a:srgbClr val="5B6B82"/>
              </a:solidFill>
              <a:latin typeface="Aptos"/>
            </a:endParaRPr>
          </a:p>
        </p:txBody>
      </p:sp>
      <p:sp>
        <p:nvSpPr>
          <p:cNvPr id="18" name="Rounded Rectangle 17"/>
          <p:cNvSpPr/>
          <p:nvPr/>
        </p:nvSpPr>
        <p:spPr>
          <a:xfrm>
            <a:off x="4337304"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37304"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65904" y="1828800"/>
            <a:ext cx="3102864" cy="438912"/>
          </a:xfrm>
          <a:prstGeom prst="rect">
            <a:avLst/>
          </a:prstGeom>
          <a:noFill/>
        </p:spPr>
        <p:txBody>
          <a:bodyPr wrap="square" lIns="45720" tIns="9144" rIns="45720" bIns="9144" anchor="ctr">
            <a:spAutoFit/>
          </a:bodyPr>
          <a:lstStyle/>
          <a:p>
            <a:pPr algn="l"/>
            <a:r>
              <a:rPr sz="1700" b="1" i="0">
                <a:solidFill>
                  <a:srgbClr val="F6A609"/>
                </a:solidFill>
                <a:latin typeface="Aptos"/>
              </a:rPr>
              <a:t>Rewards</a:t>
            </a:r>
          </a:p>
        </p:txBody>
      </p:sp>
      <p:sp>
        <p:nvSpPr>
          <p:cNvPr id="21" name="TextBox 20"/>
          <p:cNvSpPr txBox="1"/>
          <p:nvPr/>
        </p:nvSpPr>
        <p:spPr>
          <a:xfrm>
            <a:off x="4565904"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A=1.0
B=0.0
C=0.5</a:t>
            </a:r>
          </a:p>
        </p:txBody>
      </p:sp>
      <p:sp>
        <p:nvSpPr>
          <p:cNvPr id="22" name="Rounded Rectangle 21"/>
          <p:cNvSpPr/>
          <p:nvPr/>
        </p:nvSpPr>
        <p:spPr>
          <a:xfrm>
            <a:off x="8080247"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0247"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8847" y="1828800"/>
            <a:ext cx="3102864" cy="438912"/>
          </a:xfrm>
          <a:prstGeom prst="rect">
            <a:avLst/>
          </a:prstGeom>
          <a:noFill/>
        </p:spPr>
        <p:txBody>
          <a:bodyPr wrap="square" lIns="45720" tIns="9144" rIns="45720" bIns="9144" anchor="ctr">
            <a:spAutoFit/>
          </a:bodyPr>
          <a:lstStyle/>
          <a:p>
            <a:pPr algn="l"/>
            <a:r>
              <a:rPr sz="1700" b="1" i="0">
                <a:solidFill>
                  <a:srgbClr val="3B6EF5"/>
                </a:solidFill>
                <a:latin typeface="Aptos"/>
              </a:rPr>
              <a:t>Update</a:t>
            </a:r>
          </a:p>
        </p:txBody>
      </p:sp>
      <p:sp>
        <p:nvSpPr>
          <p:cNvPr id="25" name="TextBox 24"/>
          <p:cNvSpPr txBox="1"/>
          <p:nvPr/>
        </p:nvSpPr>
        <p:spPr>
          <a:xfrm>
            <a:off x="8308847"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A above group mean ↑
B below group mean ↓
C near baseline ~</a:t>
            </a:r>
          </a:p>
        </p:txBody>
      </p:sp>
      <p:sp>
        <p:nvSpPr>
          <p:cNvPr id="26" name="Rounded Rectangle 25"/>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GRPO uses peer-relative reward within a prompt group to update the policy.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GRPO fit and caveats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60</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60</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Good fit</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verifiable rewards, reasoning, coding, tool tasks</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Watch out</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length or difficulty bias in group rewards</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Mitigate</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normalize carefully and evaluate slices</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Fits tool-routing or incident-summary tasks where owner, evidence, and next action can be checked automatically.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Alternative objectives and constraints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61</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61</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KL penalty</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control drift</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Reward clipping</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limit outliers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Constrained decoding</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block invalid actions</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Multi-objective</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balance quality and safety</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Use KL for drift, reward clipping for outlier judge scores, and constrained decoding to block invalid ticket states.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Reward hacking warning</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62</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62</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Bad proxy</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model optimizes what you measure</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Example</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citation reward → citation spam</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Guardrail</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reward evidence match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Evaluation setup for policy learning</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63</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63</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Baselines</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SFT, DPO, previous policy</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Offline eval</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golden tasks and rubrics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Ablations</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data size, reward, KL</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Leaderboard</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consistent comparison</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Compare SFT, DPO, PPO, and GRPO on the same held-out ticket-routing slice before declaring a win.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Day 2 discussion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64</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64</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DPO or RL?</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what signal do we have?</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Reward risk?</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what proxy can be gamed?</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Constraint?</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what must never regress?</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Ask: do we have pair labels, a reliable reward, or only logs for ticket-routing quality?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Day 2 takeaways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2 · 65</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2 | 65</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DPO</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direct pair learning</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PPO/GRPO</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policy optimization recipes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RM</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rubric compression</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KL</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drift control</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Takeaway example: if ticket owner accuracy regresses, KL/reward tuning is not enough; fix data or grader first.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Day 3 roadmap</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66</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66</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LLM judge</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automated rubric scoring</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Benchmarks</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MMLU/BIG-Bench style thinking</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Calibration</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human alignment</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Bias and drift</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audit protocol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Why graders?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67</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67</a:t>
            </a:r>
          </a:p>
        </p:txBody>
      </p:sp>
      <p:sp>
        <p:nvSpPr>
          <p:cNvPr id="15" name="TextBox 14"/>
          <p:cNvSpPr txBox="1"/>
          <p:nvPr/>
        </p:nvSpPr>
        <p:spPr>
          <a:xfrm>
            <a:off x="777240" y="2148840"/>
            <a:ext cx="10698480" cy="822960"/>
          </a:xfrm>
          <a:prstGeom prst="rect">
            <a:avLst/>
          </a:prstGeom>
          <a:noFill/>
        </p:spPr>
        <p:txBody>
          <a:bodyPr wrap="square" lIns="45720" tIns="9144" rIns="45720" bIns="9144" anchor="ctr">
            <a:spAutoFit/>
          </a:bodyPr>
          <a:lstStyle/>
          <a:p>
            <a:pPr algn="ctr"/>
            <a:r>
              <a:rPr sz="4400" b="1" i="0">
                <a:solidFill>
                  <a:srgbClr val="0F1E3D"/>
                </a:solidFill>
                <a:latin typeface="Aptos"/>
              </a:rPr>
              <a:t>Scale judgment</a:t>
            </a:r>
          </a:p>
        </p:txBody>
      </p:sp>
      <p:sp>
        <p:nvSpPr>
          <p:cNvPr id="16" name="TextBox 15"/>
          <p:cNvSpPr txBox="1"/>
          <p:nvPr/>
        </p:nvSpPr>
        <p:spPr>
          <a:xfrm>
            <a:off x="1371600" y="3410712"/>
            <a:ext cx="9418320" cy="640080"/>
          </a:xfrm>
          <a:prstGeom prst="rect">
            <a:avLst/>
          </a:prstGeom>
          <a:noFill/>
        </p:spPr>
        <p:txBody>
          <a:bodyPr wrap="square" lIns="45720" tIns="9144" rIns="45720" bIns="9144" anchor="ctr">
            <a:spAutoFit/>
          </a:bodyPr>
          <a:lstStyle/>
          <a:p>
            <a:pPr algn="ctr"/>
            <a:r>
              <a:rPr sz="2000" b="0" i="0">
                <a:solidFill>
                  <a:srgbClr val="5B6B82"/>
                </a:solidFill>
                <a:latin typeface="Aptos"/>
              </a:rPr>
              <a:t>Automate evaluation without removing accountability.</a:t>
            </a:r>
          </a:p>
        </p:txBody>
      </p:sp>
      <p:sp>
        <p:nvSpPr>
          <p:cNvPr id="17" name="Rounded Rectangle 1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A grader can score thousands of ticket replies, but humans still own the rubric and audit strategy.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Code checks vs LLM judges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68</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68</a:t>
            </a:r>
          </a:p>
        </p:txBody>
      </p:sp>
      <p:sp>
        <p:nvSpPr>
          <p:cNvPr id="15" name="Rounded Rectangle 14"/>
          <p:cNvSpPr/>
          <p:nvPr/>
        </p:nvSpPr>
        <p:spPr>
          <a:xfrm>
            <a:off x="777240" y="1783080"/>
            <a:ext cx="4892040" cy="30175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1783080"/>
            <a:ext cx="73152" cy="30175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1984248"/>
            <a:ext cx="4507992" cy="438912"/>
          </a:xfrm>
          <a:prstGeom prst="rect">
            <a:avLst/>
          </a:prstGeom>
          <a:noFill/>
        </p:spPr>
        <p:txBody>
          <a:bodyPr wrap="square" lIns="45720" tIns="9144" rIns="45720" bIns="9144" anchor="ctr">
            <a:spAutoFit/>
          </a:bodyPr>
          <a:lstStyle/>
          <a:p>
            <a:pPr algn="l"/>
            <a:r>
              <a:rPr sz="2200" b="1" i="0">
                <a:solidFill>
                  <a:srgbClr val="0FB5A6"/>
                </a:solidFill>
                <a:latin typeface="Aptos"/>
              </a:rPr>
              <a:t>Exact checks</a:t>
            </a:r>
          </a:p>
        </p:txBody>
      </p:sp>
      <p:sp>
        <p:nvSpPr>
          <p:cNvPr id="18" name="TextBox 17"/>
          <p:cNvSpPr txBox="1"/>
          <p:nvPr/>
        </p:nvSpPr>
        <p:spPr>
          <a:xfrm>
            <a:off x="1005840" y="2587752"/>
            <a:ext cx="4507992" cy="2084831"/>
          </a:xfrm>
          <a:prstGeom prst="rect">
            <a:avLst/>
          </a:prstGeom>
          <a:noFill/>
        </p:spPr>
        <p:txBody>
          <a:bodyPr wrap="square" lIns="45720" tIns="9144" rIns="45720" bIns="9144" anchor="ctr">
            <a:spAutoFit/>
          </a:bodyPr>
          <a:lstStyle/>
          <a:p>
            <a:pPr algn="l"/>
            <a:r>
              <a:rPr sz="1700" b="0" i="0">
                <a:solidFill>
                  <a:srgbClr val="5B6B82"/>
                </a:solidFill>
                <a:latin typeface="Aptos"/>
              </a:rPr>
              <a:t>tool calls, schema, params</a:t>
            </a:r>
          </a:p>
        </p:txBody>
      </p:sp>
      <p:sp>
        <p:nvSpPr>
          <p:cNvPr id="19" name="Rounded Rectangle 18"/>
          <p:cNvSpPr/>
          <p:nvPr/>
        </p:nvSpPr>
        <p:spPr>
          <a:xfrm>
            <a:off x="6492240" y="1783080"/>
            <a:ext cx="4892040" cy="30175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92240" y="1783080"/>
            <a:ext cx="73152" cy="30175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0840" y="1984248"/>
            <a:ext cx="4507992" cy="438912"/>
          </a:xfrm>
          <a:prstGeom prst="rect">
            <a:avLst/>
          </a:prstGeom>
          <a:noFill/>
        </p:spPr>
        <p:txBody>
          <a:bodyPr wrap="square" lIns="45720" tIns="9144" rIns="45720" bIns="9144" anchor="ctr">
            <a:spAutoFit/>
          </a:bodyPr>
          <a:lstStyle/>
          <a:p>
            <a:pPr algn="l"/>
            <a:r>
              <a:rPr sz="2200" b="1" i="0">
                <a:solidFill>
                  <a:srgbClr val="F6A609"/>
                </a:solidFill>
                <a:latin typeface="Aptos"/>
              </a:rPr>
              <a:t>Judgment</a:t>
            </a:r>
          </a:p>
        </p:txBody>
      </p:sp>
      <p:sp>
        <p:nvSpPr>
          <p:cNvPr id="22" name="TextBox 21"/>
          <p:cNvSpPr txBox="1"/>
          <p:nvPr/>
        </p:nvSpPr>
        <p:spPr>
          <a:xfrm>
            <a:off x="6720840" y="2587752"/>
            <a:ext cx="4507992" cy="2084831"/>
          </a:xfrm>
          <a:prstGeom prst="rect">
            <a:avLst/>
          </a:prstGeom>
          <a:noFill/>
        </p:spPr>
        <p:txBody>
          <a:bodyPr wrap="square" lIns="45720" tIns="9144" rIns="45720" bIns="9144" anchor="ctr">
            <a:spAutoFit/>
          </a:bodyPr>
          <a:lstStyle/>
          <a:p>
            <a:pPr algn="l"/>
            <a:r>
              <a:rPr sz="1700" b="0" i="0">
                <a:solidFill>
                  <a:srgbClr val="5B6B82"/>
                </a:solidFill>
                <a:latin typeface="Aptos"/>
              </a:rPr>
              <a:t>tone, usefulness, grounding</a:t>
            </a:r>
          </a:p>
        </p:txBody>
      </p:sp>
      <p:sp>
        <p:nvSpPr>
          <p:cNvPr id="23" name="TextBox 22"/>
          <p:cNvSpPr txBox="1"/>
          <p:nvPr/>
        </p:nvSpPr>
        <p:spPr>
          <a:xfrm>
            <a:off x="5833872" y="2971800"/>
            <a:ext cx="502920" cy="365760"/>
          </a:xfrm>
          <a:prstGeom prst="rect">
            <a:avLst/>
          </a:prstGeom>
          <a:noFill/>
        </p:spPr>
        <p:txBody>
          <a:bodyPr wrap="square" lIns="45720" tIns="9144" rIns="45720" bIns="9144" anchor="ctr">
            <a:spAutoFit/>
          </a:bodyPr>
          <a:lstStyle/>
          <a:p>
            <a:pPr algn="ctr"/>
            <a:r>
              <a:rPr sz="2600" b="1" i="0">
                <a:solidFill>
                  <a:srgbClr val="5B6B82"/>
                </a:solidFill>
                <a:latin typeface="Aptos"/>
              </a:rPr>
              <a:t>×</a:t>
            </a:r>
          </a:p>
        </p:txBody>
      </p:sp>
      <p:sp>
        <p:nvSpPr>
          <p:cNvPr id="24" name="Rounded Rectangle 23"/>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Code check validates JSON tool params; LLM judge evaluates whether the final ticket summary is useful and grounded.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Judge architecture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69</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69</a:t>
            </a:r>
          </a:p>
        </p:txBody>
      </p:sp>
      <p:sp>
        <p:nvSpPr>
          <p:cNvPr id="15" name="Rounded Rectangle 14"/>
          <p:cNvSpPr/>
          <p:nvPr/>
        </p:nvSpPr>
        <p:spPr>
          <a:xfrm>
            <a:off x="59436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Task</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Output</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Rubric</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Judge</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Score</a:t>
            </a:r>
          </a:p>
        </p:txBody>
      </p:sp>
      <p:sp>
        <p:nvSpPr>
          <p:cNvPr id="29" name="Rounded Rectangle 28"/>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Judge input: ticket, candidate reply, rubric, reference evidence; output: grounding score, rationale, and flags.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LLM-as-a-judge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70</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70</a:t>
            </a:r>
          </a:p>
        </p:txBody>
      </p:sp>
      <p:sp>
        <p:nvSpPr>
          <p:cNvPr id="14" name="Rounded Rectangle 13"/>
          <p:cNvSpPr/>
          <p:nvPr/>
        </p:nvSpPr>
        <p:spPr>
          <a:xfrm>
            <a:off x="594360"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3102864" cy="438912"/>
          </a:xfrm>
          <a:prstGeom prst="rect">
            <a:avLst/>
          </a:prstGeom>
          <a:noFill/>
        </p:spPr>
        <p:txBody>
          <a:bodyPr wrap="square" lIns="45720" tIns="9144" rIns="45720" bIns="9144" anchor="ctr">
            <a:spAutoFit/>
          </a:bodyPr>
          <a:lstStyle/>
          <a:p>
            <a:pPr algn="l"/>
            <a:r>
              <a:rPr sz="1700" b="1" i="0">
                <a:solidFill>
                  <a:srgbClr val="0FB5A6"/>
                </a:solidFill>
                <a:latin typeface="Aptos"/>
              </a:rPr>
              <a:t>Judge prompt</a:t>
            </a:r>
          </a:p>
        </p:txBody>
      </p:sp>
      <p:sp>
        <p:nvSpPr>
          <p:cNvPr id="17" name="TextBox 16"/>
          <p:cNvSpPr txBox="1"/>
          <p:nvPr/>
        </p:nvSpPr>
        <p:spPr>
          <a:xfrm>
            <a:off x="822960"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Score grounding from 1–5. Use only provided reference. Return JSON.</a:t>
            </a:r>
          </a:p>
        </p:txBody>
      </p:sp>
      <p:sp>
        <p:nvSpPr>
          <p:cNvPr id="18" name="Rounded Rectangle 17"/>
          <p:cNvSpPr/>
          <p:nvPr/>
        </p:nvSpPr>
        <p:spPr>
          <a:xfrm>
            <a:off x="4337304"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37304"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65904" y="1828800"/>
            <a:ext cx="3102864" cy="438912"/>
          </a:xfrm>
          <a:prstGeom prst="rect">
            <a:avLst/>
          </a:prstGeom>
          <a:noFill/>
        </p:spPr>
        <p:txBody>
          <a:bodyPr wrap="square" lIns="45720" tIns="9144" rIns="45720" bIns="9144" anchor="ctr">
            <a:spAutoFit/>
          </a:bodyPr>
          <a:lstStyle/>
          <a:p>
            <a:pPr algn="l"/>
            <a:r>
              <a:rPr sz="1700" b="1" i="0">
                <a:solidFill>
                  <a:srgbClr val="3B6EF5"/>
                </a:solidFill>
                <a:latin typeface="Aptos"/>
              </a:rPr>
              <a:t>Candidate</a:t>
            </a:r>
          </a:p>
        </p:txBody>
      </p:sp>
      <p:sp>
        <p:nvSpPr>
          <p:cNvPr id="21" name="TextBox 20"/>
          <p:cNvSpPr txBox="1"/>
          <p:nvPr/>
        </p:nvSpPr>
        <p:spPr>
          <a:xfrm>
            <a:off x="4565904"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Refund approved on June 5 and should arrive by June 10.</a:t>
            </a:r>
          </a:p>
        </p:txBody>
      </p:sp>
      <p:sp>
        <p:nvSpPr>
          <p:cNvPr id="22" name="Rounded Rectangle 21"/>
          <p:cNvSpPr/>
          <p:nvPr/>
        </p:nvSpPr>
        <p:spPr>
          <a:xfrm>
            <a:off x="8080247"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0247"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8847" y="1828800"/>
            <a:ext cx="3102864" cy="438912"/>
          </a:xfrm>
          <a:prstGeom prst="rect">
            <a:avLst/>
          </a:prstGeom>
          <a:noFill/>
        </p:spPr>
        <p:txBody>
          <a:bodyPr wrap="square" lIns="45720" tIns="9144" rIns="45720" bIns="9144" anchor="ctr">
            <a:spAutoFit/>
          </a:bodyPr>
          <a:lstStyle/>
          <a:p>
            <a:pPr algn="l"/>
            <a:r>
              <a:rPr sz="1700" b="1" i="0">
                <a:solidFill>
                  <a:srgbClr val="F6A609"/>
                </a:solidFill>
                <a:latin typeface="Aptos"/>
              </a:rPr>
              <a:t>Judge output</a:t>
            </a:r>
          </a:p>
        </p:txBody>
      </p:sp>
      <p:sp>
        <p:nvSpPr>
          <p:cNvPr id="25" name="TextBox 24"/>
          <p:cNvSpPr txBox="1"/>
          <p:nvPr/>
        </p:nvSpPr>
        <p:spPr>
          <a:xfrm>
            <a:off x="8308847"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Grounding = 4
Reason = supported by reference</a:t>
            </a:r>
          </a:p>
        </p:txBody>
      </p:sp>
      <p:sp>
        <p:nvSpPr>
          <p:cNvPr id="26" name="Rounded Rectangle 25"/>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Judge quality depends on rubric, reference, output schema, and calibration.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Rubric design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71</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71</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Observable</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can be checked from trace or evidence</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Anchored</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score levels have examples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Decomposed</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separate dimensions</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Actionable</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diagnosis maps to fixes</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Rubric anchor: 5 = owner + action + evidence all correct; 3 = partial; 1 = unsupported or unsafe.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Benchmark mindset</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74</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74</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Broad coverage</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many tasks, not one demo</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Hard slices</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stress capabilities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Regression tracking</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protect old wins</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Interpretation</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benchmark ≠ product quality</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Benchmark slice: routing, summarization, escalation, multilingual tickets, and missing-evidence cases.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MMLU / BIG-Bench lesson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75</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75</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Diverse tasks</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test breadth</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Knowledge + reasoning</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not just style</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Rapid progress</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benchmarks saturate</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Lesson: broad ticket benchmark prevents a model that only handles easy refund-style cases from looking solved.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Calibration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77</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77</a:t>
            </a:r>
          </a:p>
        </p:txBody>
      </p:sp>
      <p:sp>
        <p:nvSpPr>
          <p:cNvPr id="15" name="TextBox 14"/>
          <p:cNvSpPr txBox="1"/>
          <p:nvPr/>
        </p:nvSpPr>
        <p:spPr>
          <a:xfrm>
            <a:off x="777240" y="2148840"/>
            <a:ext cx="10698480" cy="822960"/>
          </a:xfrm>
          <a:prstGeom prst="rect">
            <a:avLst/>
          </a:prstGeom>
          <a:noFill/>
        </p:spPr>
        <p:txBody>
          <a:bodyPr wrap="square" lIns="45720" tIns="9144" rIns="45720" bIns="9144" anchor="ctr">
            <a:spAutoFit/>
          </a:bodyPr>
          <a:lstStyle/>
          <a:p>
            <a:pPr algn="ctr"/>
            <a:r>
              <a:rPr sz="4400" b="1" i="0">
                <a:solidFill>
                  <a:srgbClr val="0F1E3D"/>
                </a:solidFill>
                <a:latin typeface="Aptos"/>
              </a:rPr>
              <a:t>Judge accuracy is not assumed</a:t>
            </a:r>
          </a:p>
        </p:txBody>
      </p:sp>
      <p:sp>
        <p:nvSpPr>
          <p:cNvPr id="16" name="TextBox 15"/>
          <p:cNvSpPr txBox="1"/>
          <p:nvPr/>
        </p:nvSpPr>
        <p:spPr>
          <a:xfrm>
            <a:off x="1371600" y="3410712"/>
            <a:ext cx="9418320" cy="640080"/>
          </a:xfrm>
          <a:prstGeom prst="rect">
            <a:avLst/>
          </a:prstGeom>
          <a:noFill/>
        </p:spPr>
        <p:txBody>
          <a:bodyPr wrap="square" lIns="45720" tIns="9144" rIns="45720" bIns="9144" anchor="ctr">
            <a:spAutoFit/>
          </a:bodyPr>
          <a:lstStyle/>
          <a:p>
            <a:pPr algn="ctr"/>
            <a:r>
              <a:rPr sz="2000" b="0" i="0">
                <a:solidFill>
                  <a:srgbClr val="5B6B82"/>
                </a:solidFill>
                <a:latin typeface="Aptos"/>
              </a:rPr>
              <a:t>Measure agreement against human labels and refresh over time.</a:t>
            </a:r>
          </a:p>
        </p:txBody>
      </p:sp>
      <p:sp>
        <p:nvSpPr>
          <p:cNvPr id="17" name="Rounded Rectangle 1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Calibrate judge by comparing its grounding scores against human labels on a golden ticket set.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Golden set loop</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76</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76</a:t>
            </a:r>
          </a:p>
        </p:txBody>
      </p:sp>
      <p:sp>
        <p:nvSpPr>
          <p:cNvPr id="15" name="Rounded Rectangle 14"/>
          <p:cNvSpPr/>
          <p:nvPr/>
        </p:nvSpPr>
        <p:spPr>
          <a:xfrm>
            <a:off x="594360" y="2788920"/>
            <a:ext cx="257175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2443734" cy="905256"/>
          </a:xfrm>
          <a:prstGeom prst="rect">
            <a:avLst/>
          </a:prstGeom>
          <a:noFill/>
        </p:spPr>
        <p:txBody>
          <a:bodyPr wrap="square" lIns="45720" tIns="9144" rIns="45720" bIns="9144" anchor="ctr">
            <a:spAutoFit/>
          </a:bodyPr>
          <a:lstStyle/>
          <a:p>
            <a:pPr algn="ctr"/>
            <a:r>
              <a:rPr sz="1700" b="1" i="0">
                <a:solidFill>
                  <a:srgbClr val="0FB5A6"/>
                </a:solidFill>
                <a:latin typeface="Aptos"/>
              </a:rPr>
              <a:t>Human</a:t>
            </a:r>
          </a:p>
        </p:txBody>
      </p:sp>
      <p:cxnSp>
        <p:nvCxnSpPr>
          <p:cNvPr id="17" name="Connector 16"/>
          <p:cNvCxnSpPr/>
          <p:nvPr/>
        </p:nvCxnSpPr>
        <p:spPr>
          <a:xfrm>
            <a:off x="319354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94710" y="2788920"/>
            <a:ext cx="257175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8718" y="2807208"/>
            <a:ext cx="2443734" cy="905256"/>
          </a:xfrm>
          <a:prstGeom prst="rect">
            <a:avLst/>
          </a:prstGeom>
          <a:noFill/>
        </p:spPr>
        <p:txBody>
          <a:bodyPr wrap="square" lIns="45720" tIns="9144" rIns="45720" bIns="9144" anchor="ctr">
            <a:spAutoFit/>
          </a:bodyPr>
          <a:lstStyle/>
          <a:p>
            <a:pPr algn="ctr"/>
            <a:r>
              <a:rPr sz="1700" b="1" i="0">
                <a:solidFill>
                  <a:srgbClr val="3B6EF5"/>
                </a:solidFill>
                <a:latin typeface="Aptos"/>
              </a:rPr>
              <a:t>Judge</a:t>
            </a:r>
          </a:p>
        </p:txBody>
      </p:sp>
      <p:cxnSp>
        <p:nvCxnSpPr>
          <p:cNvPr id="20" name="Connector 19"/>
          <p:cNvCxnSpPr/>
          <p:nvPr/>
        </p:nvCxnSpPr>
        <p:spPr>
          <a:xfrm>
            <a:off x="599389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5060" y="2788920"/>
            <a:ext cx="257175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9068" y="2807208"/>
            <a:ext cx="2443734" cy="905256"/>
          </a:xfrm>
          <a:prstGeom prst="rect">
            <a:avLst/>
          </a:prstGeom>
          <a:noFill/>
        </p:spPr>
        <p:txBody>
          <a:bodyPr wrap="square" lIns="45720" tIns="9144" rIns="45720" bIns="9144" anchor="ctr">
            <a:spAutoFit/>
          </a:bodyPr>
          <a:lstStyle/>
          <a:p>
            <a:pPr algn="ctr"/>
            <a:r>
              <a:rPr sz="1700" b="1" i="0">
                <a:solidFill>
                  <a:srgbClr val="F6A609"/>
                </a:solidFill>
                <a:latin typeface="Aptos"/>
              </a:rPr>
              <a:t>Compare</a:t>
            </a:r>
          </a:p>
        </p:txBody>
      </p:sp>
      <p:cxnSp>
        <p:nvCxnSpPr>
          <p:cNvPr id="23" name="Connector 22"/>
          <p:cNvCxnSpPr/>
          <p:nvPr/>
        </p:nvCxnSpPr>
        <p:spPr>
          <a:xfrm>
            <a:off x="879424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95410" y="2788920"/>
            <a:ext cx="257175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9418" y="2807208"/>
            <a:ext cx="2443734" cy="905256"/>
          </a:xfrm>
          <a:prstGeom prst="rect">
            <a:avLst/>
          </a:prstGeom>
          <a:noFill/>
        </p:spPr>
        <p:txBody>
          <a:bodyPr wrap="square" lIns="45720" tIns="9144" rIns="45720" bIns="9144" anchor="ctr">
            <a:spAutoFit/>
          </a:bodyPr>
          <a:lstStyle/>
          <a:p>
            <a:pPr algn="ctr"/>
            <a:r>
              <a:rPr sz="1700" b="1" i="0">
                <a:solidFill>
                  <a:srgbClr val="0FB5A6"/>
                </a:solidFill>
                <a:latin typeface="Aptos"/>
              </a:rPr>
              <a:t>Revise</a:t>
            </a:r>
          </a:p>
        </p:txBody>
      </p:sp>
      <p:sp>
        <p:nvSpPr>
          <p:cNvPr id="26" name="Rounded Rectangle 25"/>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Golden loop: humans label 100 ticket outputs, judge scores them, compare disagreement, revise rubric.</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Human review workflow</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89</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89</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Sample</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choose slices</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Adjudicate</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resolve disagreements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Update rubric</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make quality observable</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Refresh judge</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re-calibrate</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Review workflow samples hard slices: ambiguous owner, conflicting logs, safety escalation, and malformed tool results.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Calibration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78</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78</a:t>
            </a:r>
          </a:p>
        </p:txBody>
      </p:sp>
      <p:sp>
        <p:nvSpPr>
          <p:cNvPr id="14" name="Rounded Rectangle 13"/>
          <p:cNvSpPr/>
          <p:nvPr/>
        </p:nvSpPr>
        <p:spPr>
          <a:xfrm>
            <a:off x="594360"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3102864" cy="438912"/>
          </a:xfrm>
          <a:prstGeom prst="rect">
            <a:avLst/>
          </a:prstGeom>
          <a:noFill/>
        </p:spPr>
        <p:txBody>
          <a:bodyPr wrap="square" lIns="45720" tIns="9144" rIns="45720" bIns="9144" anchor="ctr">
            <a:spAutoFit/>
          </a:bodyPr>
          <a:lstStyle/>
          <a:p>
            <a:pPr algn="l"/>
            <a:r>
              <a:rPr sz="1700" b="1" i="0">
                <a:solidFill>
                  <a:srgbClr val="0FB5A6"/>
                </a:solidFill>
                <a:latin typeface="Aptos"/>
              </a:rPr>
              <a:t>Human score</a:t>
            </a:r>
          </a:p>
        </p:txBody>
      </p:sp>
      <p:sp>
        <p:nvSpPr>
          <p:cNvPr id="17" name="TextBox 16"/>
          <p:cNvSpPr txBox="1"/>
          <p:nvPr/>
        </p:nvSpPr>
        <p:spPr>
          <a:xfrm>
            <a:off x="822960"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4 / 5</a:t>
            </a:r>
          </a:p>
        </p:txBody>
      </p:sp>
      <p:sp>
        <p:nvSpPr>
          <p:cNvPr id="18" name="Rounded Rectangle 17"/>
          <p:cNvSpPr/>
          <p:nvPr/>
        </p:nvSpPr>
        <p:spPr>
          <a:xfrm>
            <a:off x="4337304"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37304"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65904" y="1828800"/>
            <a:ext cx="3102864" cy="438912"/>
          </a:xfrm>
          <a:prstGeom prst="rect">
            <a:avLst/>
          </a:prstGeom>
          <a:noFill/>
        </p:spPr>
        <p:txBody>
          <a:bodyPr wrap="square" lIns="45720" tIns="9144" rIns="45720" bIns="9144" anchor="ctr">
            <a:spAutoFit/>
          </a:bodyPr>
          <a:lstStyle/>
          <a:p>
            <a:pPr algn="l"/>
            <a:r>
              <a:rPr sz="1700" b="1" i="0">
                <a:solidFill>
                  <a:srgbClr val="F6A609"/>
                </a:solidFill>
                <a:latin typeface="Aptos"/>
              </a:rPr>
              <a:t>Judge score</a:t>
            </a:r>
          </a:p>
        </p:txBody>
      </p:sp>
      <p:sp>
        <p:nvSpPr>
          <p:cNvPr id="21" name="TextBox 20"/>
          <p:cNvSpPr txBox="1"/>
          <p:nvPr/>
        </p:nvSpPr>
        <p:spPr>
          <a:xfrm>
            <a:off x="4565904"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2 / 5</a:t>
            </a:r>
          </a:p>
        </p:txBody>
      </p:sp>
      <p:sp>
        <p:nvSpPr>
          <p:cNvPr id="22" name="Rounded Rectangle 21"/>
          <p:cNvSpPr/>
          <p:nvPr/>
        </p:nvSpPr>
        <p:spPr>
          <a:xfrm>
            <a:off x="8080247"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0247"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8847" y="1828800"/>
            <a:ext cx="3102864" cy="438912"/>
          </a:xfrm>
          <a:prstGeom prst="rect">
            <a:avLst/>
          </a:prstGeom>
          <a:noFill/>
        </p:spPr>
        <p:txBody>
          <a:bodyPr wrap="square" lIns="45720" tIns="9144" rIns="45720" bIns="9144" anchor="ctr">
            <a:spAutoFit/>
          </a:bodyPr>
          <a:lstStyle/>
          <a:p>
            <a:pPr algn="l"/>
            <a:r>
              <a:rPr sz="1700" b="1" i="0">
                <a:solidFill>
                  <a:srgbClr val="3B6EF5"/>
                </a:solidFill>
                <a:latin typeface="Aptos"/>
              </a:rPr>
              <a:t>Action</a:t>
            </a:r>
          </a:p>
        </p:txBody>
      </p:sp>
      <p:sp>
        <p:nvSpPr>
          <p:cNvPr id="25" name="TextBox 24"/>
          <p:cNvSpPr txBox="1"/>
          <p:nvPr/>
        </p:nvSpPr>
        <p:spPr>
          <a:xfrm>
            <a:off x="8308847"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inspect → refine rubric → retest</a:t>
            </a:r>
          </a:p>
        </p:txBody>
      </p:sp>
      <p:sp>
        <p:nvSpPr>
          <p:cNvPr id="26" name="Rounded Rectangle 25"/>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Calibration turns a score into a useful signal.</a:t>
            </a:r>
          </a:p>
        </p:txBody>
      </p:sp>
      <p:sp>
        <p:nvSpPr>
          <p:cNvPr id="28" name="Rounded Rectangle 27"/>
          <p:cNvSpPr/>
          <p:nvPr/>
        </p:nvSpPr>
        <p:spPr>
          <a:xfrm>
            <a:off x="523894" y="5122655"/>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If human says 4/5 but judge says 2/5 for a well-supported owner, inspect rubric wording and evidence visibility.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Judge agreement metrics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79</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79</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Agreement</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same winner as human</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Correlation</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score trend matches labels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Slice quality</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performance by task type</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Stability</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same input gets same score</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Track judge agreement separately for owner accuracy, next-action accuracy, and citation fidelity.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Common judge bias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80</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80</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Verbosity</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longer can look better</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Position</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first/second answer effect</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Self-family</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prefers generator style</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Verbosity bias: a long ticket summary may look better than a short complete one unless the rubric controls length.</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Judge bias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81</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81</a:t>
            </a:r>
          </a:p>
        </p:txBody>
      </p:sp>
      <p:sp>
        <p:nvSpPr>
          <p:cNvPr id="14" name="Rounded Rectangle 13"/>
          <p:cNvSpPr/>
          <p:nvPr/>
        </p:nvSpPr>
        <p:spPr>
          <a:xfrm>
            <a:off x="594360"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3102864" cy="438912"/>
          </a:xfrm>
          <a:prstGeom prst="rect">
            <a:avLst/>
          </a:prstGeom>
          <a:noFill/>
        </p:spPr>
        <p:txBody>
          <a:bodyPr wrap="square" lIns="45720" tIns="9144" rIns="45720" bIns="9144" anchor="ctr">
            <a:spAutoFit/>
          </a:bodyPr>
          <a:lstStyle/>
          <a:p>
            <a:pPr algn="l"/>
            <a:r>
              <a:rPr sz="1700" b="1" i="0">
                <a:solidFill>
                  <a:srgbClr val="3B6EF5"/>
                </a:solidFill>
                <a:latin typeface="Aptos"/>
              </a:rPr>
              <a:t>Answer A</a:t>
            </a:r>
          </a:p>
        </p:txBody>
      </p:sp>
      <p:sp>
        <p:nvSpPr>
          <p:cNvPr id="17" name="TextBox 16"/>
          <p:cNvSpPr txBox="1"/>
          <p:nvPr/>
        </p:nvSpPr>
        <p:spPr>
          <a:xfrm>
            <a:off x="822960"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120 words
polished
extra caveats</a:t>
            </a:r>
          </a:p>
        </p:txBody>
      </p:sp>
      <p:sp>
        <p:nvSpPr>
          <p:cNvPr id="18" name="Rounded Rectangle 17"/>
          <p:cNvSpPr/>
          <p:nvPr/>
        </p:nvSpPr>
        <p:spPr>
          <a:xfrm>
            <a:off x="4337304"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37304"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65904" y="1828800"/>
            <a:ext cx="3102864" cy="438912"/>
          </a:xfrm>
          <a:prstGeom prst="rect">
            <a:avLst/>
          </a:prstGeom>
          <a:noFill/>
        </p:spPr>
        <p:txBody>
          <a:bodyPr wrap="square" lIns="45720" tIns="9144" rIns="45720" bIns="9144" anchor="ctr">
            <a:spAutoFit/>
          </a:bodyPr>
          <a:lstStyle/>
          <a:p>
            <a:pPr algn="l"/>
            <a:r>
              <a:rPr sz="1700" b="1" i="0">
                <a:solidFill>
                  <a:srgbClr val="0FB5A6"/>
                </a:solidFill>
                <a:latin typeface="Aptos"/>
              </a:rPr>
              <a:t>Answer B</a:t>
            </a:r>
          </a:p>
        </p:txBody>
      </p:sp>
      <p:sp>
        <p:nvSpPr>
          <p:cNvPr id="21" name="TextBox 20"/>
          <p:cNvSpPr txBox="1"/>
          <p:nvPr/>
        </p:nvSpPr>
        <p:spPr>
          <a:xfrm>
            <a:off x="4565904"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40 words
accurate
complete</a:t>
            </a:r>
          </a:p>
        </p:txBody>
      </p:sp>
      <p:sp>
        <p:nvSpPr>
          <p:cNvPr id="22" name="Rounded Rectangle 21"/>
          <p:cNvSpPr/>
          <p:nvPr/>
        </p:nvSpPr>
        <p:spPr>
          <a:xfrm>
            <a:off x="8080247"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0247"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8847" y="1828800"/>
            <a:ext cx="3102864" cy="438912"/>
          </a:xfrm>
          <a:prstGeom prst="rect">
            <a:avLst/>
          </a:prstGeom>
          <a:noFill/>
        </p:spPr>
        <p:txBody>
          <a:bodyPr wrap="square" lIns="45720" tIns="9144" rIns="45720" bIns="9144" anchor="ctr">
            <a:spAutoFit/>
          </a:bodyPr>
          <a:lstStyle/>
          <a:p>
            <a:pPr algn="l"/>
            <a:r>
              <a:rPr sz="1700" b="1" i="0">
                <a:solidFill>
                  <a:srgbClr val="F6A609"/>
                </a:solidFill>
                <a:latin typeface="Aptos"/>
              </a:rPr>
              <a:t>Mismatch</a:t>
            </a:r>
          </a:p>
        </p:txBody>
      </p:sp>
      <p:sp>
        <p:nvSpPr>
          <p:cNvPr id="25" name="TextBox 24"/>
          <p:cNvSpPr txBox="1"/>
          <p:nvPr/>
        </p:nvSpPr>
        <p:spPr>
          <a:xfrm>
            <a:off x="8308847"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Human: tie
Judge: A wins</a:t>
            </a:r>
          </a:p>
        </p:txBody>
      </p:sp>
      <p:sp>
        <p:nvSpPr>
          <p:cNvPr id="26" name="Rounded Rectangle 25"/>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Control length and position when evaluating qualitative dimensions.</a:t>
            </a:r>
          </a:p>
        </p:txBody>
      </p:sp>
      <p:sp>
        <p:nvSpPr>
          <p:cNvPr id="28" name="Rounded Rectangle 27"/>
          <p:cNvSpPr/>
          <p:nvPr/>
        </p:nvSpPr>
        <p:spPr>
          <a:xfrm>
            <a:off x="537609" y="5122962"/>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Human ties concise vs verbose answer; judge picks verbose. Mitigation: length cap + shuffled order + anchors.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Bias mitigation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82</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82</a:t>
            </a:r>
          </a:p>
        </p:txBody>
      </p:sp>
      <p:sp>
        <p:nvSpPr>
          <p:cNvPr id="15" name="Rounded Rectangle 14"/>
          <p:cNvSpPr/>
          <p:nvPr/>
        </p:nvSpPr>
        <p:spPr>
          <a:xfrm>
            <a:off x="59436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Shuffle</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Length control</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Audit</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Slices</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Refresh</a:t>
            </a:r>
          </a:p>
        </p:txBody>
      </p:sp>
      <p:sp>
        <p:nvSpPr>
          <p:cNvPr id="29" name="Rounded Rectangle 28"/>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Shuffle A/B answer order and normalize length before judging ticket replies to avoid position and verbosity bias.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Reference-grounded judging</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83</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83</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Reference</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only trusted evidence</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Candidate</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model output</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Citation check</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does claim match source?</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Reference-grounded judging: every owner/action claim must map back to the ticket notes or tool trace.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Grader output</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85</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85</a:t>
            </a:r>
          </a:p>
        </p:txBody>
      </p:sp>
      <p:sp>
        <p:nvSpPr>
          <p:cNvPr id="15" name="Rounded Rectangle 14"/>
          <p:cNvSpPr/>
          <p:nvPr/>
        </p:nvSpPr>
        <p:spPr>
          <a:xfrm>
            <a:off x="594360" y="2788920"/>
            <a:ext cx="257175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2443734" cy="905256"/>
          </a:xfrm>
          <a:prstGeom prst="rect">
            <a:avLst/>
          </a:prstGeom>
          <a:noFill/>
        </p:spPr>
        <p:txBody>
          <a:bodyPr wrap="square" lIns="45720" tIns="9144" rIns="45720" bIns="9144" anchor="ctr">
            <a:spAutoFit/>
          </a:bodyPr>
          <a:lstStyle/>
          <a:p>
            <a:pPr algn="ctr"/>
            <a:r>
              <a:rPr sz="1700" b="1" i="0">
                <a:solidFill>
                  <a:srgbClr val="0FB5A6"/>
                </a:solidFill>
                <a:latin typeface="Aptos"/>
              </a:rPr>
              <a:t>Score</a:t>
            </a:r>
          </a:p>
        </p:txBody>
      </p:sp>
      <p:cxnSp>
        <p:nvCxnSpPr>
          <p:cNvPr id="17" name="Connector 16"/>
          <p:cNvCxnSpPr/>
          <p:nvPr/>
        </p:nvCxnSpPr>
        <p:spPr>
          <a:xfrm>
            <a:off x="319354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94710" y="2788920"/>
            <a:ext cx="257175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8718" y="2807208"/>
            <a:ext cx="2443734" cy="905256"/>
          </a:xfrm>
          <a:prstGeom prst="rect">
            <a:avLst/>
          </a:prstGeom>
          <a:noFill/>
        </p:spPr>
        <p:txBody>
          <a:bodyPr wrap="square" lIns="45720" tIns="9144" rIns="45720" bIns="9144" anchor="ctr">
            <a:spAutoFit/>
          </a:bodyPr>
          <a:lstStyle/>
          <a:p>
            <a:pPr algn="ctr"/>
            <a:r>
              <a:rPr sz="1700" b="1" i="0">
                <a:solidFill>
                  <a:srgbClr val="3B6EF5"/>
                </a:solidFill>
                <a:latin typeface="Aptos"/>
              </a:rPr>
              <a:t>Dimensions</a:t>
            </a:r>
          </a:p>
        </p:txBody>
      </p:sp>
      <p:cxnSp>
        <p:nvCxnSpPr>
          <p:cNvPr id="20" name="Connector 19"/>
          <p:cNvCxnSpPr/>
          <p:nvPr/>
        </p:nvCxnSpPr>
        <p:spPr>
          <a:xfrm>
            <a:off x="599389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5060" y="2788920"/>
            <a:ext cx="257175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9068" y="2807208"/>
            <a:ext cx="2443734" cy="905256"/>
          </a:xfrm>
          <a:prstGeom prst="rect">
            <a:avLst/>
          </a:prstGeom>
          <a:noFill/>
        </p:spPr>
        <p:txBody>
          <a:bodyPr wrap="square" lIns="45720" tIns="9144" rIns="45720" bIns="9144" anchor="ctr">
            <a:spAutoFit/>
          </a:bodyPr>
          <a:lstStyle/>
          <a:p>
            <a:pPr algn="ctr"/>
            <a:r>
              <a:rPr sz="1700" b="1" i="0">
                <a:solidFill>
                  <a:srgbClr val="3B6EF5"/>
                </a:solidFill>
                <a:latin typeface="Aptos"/>
              </a:rPr>
              <a:t>Rationale</a:t>
            </a:r>
          </a:p>
        </p:txBody>
      </p:sp>
      <p:cxnSp>
        <p:nvCxnSpPr>
          <p:cNvPr id="23" name="Connector 22"/>
          <p:cNvCxnSpPr/>
          <p:nvPr/>
        </p:nvCxnSpPr>
        <p:spPr>
          <a:xfrm>
            <a:off x="879424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95410" y="2788920"/>
            <a:ext cx="257175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9418" y="2807208"/>
            <a:ext cx="2443734" cy="905256"/>
          </a:xfrm>
          <a:prstGeom prst="rect">
            <a:avLst/>
          </a:prstGeom>
          <a:noFill/>
        </p:spPr>
        <p:txBody>
          <a:bodyPr wrap="square" lIns="45720" tIns="9144" rIns="45720" bIns="9144" anchor="ctr">
            <a:spAutoFit/>
          </a:bodyPr>
          <a:lstStyle/>
          <a:p>
            <a:pPr algn="ctr"/>
            <a:r>
              <a:rPr sz="1700" b="1" i="0">
                <a:solidFill>
                  <a:srgbClr val="F6A609"/>
                </a:solidFill>
                <a:latin typeface="Aptos"/>
              </a:rPr>
              <a:t>Flags</a:t>
            </a:r>
          </a:p>
        </p:txBody>
      </p:sp>
      <p:sp>
        <p:nvSpPr>
          <p:cNvPr id="26" name="Rounded Rectangle 25"/>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Grader output includes score, dimensions, rationale, and flags such as “missing owner” or “unsupported action.”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Grader → DPO</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86</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86</a:t>
            </a:r>
          </a:p>
        </p:txBody>
      </p:sp>
      <p:sp>
        <p:nvSpPr>
          <p:cNvPr id="15" name="Rounded Rectangle 14"/>
          <p:cNvSpPr/>
          <p:nvPr/>
        </p:nvSpPr>
        <p:spPr>
          <a:xfrm>
            <a:off x="59436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Variants</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Grade</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Margin</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Pairs</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Train</a:t>
            </a:r>
          </a:p>
        </p:txBody>
      </p:sp>
      <p:sp>
        <p:nvSpPr>
          <p:cNvPr id="29" name="Rounded Rectangle 28"/>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Generate variants for a ticket prompt, grade them, keep high-margin pairs, then train DPO.</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Grader → RL</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87</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87</a:t>
            </a:r>
          </a:p>
        </p:txBody>
      </p:sp>
      <p:sp>
        <p:nvSpPr>
          <p:cNvPr id="15" name="Rounded Rectangle 14"/>
          <p:cNvSpPr/>
          <p:nvPr/>
        </p:nvSpPr>
        <p:spPr>
          <a:xfrm>
            <a:off x="59436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Rollout</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Grade</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Reward</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Update</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Gate</a:t>
            </a:r>
          </a:p>
        </p:txBody>
      </p:sp>
      <p:sp>
        <p:nvSpPr>
          <p:cNvPr id="29" name="Rounded Rectangle 28"/>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Roll out ticket replies, grade grounding/actionability, convert reliable scores to reward, update, then gate.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Eval-driven skill building</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88</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88</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Failure taxonomy</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classify errors</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Targeted data</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generate examples for gaps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Re-score</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measure delta</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Ship gate</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block regressions</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Failure taxonomy: wrong tool, wrong owner, missing evidence, weak summary, unsafe escalation.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Judge safety limits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90</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90</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No blind trust</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judge can be wrong</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Hard rules</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code checks for critical failures</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Escalation</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human review for high stakes</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Never let an LLM judge alone pass high-stakes escalation; use hard rules and human review for critical tickets.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Evaluation dashboard slices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91</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91</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Task type</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summaries, tool calls</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Language</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multilingual slices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Customer segment</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enterprise constraints</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Model version</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regression tracking</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Dashboard slices: auth tickets, billing tickets, multilingual tickets, tool-call failures, and model version.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Day 3 discussion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92</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92</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Golden set</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what belongs there?</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Dangerous bias</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what must we measure?</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Drift</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how do we detect it?</a:t>
            </a:r>
          </a:p>
        </p:txBody>
      </p:sp>
      <p:sp>
        <p:nvSpPr>
          <p:cNvPr id="27" name="Rounded Rectangle 26"/>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Discussion prompt: which ticket cases belong in the golden set because failures are expensive?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4</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Day 3 takeaways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3 · 93</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3 | 93</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Rubrics</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need anchors</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Judges</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must be calibrated</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Agents</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need trace + answer eval</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Dashboards</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slice everything</a:t>
            </a:r>
          </a:p>
        </p:txBody>
      </p:sp>
      <p:sp>
        <p:nvSpPr>
          <p:cNvPr id="31" name="Rounded Rectangle 30"/>
          <p:cNvSpPr/>
          <p:nvPr/>
        </p:nvSpPr>
        <p:spPr>
          <a:xfrm>
            <a:off x="530352" y="5413248"/>
            <a:ext cx="11119104" cy="512064"/>
          </a:xfrm>
          <a:prstGeom prst="roundRect">
            <a:avLst/>
          </a:prstGeom>
          <a:solidFill>
            <a:srgbClr val="E8F8F6"/>
          </a:solidFill>
          <a:ln w="12700">
            <a:solidFill>
              <a:srgbClr val="0FB5A6"/>
            </a:solidFill>
          </a:ln>
        </p:spPr>
        <p:style>
          <a:lnRef idx="1">
            <a:schemeClr val="accent1"/>
          </a:lnRef>
          <a:fillRef idx="3">
            <a:schemeClr val="accent1"/>
          </a:fillRef>
          <a:effectRef idx="2">
            <a:schemeClr val="accent1"/>
          </a:effectRef>
          <a:fontRef idx="minor">
            <a:schemeClr val="lt1"/>
          </a:fontRef>
        </p:style>
        <p:txBody>
          <a:bodyPr lIns="109728" rIns="109728" bIns="36576" rtlCol="0" anchor="ctr"/>
          <a:lstStyle/>
          <a:p>
            <a:pPr algn="l"/>
            <a:r>
              <a:rPr sz="940" b="1">
                <a:solidFill>
                  <a:srgbClr val="0F1E3D"/>
                </a:solidFill>
              </a:rPr>
              <a:t>Example · Support-routing assistant: </a:t>
            </a:r>
            <a:r>
              <a:rPr sz="919">
                <a:solidFill>
                  <a:srgbClr val="5B6B82"/>
                </a:solidFill>
              </a:rPr>
              <a:t>Takeaway: calibrated rubrics + trace checks turn ticket-routing quality into an actionable improvement loop.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6733</Words>
  <Application>Microsoft Office PowerPoint</Application>
  <PresentationFormat>Widescreen</PresentationFormat>
  <Paragraphs>765</Paragraphs>
  <Slides>61</Slides>
  <Notes>61</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Dezhi Hong</dc:creator>
  <cp:keywords/>
  <dc:description>generated using python-pptx</dc:description>
  <cp:lastModifiedBy>Dezhi Hong</cp:lastModifiedBy>
  <cp:revision>35</cp:revision>
  <dcterms:created xsi:type="dcterms:W3CDTF">2026-07-21T20:48:34Z</dcterms:created>
  <dcterms:modified xsi:type="dcterms:W3CDTF">2026-07-22T19:06:03Z</dcterms:modified>
  <cp:category/>
</cp:coreProperties>
</file>